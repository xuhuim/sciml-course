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9"/>
  </p:notesMasterIdLst>
  <p:sldIdLst>
    <p:sldId id="256" r:id="rId2"/>
    <p:sldId id="333" r:id="rId3"/>
    <p:sldId id="409" r:id="rId4"/>
    <p:sldId id="306" r:id="rId5"/>
    <p:sldId id="377" r:id="rId6"/>
    <p:sldId id="428" r:id="rId7"/>
    <p:sldId id="395" r:id="rId8"/>
    <p:sldId id="392" r:id="rId9"/>
    <p:sldId id="411" r:id="rId10"/>
    <p:sldId id="410" r:id="rId11"/>
    <p:sldId id="397" r:id="rId12"/>
    <p:sldId id="396" r:id="rId13"/>
    <p:sldId id="398" r:id="rId14"/>
    <p:sldId id="402" r:id="rId15"/>
    <p:sldId id="401" r:id="rId16"/>
    <p:sldId id="405" r:id="rId17"/>
    <p:sldId id="404" r:id="rId18"/>
    <p:sldId id="403" r:id="rId19"/>
    <p:sldId id="407" r:id="rId20"/>
    <p:sldId id="413" r:id="rId21"/>
    <p:sldId id="412" r:id="rId22"/>
    <p:sldId id="415" r:id="rId23"/>
    <p:sldId id="414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424" r:id="rId32"/>
    <p:sldId id="427" r:id="rId33"/>
    <p:sldId id="423" r:id="rId34"/>
    <p:sldId id="425" r:id="rId35"/>
    <p:sldId id="426" r:id="rId36"/>
    <p:sldId id="406" r:id="rId37"/>
    <p:sldId id="33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8FD"/>
    <a:srgbClr val="3333FD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19" autoAdjust="0"/>
  </p:normalViewPr>
  <p:slideViewPr>
    <p:cSldViewPr snapToGrid="0">
      <p:cViewPr varScale="1">
        <p:scale>
          <a:sx n="94" d="100"/>
          <a:sy n="94" d="100"/>
        </p:scale>
        <p:origin x="20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3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82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52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51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51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6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9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34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2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22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86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23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53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11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542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09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60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96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07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9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3147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30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01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70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137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80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289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3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307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173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644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34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0020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2137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403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374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.png"/><Relationship Id="rId8" Type="http://schemas.openxmlformats.org/officeDocument/2006/relationships/image" Target="../media/image4.wmf"/><Relationship Id="rId13" Type="http://schemas.openxmlformats.org/officeDocument/2006/relationships/image" Target="../media/image80.png"/><Relationship Id="rId18" Type="http://schemas.openxmlformats.org/officeDocument/2006/relationships/image" Target="../media/image13.png"/><Relationship Id="rId25" Type="http://schemas.openxmlformats.org/officeDocument/2006/relationships/image" Target="../media/image20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41.wmf"/><Relationship Id="rId17" Type="http://schemas.openxmlformats.org/officeDocument/2006/relationships/image" Target="../media/image12.png"/><Relationship Id="rId3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29" Type="http://schemas.openxmlformats.org/officeDocument/2006/relationships/image" Target="../media/image4.wmf"/><Relationship Id="rId16" Type="http://schemas.openxmlformats.org/officeDocument/2006/relationships/image" Target="../media/image110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9.png"/><Relationship Id="rId11" Type="http://schemas.openxmlformats.org/officeDocument/2006/relationships/oleObject" Target="../embeddings/oleObject2.bin"/><Relationship Id="rId32" Type="http://schemas.openxmlformats.org/officeDocument/2006/relationships/image" Target="../media/image6.png"/><Relationship Id="rId28" Type="http://schemas.openxmlformats.org/officeDocument/2006/relationships/oleObject" Target="../embeddings/oleObject1.bin"/><Relationship Id="rId15" Type="http://schemas.openxmlformats.org/officeDocument/2006/relationships/image" Target="../media/image10.png"/><Relationship Id="rId19" Type="http://schemas.openxmlformats.org/officeDocument/2006/relationships/image" Target="../media/image14.png"/><Relationship Id="rId31" Type="http://schemas.openxmlformats.org/officeDocument/2006/relationships/image" Target="../media/image5.png"/><Relationship Id="rId27" Type="http://schemas.openxmlformats.org/officeDocument/2006/relationships/image" Target="../media/image3.png"/><Relationship Id="rId30" Type="http://schemas.openxmlformats.org/officeDocument/2006/relationships/oleObject" Target="../embeddings/oleObject2.bin"/><Relationship Id="rId14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80.png"/><Relationship Id="rId18" Type="http://schemas.openxmlformats.org/officeDocument/2006/relationships/image" Target="../media/image13.png"/><Relationship Id="rId3" Type="http://schemas.openxmlformats.org/officeDocument/2006/relationships/image" Target="../media/image3.png"/><Relationship Id="rId21" Type="http://schemas.openxmlformats.org/officeDocument/2006/relationships/image" Target="../media/image5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41.wmf"/><Relationship Id="rId17" Type="http://schemas.openxmlformats.org/officeDocument/2006/relationships/image" Target="../media/image12.png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0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11" Type="http://schemas.openxmlformats.org/officeDocument/2006/relationships/oleObject" Target="../embeddings/oleObject2.bin"/><Relationship Id="rId24" Type="http://schemas.openxmlformats.org/officeDocument/2006/relationships/image" Target="../media/image8.png"/><Relationship Id="rId5" Type="http://schemas.openxmlformats.org/officeDocument/2006/relationships/image" Target="../media/image4.wmf"/><Relationship Id="rId15" Type="http://schemas.openxmlformats.org/officeDocument/2006/relationships/image" Target="../media/image10.png"/><Relationship Id="rId23" Type="http://schemas.openxmlformats.org/officeDocument/2006/relationships/image" Target="../media/image7.png"/><Relationship Id="rId19" Type="http://schemas.openxmlformats.org/officeDocument/2006/relationships/image" Target="../media/image14.png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2.bin"/><Relationship Id="rId14" Type="http://schemas.openxmlformats.org/officeDocument/2006/relationships/image" Target="../media/image90.png"/><Relationship Id="rId2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image" Target="../media/image800.png"/><Relationship Id="rId18" Type="http://schemas.openxmlformats.org/officeDocument/2006/relationships/image" Target="../media/image130.png"/><Relationship Id="rId26" Type="http://schemas.openxmlformats.org/officeDocument/2006/relationships/image" Target="../media/image210.png"/><Relationship Id="rId3" Type="http://schemas.openxmlformats.org/officeDocument/2006/relationships/image" Target="../media/image3.png"/><Relationship Id="rId21" Type="http://schemas.openxmlformats.org/officeDocument/2006/relationships/image" Target="../media/image160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40.wmf"/><Relationship Id="rId17" Type="http://schemas.openxmlformats.org/officeDocument/2006/relationships/image" Target="../media/image120.png"/><Relationship Id="rId25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00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11" Type="http://schemas.openxmlformats.org/officeDocument/2006/relationships/oleObject" Target="../embeddings/oleObject4.bin"/><Relationship Id="rId24" Type="http://schemas.openxmlformats.org/officeDocument/2006/relationships/image" Target="../media/image190.png"/><Relationship Id="rId5" Type="http://schemas.openxmlformats.org/officeDocument/2006/relationships/image" Target="../media/image4.wmf"/><Relationship Id="rId15" Type="http://schemas.openxmlformats.org/officeDocument/2006/relationships/image" Target="../media/image104.png"/><Relationship Id="rId23" Type="http://schemas.openxmlformats.org/officeDocument/2006/relationships/image" Target="../media/image18.png"/><Relationship Id="rId19" Type="http://schemas.openxmlformats.org/officeDocument/2006/relationships/image" Target="../media/image140.png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00.png"/><Relationship Id="rId22" Type="http://schemas.openxmlformats.org/officeDocument/2006/relationships/image" Target="../media/image170.png"/><Relationship Id="rId27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40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11" Type="http://schemas.openxmlformats.org/officeDocument/2006/relationships/image" Target="../media/image28.png"/><Relationship Id="rId5" Type="http://schemas.openxmlformats.org/officeDocument/2006/relationships/image" Target="../media/image220.png"/><Relationship Id="rId10" Type="http://schemas.openxmlformats.org/officeDocument/2006/relationships/image" Target="../media/image27.png"/><Relationship Id="rId4" Type="http://schemas.openxmlformats.org/officeDocument/2006/relationships/image" Target="../media/image180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230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11" Type="http://schemas.openxmlformats.org/officeDocument/2006/relationships/image" Target="../media/image27.png"/><Relationship Id="rId5" Type="http://schemas.openxmlformats.org/officeDocument/2006/relationships/image" Target="../media/image180.png"/><Relationship Id="rId15" Type="http://schemas.openxmlformats.org/officeDocument/2006/relationships/image" Target="../media/image36.png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25.png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41.png"/><Relationship Id="rId3" Type="http://schemas.openxmlformats.org/officeDocument/2006/relationships/image" Target="../media/image39.png"/><Relationship Id="rId7" Type="http://schemas.openxmlformats.org/officeDocument/2006/relationships/image" Target="../media/image230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11" Type="http://schemas.openxmlformats.org/officeDocument/2006/relationships/image" Target="../media/image27.png"/><Relationship Id="rId5" Type="http://schemas.openxmlformats.org/officeDocument/2006/relationships/image" Target="../media/image180.png"/><Relationship Id="rId15" Type="http://schemas.openxmlformats.org/officeDocument/2006/relationships/image" Target="../media/image43.png"/><Relationship Id="rId10" Type="http://schemas.openxmlformats.org/officeDocument/2006/relationships/image" Target="../media/image26.png"/><Relationship Id="rId4" Type="http://schemas.openxmlformats.org/officeDocument/2006/relationships/image" Target="../media/image24.png"/><Relationship Id="rId9" Type="http://schemas.openxmlformats.org/officeDocument/2006/relationships/image" Target="../media/image25.png"/><Relationship Id="rId1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46.png"/><Relationship Id="rId3" Type="http://schemas.openxmlformats.org/officeDocument/2006/relationships/image" Target="../media/image44.png"/><Relationship Id="rId7" Type="http://schemas.openxmlformats.org/officeDocument/2006/relationships/image" Target="../media/image220.png"/><Relationship Id="rId12" Type="http://schemas.openxmlformats.org/officeDocument/2006/relationships/image" Target="../media/image27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11" Type="http://schemas.openxmlformats.org/officeDocument/2006/relationships/image" Target="../media/image26.png"/><Relationship Id="rId5" Type="http://schemas.openxmlformats.org/officeDocument/2006/relationships/image" Target="../media/image24.png"/><Relationship Id="rId15" Type="http://schemas.openxmlformats.org/officeDocument/2006/relationships/image" Target="../media/image360.png"/><Relationship Id="rId10" Type="http://schemas.openxmlformats.org/officeDocument/2006/relationships/image" Target="../media/image25.png"/><Relationship Id="rId4" Type="http://schemas.openxmlformats.org/officeDocument/2006/relationships/image" Target="../media/image45.png"/><Relationship Id="rId9" Type="http://schemas.openxmlformats.org/officeDocument/2006/relationships/image" Target="../media/image240.png"/><Relationship Id="rId1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4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11" Type="http://schemas.openxmlformats.org/officeDocument/2006/relationships/image" Target="../media/image500.png"/><Relationship Id="rId5" Type="http://schemas.openxmlformats.org/officeDocument/2006/relationships/image" Target="../media/image220.png"/><Relationship Id="rId10" Type="http://schemas.openxmlformats.org/officeDocument/2006/relationships/image" Target="../media/image27.png"/><Relationship Id="rId4" Type="http://schemas.openxmlformats.org/officeDocument/2006/relationships/image" Target="../media/image180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24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510.png"/><Relationship Id="rId9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24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510.png"/><Relationship Id="rId9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5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60.png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9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6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670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69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103.png"/><Relationship Id="rId5" Type="http://schemas.openxmlformats.org/officeDocument/2006/relationships/image" Target="../media/image71.png"/><Relationship Id="rId10" Type="http://schemas.openxmlformats.org/officeDocument/2006/relationships/image" Target="../media/image102.png"/><Relationship Id="rId4" Type="http://schemas.openxmlformats.org/officeDocument/2006/relationships/image" Target="../media/image99.png"/><Relationship Id="rId9" Type="http://schemas.openxmlformats.org/officeDocument/2006/relationships/image" Target="../media/image10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98.png"/><Relationship Id="rId4" Type="http://schemas.openxmlformats.org/officeDocument/2006/relationships/image" Target="../media/image10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98.png"/><Relationship Id="rId4" Type="http://schemas.openxmlformats.org/officeDocument/2006/relationships/image" Target="../media/image10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08.png"/><Relationship Id="rId4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1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3" Type="http://schemas.openxmlformats.org/officeDocument/2006/relationships/image" Target="../media/image24.png"/><Relationship Id="rId7" Type="http://schemas.openxmlformats.org/officeDocument/2006/relationships/image" Target="../media/image5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10" Type="http://schemas.openxmlformats.org/officeDocument/2006/relationships/image" Target="../media/image590.png"/><Relationship Id="rId4" Type="http://schemas.openxmlformats.org/officeDocument/2006/relationships/image" Target="../media/image510.png"/><Relationship Id="rId9" Type="http://schemas.openxmlformats.org/officeDocument/2006/relationships/image" Target="../media/image5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375658" y="246221"/>
            <a:ext cx="8392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Scientific Machine Learning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2D0D78-D0B9-403E-B5AC-66E83F5A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49" y="150224"/>
            <a:ext cx="973866" cy="704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2604B1-DFD6-4A0E-BA4B-23A06DBE5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82409"/>
          <a:stretch/>
        </p:blipFill>
        <p:spPr>
          <a:xfrm>
            <a:off x="992586" y="37675"/>
            <a:ext cx="893400" cy="940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7CEB32-1021-4218-A4D5-F1083BF5322E}"/>
              </a:ext>
            </a:extLst>
          </p:cNvPr>
          <p:cNvSpPr txBox="1"/>
          <p:nvPr/>
        </p:nvSpPr>
        <p:spPr>
          <a:xfrm>
            <a:off x="629265" y="1784198"/>
            <a:ext cx="7816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2: On Universal Approximation Theorem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F80A-5EF6-4539-ACB8-DA297CF81EAA}"/>
              </a:ext>
            </a:extLst>
          </p:cNvPr>
          <p:cNvSpPr txBox="1"/>
          <p:nvPr/>
        </p:nvSpPr>
        <p:spPr>
          <a:xfrm>
            <a:off x="629265" y="3137509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孟旭辉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126DFE-D15F-47B5-9240-27C4587C9024}"/>
              </a:ext>
            </a:extLst>
          </p:cNvPr>
          <p:cNvSpPr txBox="1"/>
          <p:nvPr/>
        </p:nvSpPr>
        <p:spPr>
          <a:xfrm>
            <a:off x="629265" y="3648390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数学与统计学院数学与应用学科交叉创新研究院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D2569-83C5-47AE-B0C1-B755D485CBD5}"/>
              </a:ext>
            </a:extLst>
          </p:cNvPr>
          <p:cNvSpPr txBox="1"/>
          <p:nvPr/>
        </p:nvSpPr>
        <p:spPr>
          <a:xfrm>
            <a:off x="629265" y="4213821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办公室：东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室</a:t>
            </a:r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Email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xuhui_meng@hust.edu.cn</a:t>
            </a:r>
          </a:p>
        </p:txBody>
      </p:sp>
    </p:spTree>
    <p:extLst>
      <p:ext uri="{BB962C8B-B14F-4D97-AF65-F5344CB8AC3E}">
        <p14:creationId xmlns:p14="http://schemas.microsoft.com/office/powerpoint/2010/main" val="6050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309716" y="1699894"/>
            <a:ext cx="8524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NN with single hidden layer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Universal Approximation Theorem</a:t>
            </a:r>
          </a:p>
        </p:txBody>
      </p:sp>
    </p:spTree>
    <p:extLst>
      <p:ext uri="{BB962C8B-B14F-4D97-AF65-F5344CB8AC3E}">
        <p14:creationId xmlns:p14="http://schemas.microsoft.com/office/powerpoint/2010/main" val="29301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309716" y="1699894"/>
            <a:ext cx="8524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NN with single hidden layer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Universal Approximation Theorem</a:t>
            </a:r>
          </a:p>
        </p:txBody>
      </p:sp>
    </p:spTree>
    <p:extLst>
      <p:ext uri="{BB962C8B-B14F-4D97-AF65-F5344CB8AC3E}">
        <p14:creationId xmlns:p14="http://schemas.microsoft.com/office/powerpoint/2010/main" val="362446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 Neural Networks (DNNs): Universal Approximation Theorem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5232400" y="1222772"/>
            <a:ext cx="3474611" cy="2004879"/>
            <a:chOff x="5151229" y="1346753"/>
            <a:chExt cx="3474611" cy="20048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5151229" y="1346753"/>
                  <a:ext cx="3393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229" y="1346753"/>
                  <a:ext cx="3393440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5232400" y="1859364"/>
                  <a:ext cx="3393440" cy="14922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endParaRPr lang="en-US" b="0" dirty="0"/>
                </a:p>
                <a:p>
                  <a:pPr algn="ctr"/>
                  <a:r>
                    <a:rPr lang="en-US" dirty="0"/>
                    <a:t>…</a:t>
                  </a:r>
                </a:p>
                <a:p>
                  <a:pPr algn="ctr"/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2400" y="1859364"/>
                  <a:ext cx="3393440" cy="1492268"/>
                </a:xfrm>
                <a:prstGeom prst="rect">
                  <a:avLst/>
                </a:prstGeom>
                <a:blipFill>
                  <a:blip r:embed="rId25"/>
                  <a:stretch>
                    <a:fillRect b="-1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矩形 21"/>
          <p:cNvSpPr/>
          <p:nvPr/>
        </p:nvSpPr>
        <p:spPr>
          <a:xfrm>
            <a:off x="6479905" y="6581001"/>
            <a:ext cx="25843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Hornik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Neural Networks, 1989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06801" y="4280373"/>
            <a:ext cx="8056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multilayer feedforward networks are capable of approximating any measurable function to any desired degree of accuracy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rate increases as the number of hidden units grows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5755640" y="3323302"/>
                <a:ext cx="2346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640" y="3323302"/>
                <a:ext cx="2346960" cy="369332"/>
              </a:xfrm>
              <a:prstGeom prst="rect">
                <a:avLst/>
              </a:prstGeom>
              <a:blipFill>
                <a:blip r:embed="rId2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7AEA88CC-58A0-4269-8F98-0C7A2E35EF59}"/>
              </a:ext>
            </a:extLst>
          </p:cNvPr>
          <p:cNvGrpSpPr/>
          <p:nvPr/>
        </p:nvGrpSpPr>
        <p:grpSpPr>
          <a:xfrm>
            <a:off x="639445" y="951223"/>
            <a:ext cx="5116231" cy="2717346"/>
            <a:chOff x="506801" y="843508"/>
            <a:chExt cx="5116231" cy="271734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1950ABC-DBC1-48C1-B7FA-6533961E3509}"/>
                </a:ext>
              </a:extLst>
            </p:cNvPr>
            <p:cNvGrpSpPr/>
            <p:nvPr/>
          </p:nvGrpSpPr>
          <p:grpSpPr>
            <a:xfrm>
              <a:off x="506801" y="1046480"/>
              <a:ext cx="4725599" cy="2514374"/>
              <a:chOff x="334081" y="1249680"/>
              <a:chExt cx="4725599" cy="2514374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58C750DE-62B0-4B86-92B4-B2C6EADDFF54}"/>
                  </a:ext>
                </a:extLst>
              </p:cNvPr>
              <p:cNvGrpSpPr/>
              <p:nvPr/>
            </p:nvGrpSpPr>
            <p:grpSpPr>
              <a:xfrm>
                <a:off x="334081" y="1249680"/>
                <a:ext cx="4725599" cy="2514374"/>
                <a:chOff x="2014680" y="794893"/>
                <a:chExt cx="5143358" cy="2938641"/>
              </a:xfrm>
            </p:grpSpPr>
            <p:pic>
              <p:nvPicPr>
                <p:cNvPr id="41" name="图片 40">
                  <a:extLst>
                    <a:ext uri="{FF2B5EF4-FFF2-40B4-BE49-F238E27FC236}">
                      <a16:creationId xmlns:a16="http://schemas.microsoft.com/office/drawing/2014/main" id="{B7189A4B-46D7-4546-A170-6D613A9B54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99296" y="794893"/>
                  <a:ext cx="4493189" cy="293864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2" name="对象 41">
                      <a:extLst>
                        <a:ext uri="{FF2B5EF4-FFF2-40B4-BE49-F238E27FC236}">
                          <a16:creationId xmlns:a16="http://schemas.microsoft.com/office/drawing/2014/main" id="{60D151A5-8E11-4214-9A4F-D1CCDBE00BF8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014680" y="1882775"/>
                    <a:ext cx="312882" cy="34417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28" imgW="126720" imgH="139680" progId="Equation.DSMT4">
                            <p:embed/>
                          </p:oleObj>
                        </mc:Choice>
                        <mc:Fallback>
                          <p:oleObj name="Equation" r:id="rId28" imgW="126720" imgH="139680" progId="Equation.DSMT4">
                            <p:embed/>
                            <p:pic>
                              <p:nvPicPr>
                                <p:cNvPr id="7" name="对象 6"/>
                                <p:cNvPicPr/>
                                <p:nvPr/>
                              </p:nvPicPr>
                              <p:blipFill>
                                <a:blip r:embed="rId29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014680" y="1882775"/>
                                  <a:ext cx="312882" cy="34417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7" name="对象 6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550979354"/>
                        </p:ext>
                      </p:extLst>
                    </p:nvPr>
                  </p:nvGraphicFramePr>
                  <p:xfrm>
                    <a:off x="2014680" y="1882775"/>
                    <a:ext cx="312882" cy="34417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144" name="Equation" r:id="rId7" imgW="126720" imgH="139680" progId="Equation.DSMT4">
                            <p:embed/>
                          </p:oleObj>
                        </mc:Choice>
                        <mc:Fallback>
                          <p:oleObj name="Equation" r:id="rId7" imgW="126720" imgH="139680" progId="Equation.DSMT4">
                            <p:embed/>
                            <p:pic>
                              <p:nvPicPr>
                                <p:cNvPr id="13" name="对象 12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014680" y="1882775"/>
                                  <a:ext cx="312882" cy="34417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3" name="对象 42">
                      <a:extLst>
                        <a:ext uri="{FF2B5EF4-FFF2-40B4-BE49-F238E27FC236}">
                          <a16:creationId xmlns:a16="http://schemas.microsoft.com/office/drawing/2014/main" id="{03B6E8D3-24D6-4F5E-898B-CAAFBF28E145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6813550" y="1852613"/>
                    <a:ext cx="344488" cy="4064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30" imgW="139680" imgH="164880" progId="Equation.DSMT4">
                            <p:embed/>
                          </p:oleObj>
                        </mc:Choice>
                        <mc:Fallback>
                          <p:oleObj name="Equation" r:id="rId30" imgW="139680" imgH="164880" progId="Equation.DSMT4">
                            <p:embed/>
                            <p:pic>
                              <p:nvPicPr>
                                <p:cNvPr id="9" name="对象 8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813550" y="1852613"/>
                                  <a:ext cx="344488" cy="4064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9" name="对象 8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95750796"/>
                        </p:ext>
                      </p:extLst>
                    </p:nvPr>
                  </p:nvGraphicFramePr>
                  <p:xfrm>
                    <a:off x="6813550" y="1852613"/>
                    <a:ext cx="344488" cy="4064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145" name="Equation" r:id="rId11" imgW="139680" imgH="164880" progId="Equation.DSMT4">
                            <p:embed/>
                          </p:oleObj>
                        </mc:Choice>
                        <mc:Fallback>
                          <p:oleObj name="Equation" r:id="rId11" imgW="139680" imgH="164880" progId="Equation.DSMT4">
                            <p:embed/>
                            <p:pic>
                              <p:nvPicPr>
                                <p:cNvPr id="14" name="对象 13"/>
                                <p:cNvPicPr/>
                                <p:nvPr/>
                              </p:nvPicPr>
                              <p:blipFill>
                                <a:blip r:embed="rId1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813550" y="1852613"/>
                                  <a:ext cx="344488" cy="4064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436752C8-EFC7-48AC-9648-7FFFEF3DB006}"/>
                      </a:ext>
                    </a:extLst>
                  </p:cNvPr>
                  <p:cNvSpPr txBox="1"/>
                  <p:nvPr/>
                </p:nvSpPr>
                <p:spPr>
                  <a:xfrm>
                    <a:off x="1778000" y="1249680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" name="文本框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8000" y="1249680"/>
                    <a:ext cx="77216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A5A382B8-535A-46F2-B823-7394A320D65F}"/>
                      </a:ext>
                    </a:extLst>
                  </p:cNvPr>
                  <p:cNvSpPr txBox="1"/>
                  <p:nvPr/>
                </p:nvSpPr>
                <p:spPr>
                  <a:xfrm>
                    <a:off x="1778000" y="1846319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文本框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8000" y="1846319"/>
                    <a:ext cx="77216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A5FCEFF-7F8C-4018-B85B-438DC9A87445}"/>
                      </a:ext>
                    </a:extLst>
                  </p:cNvPr>
                  <p:cNvSpPr txBox="1"/>
                  <p:nvPr/>
                </p:nvSpPr>
                <p:spPr>
                  <a:xfrm>
                    <a:off x="1757680" y="2435854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文本框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7680" y="2435854"/>
                    <a:ext cx="77216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71D42CB-D556-4CCE-9E6A-CC96A645194B}"/>
                      </a:ext>
                    </a:extLst>
                  </p:cNvPr>
                  <p:cNvSpPr txBox="1"/>
                  <p:nvPr/>
                </p:nvSpPr>
                <p:spPr>
                  <a:xfrm>
                    <a:off x="1778000" y="3025389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文本框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8000" y="3025389"/>
                    <a:ext cx="77216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0CCCA0BC-FA63-427E-A4E5-1396F8EB813B}"/>
                      </a:ext>
                    </a:extLst>
                  </p:cNvPr>
                  <p:cNvSpPr txBox="1"/>
                  <p:nvPr/>
                </p:nvSpPr>
                <p:spPr>
                  <a:xfrm>
                    <a:off x="2909183" y="1283652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1283652"/>
                    <a:ext cx="77216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47C2D9F3-F7CA-46B3-84DE-B92FE5DB4AA0}"/>
                      </a:ext>
                    </a:extLst>
                  </p:cNvPr>
                  <p:cNvSpPr txBox="1"/>
                  <p:nvPr/>
                </p:nvSpPr>
                <p:spPr>
                  <a:xfrm>
                    <a:off x="2909183" y="1837945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1837945"/>
                    <a:ext cx="77216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6AF43F4D-170F-40D8-9FAD-A008A071BDC3}"/>
                      </a:ext>
                    </a:extLst>
                  </p:cNvPr>
                  <p:cNvSpPr txBox="1"/>
                  <p:nvPr/>
                </p:nvSpPr>
                <p:spPr>
                  <a:xfrm>
                    <a:off x="2909183" y="2435854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文本框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2435854"/>
                    <a:ext cx="77216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134DD782-64B1-4561-BEE9-DBD0999E2BAB}"/>
                      </a:ext>
                    </a:extLst>
                  </p:cNvPr>
                  <p:cNvSpPr txBox="1"/>
                  <p:nvPr/>
                </p:nvSpPr>
                <p:spPr>
                  <a:xfrm>
                    <a:off x="2909183" y="3033763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3033763"/>
                    <a:ext cx="77216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698218F-BA3B-4D28-9B91-B372D5B1BC9E}"/>
                    </a:ext>
                  </a:extLst>
                </p:cNvPr>
                <p:cNvSpPr txBox="1"/>
                <p:nvPr/>
              </p:nvSpPr>
              <p:spPr>
                <a:xfrm>
                  <a:off x="1320656" y="943950"/>
                  <a:ext cx="772160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0698218F-BA3B-4D28-9B91-B372D5B1B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656" y="943950"/>
                  <a:ext cx="772160" cy="391646"/>
                </a:xfrm>
                <a:prstGeom prst="rect">
                  <a:avLst/>
                </a:prstGeom>
                <a:blipFill>
                  <a:blip r:embed="rId31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C724994-080F-465E-A23A-894C4964625A}"/>
                    </a:ext>
                  </a:extLst>
                </p:cNvPr>
                <p:cNvSpPr txBox="1"/>
                <p:nvPr/>
              </p:nvSpPr>
              <p:spPr>
                <a:xfrm>
                  <a:off x="3854063" y="1335596"/>
                  <a:ext cx="772160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C724994-080F-465E-A23A-894C49646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4063" y="1335596"/>
                  <a:ext cx="772160" cy="391646"/>
                </a:xfrm>
                <a:prstGeom prst="rect">
                  <a:avLst/>
                </a:prstGeom>
                <a:blipFill>
                  <a:blip r:embed="rId32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5AC00B9-FA14-4BDF-9697-82F8B9E548AD}"/>
                    </a:ext>
                  </a:extLst>
                </p:cNvPr>
                <p:cNvSpPr txBox="1"/>
                <p:nvPr/>
              </p:nvSpPr>
              <p:spPr>
                <a:xfrm>
                  <a:off x="2538216" y="843508"/>
                  <a:ext cx="772160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5AC00B9-FA14-4BDF-9697-82F8B9E54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8216" y="843508"/>
                  <a:ext cx="772160" cy="391646"/>
                </a:xfrm>
                <a:prstGeom prst="rect">
                  <a:avLst/>
                </a:prstGeom>
                <a:blipFill>
                  <a:blip r:embed="rId3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05C8210-4574-44C9-9FDD-EAEBFCB020FC}"/>
                </a:ext>
              </a:extLst>
            </p:cNvPr>
            <p:cNvSpPr txBox="1"/>
            <p:nvPr/>
          </p:nvSpPr>
          <p:spPr>
            <a:xfrm>
              <a:off x="4944606" y="1820355"/>
              <a:ext cx="67842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46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Deep Neural Networks (DNNs): Universal Approximation Theorem</a:t>
            </a:r>
          </a:p>
        </p:txBody>
      </p:sp>
      <p:sp>
        <p:nvSpPr>
          <p:cNvPr id="22" name="矩形 21"/>
          <p:cNvSpPr/>
          <p:nvPr/>
        </p:nvSpPr>
        <p:spPr>
          <a:xfrm>
            <a:off x="6665436" y="6581001"/>
            <a:ext cx="24785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Hornik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al, Neural Networks, 1989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2AB21C2-4511-473C-A2F3-BDD1BD2E90D4}"/>
              </a:ext>
            </a:extLst>
          </p:cNvPr>
          <p:cNvGrpSpPr/>
          <p:nvPr/>
        </p:nvGrpSpPr>
        <p:grpSpPr>
          <a:xfrm>
            <a:off x="639445" y="951223"/>
            <a:ext cx="5116231" cy="2717346"/>
            <a:chOff x="506801" y="843508"/>
            <a:chExt cx="5116231" cy="2717346"/>
          </a:xfrm>
        </p:grpSpPr>
        <p:grpSp>
          <p:nvGrpSpPr>
            <p:cNvPr id="4" name="组合 3"/>
            <p:cNvGrpSpPr/>
            <p:nvPr/>
          </p:nvGrpSpPr>
          <p:grpSpPr>
            <a:xfrm>
              <a:off x="506801" y="1046480"/>
              <a:ext cx="4725599" cy="2514374"/>
              <a:chOff x="334081" y="1249680"/>
              <a:chExt cx="4725599" cy="2514374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334081" y="1249680"/>
                <a:ext cx="4725599" cy="2514374"/>
                <a:chOff x="2014680" y="794893"/>
                <a:chExt cx="5143358" cy="2938641"/>
              </a:xfrm>
            </p:grpSpPr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99296" y="794893"/>
                  <a:ext cx="4493189" cy="293864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7" name="对象 6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014680" y="1882775"/>
                    <a:ext cx="312882" cy="34417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4" imgW="126720" imgH="139680" progId="Equation.DSMT4">
                            <p:embed/>
                          </p:oleObj>
                        </mc:Choice>
                        <mc:Fallback>
                          <p:oleObj name="Equation" r:id="rId4" imgW="126720" imgH="139680" progId="Equation.DSMT4">
                            <p:embed/>
                            <p:pic>
                              <p:nvPicPr>
                                <p:cNvPr id="7" name="对象 6"/>
                                <p:cNvPicPr/>
                                <p:nvPr/>
                              </p:nvPicPr>
                              <p:blipFill>
                                <a:blip r:embed="rId5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014680" y="1882775"/>
                                  <a:ext cx="312882" cy="34417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7" name="对象 6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550979354"/>
                        </p:ext>
                      </p:extLst>
                    </p:nvPr>
                  </p:nvGraphicFramePr>
                  <p:xfrm>
                    <a:off x="2014680" y="1882775"/>
                    <a:ext cx="312882" cy="34417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144" name="Equation" r:id="rId7" imgW="126720" imgH="139680" progId="Equation.DSMT4">
                            <p:embed/>
                          </p:oleObj>
                        </mc:Choice>
                        <mc:Fallback>
                          <p:oleObj name="Equation" r:id="rId7" imgW="126720" imgH="139680" progId="Equation.DSMT4">
                            <p:embed/>
                            <p:pic>
                              <p:nvPicPr>
                                <p:cNvPr id="13" name="对象 12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014680" y="1882775"/>
                                  <a:ext cx="312882" cy="34417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9" name="对象 8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6813550" y="1852613"/>
                    <a:ext cx="344488" cy="4064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9" imgW="139680" imgH="164880" progId="Equation.DSMT4">
                            <p:embed/>
                          </p:oleObj>
                        </mc:Choice>
                        <mc:Fallback>
                          <p:oleObj name="Equation" r:id="rId9" imgW="139680" imgH="164880" progId="Equation.DSMT4">
                            <p:embed/>
                            <p:pic>
                              <p:nvPicPr>
                                <p:cNvPr id="9" name="对象 8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813550" y="1852613"/>
                                  <a:ext cx="344488" cy="4064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9" name="对象 8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195750796"/>
                        </p:ext>
                      </p:extLst>
                    </p:nvPr>
                  </p:nvGraphicFramePr>
                  <p:xfrm>
                    <a:off x="6813550" y="1852613"/>
                    <a:ext cx="344488" cy="4064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145" name="Equation" r:id="rId11" imgW="139680" imgH="164880" progId="Equation.DSMT4">
                            <p:embed/>
                          </p:oleObj>
                        </mc:Choice>
                        <mc:Fallback>
                          <p:oleObj name="Equation" r:id="rId11" imgW="139680" imgH="164880" progId="Equation.DSMT4">
                            <p:embed/>
                            <p:pic>
                              <p:nvPicPr>
                                <p:cNvPr id="14" name="对象 13"/>
                                <p:cNvPicPr/>
                                <p:nvPr/>
                              </p:nvPicPr>
                              <p:blipFill>
                                <a:blip r:embed="rId1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813550" y="1852613"/>
                                  <a:ext cx="344488" cy="4064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文本框 2"/>
                  <p:cNvSpPr txBox="1"/>
                  <p:nvPr/>
                </p:nvSpPr>
                <p:spPr>
                  <a:xfrm>
                    <a:off x="1778000" y="1249680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" name="文本框 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8000" y="1249680"/>
                    <a:ext cx="77216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本框 9"/>
                  <p:cNvSpPr txBox="1"/>
                  <p:nvPr/>
                </p:nvSpPr>
                <p:spPr>
                  <a:xfrm>
                    <a:off x="1778000" y="1846319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文本框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8000" y="1846319"/>
                    <a:ext cx="77216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/>
                  <p:cNvSpPr txBox="1"/>
                  <p:nvPr/>
                </p:nvSpPr>
                <p:spPr>
                  <a:xfrm>
                    <a:off x="1757680" y="2435854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文本框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57680" y="2435854"/>
                    <a:ext cx="77216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1778000" y="3025389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文本框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8000" y="3025389"/>
                    <a:ext cx="77216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2909183" y="1283652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1283652"/>
                    <a:ext cx="77216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2909183" y="1837945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1837945"/>
                    <a:ext cx="77216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文本框 14"/>
                  <p:cNvSpPr txBox="1"/>
                  <p:nvPr/>
                </p:nvSpPr>
                <p:spPr>
                  <a:xfrm>
                    <a:off x="2909183" y="2435854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文本框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2435854"/>
                    <a:ext cx="772160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2909183" y="3033763"/>
                    <a:ext cx="77216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183" y="3033763"/>
                    <a:ext cx="772160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1320656" y="943950"/>
                  <a:ext cx="772160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656" y="943950"/>
                  <a:ext cx="772160" cy="391646"/>
                </a:xfrm>
                <a:prstGeom prst="rect">
                  <a:avLst/>
                </a:prstGeom>
                <a:blipFill>
                  <a:blip r:embed="rId21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3854063" y="1335596"/>
                  <a:ext cx="772160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4063" y="1335596"/>
                  <a:ext cx="772160" cy="391646"/>
                </a:xfrm>
                <a:prstGeom prst="rect">
                  <a:avLst/>
                </a:prstGeom>
                <a:blipFill>
                  <a:blip r:embed="rId22"/>
                  <a:stretch>
                    <a:fillRect b="-78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2538216" y="843508"/>
                  <a:ext cx="772160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8216" y="843508"/>
                  <a:ext cx="772160" cy="391646"/>
                </a:xfrm>
                <a:prstGeom prst="rect">
                  <a:avLst/>
                </a:prstGeom>
                <a:blipFill>
                  <a:blip r:embed="rId23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2B310FD-7F4A-4CB2-AE6E-AFAAD35D6ECE}"/>
                </a:ext>
              </a:extLst>
            </p:cNvPr>
            <p:cNvSpPr txBox="1"/>
            <p:nvPr/>
          </p:nvSpPr>
          <p:spPr>
            <a:xfrm>
              <a:off x="4944606" y="1820355"/>
              <a:ext cx="67842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350B54-4082-4671-9FE7-4F4210FDAA3F}"/>
                  </a:ext>
                </a:extLst>
              </p:cNvPr>
              <p:cNvSpPr txBox="1"/>
              <p:nvPr/>
            </p:nvSpPr>
            <p:spPr>
              <a:xfrm>
                <a:off x="1022555" y="3928743"/>
                <a:ext cx="8121445" cy="2608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of 1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hidden layer: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of 2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nd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hidden layer: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FF"/>
                    </a:solidFill>
                  </a:rPr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/>
                  <a:t>…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of last layer: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B350B54-4082-4671-9FE7-4F4210FDA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55" y="3928743"/>
                <a:ext cx="8121445" cy="2608535"/>
              </a:xfrm>
              <a:prstGeom prst="rect">
                <a:avLst/>
              </a:prstGeom>
              <a:blipFill>
                <a:blip r:embed="rId24"/>
                <a:stretch>
                  <a:fillRect l="-526" t="-935" b="-2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400EFF1-1C5F-4222-A22E-9165A0BA64C4}"/>
                  </a:ext>
                </a:extLst>
              </p:cNvPr>
              <p:cNvSpPr txBox="1"/>
              <p:nvPr/>
            </p:nvSpPr>
            <p:spPr>
              <a:xfrm>
                <a:off x="5480083" y="1238706"/>
                <a:ext cx="3392876" cy="2042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𝑁𝑁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Width: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Depth: # of hidden layers + 1</a:t>
                </a: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activation function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400EFF1-1C5F-4222-A22E-9165A0BA6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083" y="1238706"/>
                <a:ext cx="3392876" cy="2042226"/>
              </a:xfrm>
              <a:prstGeom prst="rect">
                <a:avLst/>
              </a:prstGeom>
              <a:blipFill>
                <a:blip r:embed="rId25"/>
                <a:stretch>
                  <a:fillRect l="-1257" b="-3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14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DNNs: About activation function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7A03B15-8C1C-49B1-9FD9-889362B26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284" y="867322"/>
            <a:ext cx="7307432" cy="568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7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DNNs: About activation functions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D94F79C-8D3D-408A-9DC1-DA7BF705A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10" y="825910"/>
            <a:ext cx="8636979" cy="434008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04A426E8-F1AA-45F9-B47C-9A9375D361C4}"/>
              </a:ext>
            </a:extLst>
          </p:cNvPr>
          <p:cNvSpPr txBox="1"/>
          <p:nvPr/>
        </p:nvSpPr>
        <p:spPr>
          <a:xfrm>
            <a:off x="442452" y="5165992"/>
            <a:ext cx="82590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Remarks: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choice: tanh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very deep NNs, try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-type activation function first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9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DNNs: Optimization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06801" y="1046480"/>
            <a:ext cx="4725599" cy="2514374"/>
            <a:chOff x="334081" y="1249680"/>
            <a:chExt cx="4725599" cy="2514374"/>
          </a:xfrm>
        </p:grpSpPr>
        <p:grpSp>
          <p:nvGrpSpPr>
            <p:cNvPr id="5" name="组合 4"/>
            <p:cNvGrpSpPr/>
            <p:nvPr/>
          </p:nvGrpSpPr>
          <p:grpSpPr>
            <a:xfrm>
              <a:off x="334081" y="1249680"/>
              <a:ext cx="4725599" cy="2514374"/>
              <a:chOff x="2014680" y="794893"/>
              <a:chExt cx="5143358" cy="293864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99296" y="794893"/>
                <a:ext cx="4493189" cy="293864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7" name="对象 6"/>
                  <p:cNvGraphicFramePr>
                    <a:graphicFrameLocks noChangeAspect="1"/>
                  </p:cNvGraphicFramePr>
                  <p:nvPr/>
                </p:nvGraphicFramePr>
                <p:xfrm>
                  <a:off x="2014680" y="1882775"/>
                  <a:ext cx="312882" cy="34417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4" imgW="126720" imgH="139680" progId="Equation.DSMT4">
                          <p:embed/>
                        </p:oleObj>
                      </mc:Choice>
                      <mc:Fallback>
                        <p:oleObj name="Equation" r:id="rId4" imgW="126720" imgH="139680" progId="Equation.DSMT4">
                          <p:embed/>
                          <p:pic>
                            <p:nvPicPr>
                              <p:cNvPr id="7" name="对象 6"/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014680" y="1882775"/>
                                <a:ext cx="312882" cy="34417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7" name="对象 6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550979354"/>
                      </p:ext>
                    </p:extLst>
                  </p:nvPr>
                </p:nvGraphicFramePr>
                <p:xfrm>
                  <a:off x="2014680" y="1882775"/>
                  <a:ext cx="312882" cy="34417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144" name="Equation" r:id="rId7" imgW="126720" imgH="139680" progId="Equation.DSMT4">
                          <p:embed/>
                        </p:oleObj>
                      </mc:Choice>
                      <mc:Fallback>
                        <p:oleObj name="Equation" r:id="rId7" imgW="126720" imgH="139680" progId="Equation.DSMT4">
                          <p:embed/>
                          <p:pic>
                            <p:nvPicPr>
                              <p:cNvPr id="13" name="对象 12"/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014680" y="1882775"/>
                                <a:ext cx="312882" cy="34417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9" name="对象 8"/>
                  <p:cNvGraphicFramePr>
                    <a:graphicFrameLocks noChangeAspect="1"/>
                  </p:cNvGraphicFramePr>
                  <p:nvPr/>
                </p:nvGraphicFramePr>
                <p:xfrm>
                  <a:off x="6813550" y="1852613"/>
                  <a:ext cx="344488" cy="40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9" imgW="139680" imgH="164880" progId="Equation.DSMT4">
                          <p:embed/>
                        </p:oleObj>
                      </mc:Choice>
                      <mc:Fallback>
                        <p:oleObj name="Equation" r:id="rId9" imgW="139680" imgH="164880" progId="Equation.DSMT4">
                          <p:embed/>
                          <p:pic>
                            <p:nvPicPr>
                              <p:cNvPr id="9" name="对象 8"/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813550" y="1852613"/>
                                <a:ext cx="344488" cy="40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9" name="对象 8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195750796"/>
                      </p:ext>
                    </p:extLst>
                  </p:nvPr>
                </p:nvGraphicFramePr>
                <p:xfrm>
                  <a:off x="6813550" y="1852613"/>
                  <a:ext cx="344488" cy="406400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145" name="Equation" r:id="rId11" imgW="139680" imgH="164880" progId="Equation.DSMT4">
                          <p:embed/>
                        </p:oleObj>
                      </mc:Choice>
                      <mc:Fallback>
                        <p:oleObj name="Equation" r:id="rId11" imgW="139680" imgH="164880" progId="Equation.DSMT4">
                          <p:embed/>
                          <p:pic>
                            <p:nvPicPr>
                              <p:cNvPr id="14" name="对象 13"/>
                              <p:cNvPicPr/>
                              <p:nvPr/>
                            </p:nvPicPr>
                            <p:blipFill>
                              <a:blip r:embed="rId1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813550" y="1852613"/>
                                <a:ext cx="344488" cy="4064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778000" y="1249680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000" y="1249680"/>
                  <a:ext cx="77216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1778000" y="1846319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000" y="1846319"/>
                  <a:ext cx="77216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1757680" y="2435854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7680" y="2435854"/>
                  <a:ext cx="77216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1778000" y="3025389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8000" y="3025389"/>
                  <a:ext cx="77216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2909183" y="1283652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1283652"/>
                  <a:ext cx="77216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2909183" y="1837945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1837945"/>
                  <a:ext cx="772160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2909183" y="2435854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2435854"/>
                  <a:ext cx="77216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2909183" y="3033763"/>
                  <a:ext cx="772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183" y="3033763"/>
                  <a:ext cx="772160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1320656" y="943950"/>
                <a:ext cx="77216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56" y="943950"/>
                <a:ext cx="772160" cy="391646"/>
              </a:xfrm>
              <a:prstGeom prst="rect">
                <a:avLst/>
              </a:prstGeom>
              <a:blipFill>
                <a:blip r:embed="rId21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3854063" y="1335596"/>
                <a:ext cx="77216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063" y="1335596"/>
                <a:ext cx="772160" cy="391646"/>
              </a:xfrm>
              <a:prstGeom prst="rect">
                <a:avLst/>
              </a:prstGeom>
              <a:blipFill>
                <a:blip r:embed="rId22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2538216" y="843508"/>
                <a:ext cx="77216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216" y="843508"/>
                <a:ext cx="772160" cy="391646"/>
              </a:xfrm>
              <a:prstGeom prst="rect">
                <a:avLst/>
              </a:prstGeom>
              <a:blipFill>
                <a:blip r:embed="rId2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5232400" y="1222772"/>
            <a:ext cx="3416215" cy="1992233"/>
            <a:chOff x="5151229" y="1346753"/>
            <a:chExt cx="3416215" cy="1992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5151229" y="1346753"/>
                  <a:ext cx="33934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1229" y="1346753"/>
                  <a:ext cx="3393440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5174004" y="1846718"/>
                  <a:ext cx="3393440" cy="14922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b="0" dirty="0"/>
                </a:p>
                <a:p>
                  <a:endParaRPr lang="en-US" b="0" dirty="0"/>
                </a:p>
                <a:p>
                  <a:pPr algn="ctr"/>
                  <a:r>
                    <a:rPr lang="en-US" dirty="0"/>
                    <a:t>…</a:t>
                  </a:r>
                </a:p>
                <a:p>
                  <a:pPr algn="ctr"/>
                  <a:endParaRPr lang="en-US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004" y="1846718"/>
                  <a:ext cx="3393440" cy="1492268"/>
                </a:xfrm>
                <a:prstGeom prst="rect">
                  <a:avLst/>
                </a:prstGeom>
                <a:blipFill>
                  <a:blip r:embed="rId25"/>
                  <a:stretch>
                    <a:fillRect b="-1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矩形 21"/>
          <p:cNvSpPr/>
          <p:nvPr/>
        </p:nvSpPr>
        <p:spPr>
          <a:xfrm>
            <a:off x="6665436" y="6581001"/>
            <a:ext cx="24785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Hornik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al, Neural Networks, 1989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5755640" y="3323302"/>
                <a:ext cx="2346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𝑡𝑎𝑛h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640" y="3323302"/>
                <a:ext cx="2346960" cy="369332"/>
              </a:xfrm>
              <a:prstGeom prst="rect">
                <a:avLst/>
              </a:prstGeom>
              <a:blipFill>
                <a:blip r:embed="rId2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92B310FD-7F4A-4CB2-AE6E-AFAAD35D6ECE}"/>
              </a:ext>
            </a:extLst>
          </p:cNvPr>
          <p:cNvSpPr txBox="1"/>
          <p:nvPr/>
        </p:nvSpPr>
        <p:spPr>
          <a:xfrm>
            <a:off x="4944606" y="1820355"/>
            <a:ext cx="67842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EBCBCE-9884-4845-B641-D7050158A3D8}"/>
              </a:ext>
            </a:extLst>
          </p:cNvPr>
          <p:cNvSpPr txBox="1"/>
          <p:nvPr/>
        </p:nvSpPr>
        <p:spPr>
          <a:xfrm>
            <a:off x="481073" y="3788960"/>
            <a:ext cx="8056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multilayer feedforward networks are capable of approximating any measurable function to any desired degree of accuracy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rate increases as the number of hidden units grows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E71C554-E56C-4B0C-944A-94D552CEC248}"/>
                  </a:ext>
                </a:extLst>
              </p:cNvPr>
              <p:cNvSpPr txBox="1"/>
              <p:nvPr/>
            </p:nvSpPr>
            <p:spPr>
              <a:xfrm>
                <a:off x="794270" y="5304601"/>
                <a:ext cx="8056476" cy="1120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function: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lim>
                        </m:limLow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sz="20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(stochastic gradient decent)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E71C554-E56C-4B0C-944A-94D552CEC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70" y="5304601"/>
                <a:ext cx="8056476" cy="1120050"/>
              </a:xfrm>
              <a:prstGeom prst="rect">
                <a:avLst/>
              </a:prstGeom>
              <a:blipFill>
                <a:blip r:embed="rId27"/>
                <a:stretch>
                  <a:fillRect l="-756" t="-2174" b="-8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79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NN for regression problems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74370CF-A457-4D03-AB92-42052E4EA6F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4"/>
          <a:stretch/>
        </p:blipFill>
        <p:spPr>
          <a:xfrm>
            <a:off x="946354" y="824963"/>
            <a:ext cx="7251291" cy="415699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F337ED8-5DEE-4F19-9EFB-68592128D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6" y="4913129"/>
            <a:ext cx="7800989" cy="164363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C088A2A-00A2-47E2-8E3E-1EC577F8B1D9}"/>
              </a:ext>
            </a:extLst>
          </p:cNvPr>
          <p:cNvSpPr txBox="1"/>
          <p:nvPr/>
        </p:nvSpPr>
        <p:spPr>
          <a:xfrm>
            <a:off x="3559278" y="2718793"/>
            <a:ext cx="2546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44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C4B3CC-4919-4B0C-BEDA-5A309DD3CCAF}"/>
              </a:ext>
            </a:extLst>
          </p:cNvPr>
          <p:cNvSpPr txBox="1"/>
          <p:nvPr/>
        </p:nvSpPr>
        <p:spPr>
          <a:xfrm>
            <a:off x="309716" y="1699894"/>
            <a:ext cx="85245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NN with single hidden layer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Universal Approximation Theorem</a:t>
            </a:r>
          </a:p>
        </p:txBody>
      </p:sp>
    </p:spTree>
    <p:extLst>
      <p:ext uri="{BB962C8B-B14F-4D97-AF65-F5344CB8AC3E}">
        <p14:creationId xmlns:p14="http://schemas.microsoft.com/office/powerpoint/2010/main" val="18618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4"/>
    </mc:Choice>
    <mc:Fallback xmlns="">
      <p:transition spd="slow" advTm="45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1" y="1382038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/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/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B4240CD9-065F-4CC2-88CA-FCA2D92522A3}"/>
              </a:ext>
            </a:extLst>
          </p:cNvPr>
          <p:cNvGrpSpPr/>
          <p:nvPr/>
        </p:nvGrpSpPr>
        <p:grpSpPr>
          <a:xfrm>
            <a:off x="1059926" y="4187965"/>
            <a:ext cx="6633315" cy="2496993"/>
            <a:chOff x="1059926" y="4187965"/>
            <a:chExt cx="6633315" cy="2496993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408480AA-1894-40DD-ACD0-22E8A6DA2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926" y="4187965"/>
              <a:ext cx="3121241" cy="2496993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40BA80D-C954-4961-9849-0BF613D31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0" y="4187965"/>
              <a:ext cx="3121241" cy="24969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4EE9886A-F3DB-411D-B719-9344E6332E39}"/>
                    </a:ext>
                  </a:extLst>
                </p:cNvPr>
                <p:cNvSpPr txBox="1"/>
                <p:nvPr/>
              </p:nvSpPr>
              <p:spPr>
                <a:xfrm>
                  <a:off x="1617407" y="5047493"/>
                  <a:ext cx="20381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=2,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4EE9886A-F3DB-411D-B719-9344E6332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7407" y="5047493"/>
                  <a:ext cx="203814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C5067D0-23FE-4077-9513-92BCE22875CA}"/>
                    </a:ext>
                  </a:extLst>
                </p:cNvPr>
                <p:cNvSpPr txBox="1"/>
                <p:nvPr/>
              </p:nvSpPr>
              <p:spPr>
                <a:xfrm>
                  <a:off x="5033293" y="5041205"/>
                  <a:ext cx="203814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=5,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C5067D0-23FE-4077-9513-92BCE2287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3293" y="5041205"/>
                  <a:ext cx="203814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8445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13EC21F9-69AF-4550-A6F4-CC1E61207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406" y="3851371"/>
            <a:ext cx="3641817" cy="2913453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1" y="1382038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/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/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D4219C5F-BCE4-4050-8946-8DAA626F3110}"/>
              </a:ext>
            </a:extLst>
          </p:cNvPr>
          <p:cNvGrpSpPr/>
          <p:nvPr/>
        </p:nvGrpSpPr>
        <p:grpSpPr>
          <a:xfrm>
            <a:off x="0" y="3851371"/>
            <a:ext cx="3641851" cy="2913481"/>
            <a:chOff x="322096" y="3910468"/>
            <a:chExt cx="3641851" cy="2913481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A161A4C-B885-4192-A520-995A9F29E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096" y="3910468"/>
              <a:ext cx="3641851" cy="291348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EBC51B-E5E3-4074-8986-8477C278353A}"/>
                    </a:ext>
                  </a:extLst>
                </p:cNvPr>
                <p:cNvSpPr txBox="1"/>
                <p:nvPr/>
              </p:nvSpPr>
              <p:spPr>
                <a:xfrm>
                  <a:off x="2969342" y="5810865"/>
                  <a:ext cx="511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EBC51B-E5E3-4074-8986-8477C2783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342" y="5810865"/>
                  <a:ext cx="51127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D3F3B05-1B94-4AE0-BBD4-252430433E19}"/>
                    </a:ext>
                  </a:extLst>
                </p:cNvPr>
                <p:cNvSpPr txBox="1"/>
                <p:nvPr/>
              </p:nvSpPr>
              <p:spPr>
                <a:xfrm>
                  <a:off x="2453923" y="5079128"/>
                  <a:ext cx="511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D3F3B05-1B94-4AE0-BBD4-252430433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3923" y="5079128"/>
                  <a:ext cx="511277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2D1FA6B-641D-493B-892C-E06117D27A19}"/>
              </a:ext>
            </a:extLst>
          </p:cNvPr>
          <p:cNvCxnSpPr>
            <a:cxnSpLocks/>
          </p:cNvCxnSpPr>
          <p:nvPr/>
        </p:nvCxnSpPr>
        <p:spPr>
          <a:xfrm flipV="1">
            <a:off x="3892233" y="5288000"/>
            <a:ext cx="1148004" cy="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6CC114-D36A-4305-BBD6-84C1E1E49F96}"/>
                  </a:ext>
                </a:extLst>
              </p:cNvPr>
              <p:cNvSpPr txBox="1"/>
              <p:nvPr/>
            </p:nvSpPr>
            <p:spPr>
              <a:xfrm>
                <a:off x="3478215" y="4755353"/>
                <a:ext cx="21314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6CC114-D36A-4305-BBD6-84C1E1E49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215" y="4755353"/>
                <a:ext cx="2131448" cy="9233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F7EAC3D-2FD7-46E0-8028-A4061E994907}"/>
                  </a:ext>
                </a:extLst>
              </p:cNvPr>
              <p:cNvSpPr txBox="1"/>
              <p:nvPr/>
            </p:nvSpPr>
            <p:spPr>
              <a:xfrm>
                <a:off x="577236" y="4155741"/>
                <a:ext cx="2038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F7EAC3D-2FD7-46E0-8028-A4061E994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36" y="4155741"/>
                <a:ext cx="203814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EED8A5C-D0CE-4179-B8D4-4199D0CB2658}"/>
                  </a:ext>
                </a:extLst>
              </p:cNvPr>
              <p:cNvSpPr txBox="1"/>
              <p:nvPr/>
            </p:nvSpPr>
            <p:spPr>
              <a:xfrm>
                <a:off x="509846" y="4570687"/>
                <a:ext cx="2038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EED8A5C-D0CE-4179-B8D4-4199D0CB2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6" y="4570687"/>
                <a:ext cx="203814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48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79E7BF8-39EC-4B1B-A7BF-1DC6973FC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353" y="3990355"/>
            <a:ext cx="3438978" cy="2751182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1" y="1382038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/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/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2D1FA6B-641D-493B-892C-E06117D27A19}"/>
              </a:ext>
            </a:extLst>
          </p:cNvPr>
          <p:cNvCxnSpPr>
            <a:cxnSpLocks/>
          </p:cNvCxnSpPr>
          <p:nvPr/>
        </p:nvCxnSpPr>
        <p:spPr>
          <a:xfrm flipV="1">
            <a:off x="3892233" y="5288000"/>
            <a:ext cx="1148004" cy="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6CC114-D36A-4305-BBD6-84C1E1E49F96}"/>
                  </a:ext>
                </a:extLst>
              </p:cNvPr>
              <p:cNvSpPr txBox="1"/>
              <p:nvPr/>
            </p:nvSpPr>
            <p:spPr>
              <a:xfrm>
                <a:off x="3513118" y="4806841"/>
                <a:ext cx="21314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6CC114-D36A-4305-BBD6-84C1E1E49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118" y="4806841"/>
                <a:ext cx="2131448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787598A4-F04A-4468-B8CB-6C5A765FB7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64" y="3990355"/>
            <a:ext cx="3294354" cy="2635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6325F7A-AB9E-461B-92DA-D31BAC927827}"/>
                  </a:ext>
                </a:extLst>
              </p:cNvPr>
              <p:cNvSpPr txBox="1"/>
              <p:nvPr/>
            </p:nvSpPr>
            <p:spPr>
              <a:xfrm>
                <a:off x="509846" y="5831352"/>
                <a:ext cx="2038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86325F7A-AB9E-461B-92DA-D31BAC927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6" y="5831352"/>
                <a:ext cx="203814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EFA0C28-776F-4E75-AAF7-BB74B60770E9}"/>
                  </a:ext>
                </a:extLst>
              </p:cNvPr>
              <p:cNvSpPr txBox="1"/>
              <p:nvPr/>
            </p:nvSpPr>
            <p:spPr>
              <a:xfrm>
                <a:off x="1110221" y="4397808"/>
                <a:ext cx="2038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=−2,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EFA0C28-776F-4E75-AAF7-BB74B6077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21" y="4397808"/>
                <a:ext cx="203814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61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6E9F71ED-90D1-4C68-B8FE-A5F1EE900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845" y="4096940"/>
            <a:ext cx="3389851" cy="271188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5F0A4D1-B861-4153-BE4B-E9526E3D3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82" y="4108811"/>
            <a:ext cx="3360175" cy="268814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1" y="1382038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/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/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D4219C5F-BCE4-4050-8946-8DAA626F3110}"/>
              </a:ext>
            </a:extLst>
          </p:cNvPr>
          <p:cNvGrpSpPr/>
          <p:nvPr/>
        </p:nvGrpSpPr>
        <p:grpSpPr>
          <a:xfrm>
            <a:off x="2143022" y="4766882"/>
            <a:ext cx="1140597" cy="863883"/>
            <a:chOff x="2465118" y="4825979"/>
            <a:chExt cx="1140597" cy="8638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EBC51B-E5E3-4074-8986-8477C278353A}"/>
                    </a:ext>
                  </a:extLst>
                </p:cNvPr>
                <p:cNvSpPr txBox="1"/>
                <p:nvPr/>
              </p:nvSpPr>
              <p:spPr>
                <a:xfrm>
                  <a:off x="2465118" y="4825979"/>
                  <a:ext cx="511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EBC51B-E5E3-4074-8986-8477C2783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5118" y="4825979"/>
                  <a:ext cx="51127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D3F3B05-1B94-4AE0-BBD4-252430433E19}"/>
                    </a:ext>
                  </a:extLst>
                </p:cNvPr>
                <p:cNvSpPr txBox="1"/>
                <p:nvPr/>
              </p:nvSpPr>
              <p:spPr>
                <a:xfrm>
                  <a:off x="3094438" y="5320530"/>
                  <a:ext cx="51127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D3F3B05-1B94-4AE0-BBD4-252430433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4438" y="5320530"/>
                  <a:ext cx="511277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2D1FA6B-641D-493B-892C-E06117D27A19}"/>
              </a:ext>
            </a:extLst>
          </p:cNvPr>
          <p:cNvCxnSpPr>
            <a:cxnSpLocks/>
          </p:cNvCxnSpPr>
          <p:nvPr/>
        </p:nvCxnSpPr>
        <p:spPr>
          <a:xfrm flipV="1">
            <a:off x="3892233" y="5288000"/>
            <a:ext cx="1148004" cy="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6CC114-D36A-4305-BBD6-84C1E1E49F96}"/>
                  </a:ext>
                </a:extLst>
              </p:cNvPr>
              <p:cNvSpPr txBox="1"/>
              <p:nvPr/>
            </p:nvSpPr>
            <p:spPr>
              <a:xfrm>
                <a:off x="3513118" y="4806841"/>
                <a:ext cx="21314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6CC114-D36A-4305-BBD6-84C1E1E49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118" y="4806841"/>
                <a:ext cx="2131448" cy="9233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60FBBDE-2562-48D9-AD00-8F2541D33689}"/>
                  </a:ext>
                </a:extLst>
              </p:cNvPr>
              <p:cNvSpPr txBox="1"/>
              <p:nvPr/>
            </p:nvSpPr>
            <p:spPr>
              <a:xfrm>
                <a:off x="577236" y="4256870"/>
                <a:ext cx="2038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60FBBDE-2562-48D9-AD00-8F2541D33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36" y="4256870"/>
                <a:ext cx="203814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6E3EE37-ED1E-4A0C-B69F-CAE71E10EC9F}"/>
                  </a:ext>
                </a:extLst>
              </p:cNvPr>
              <p:cNvSpPr txBox="1"/>
              <p:nvPr/>
            </p:nvSpPr>
            <p:spPr>
              <a:xfrm>
                <a:off x="989835" y="5750160"/>
                <a:ext cx="2038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6E3EE37-ED1E-4A0C-B69F-CAE71E10E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835" y="5750160"/>
                <a:ext cx="203814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532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1" y="1382038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1625841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3" y="2727856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1004948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022" y="3504641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/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538FF45-D125-4B68-83F2-BB1F0338A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1692486"/>
                <a:ext cx="1995948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/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995F59C-CE4D-4496-92EF-865866DEB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991" y="2794501"/>
                <a:ext cx="1995948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167" y="2052535"/>
                <a:ext cx="4403416" cy="764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D29C3881-E42C-43B7-A4A4-B0303DF4EDFB}"/>
              </a:ext>
            </a:extLst>
          </p:cNvPr>
          <p:cNvSpPr txBox="1"/>
          <p:nvPr/>
        </p:nvSpPr>
        <p:spPr>
          <a:xfrm>
            <a:off x="619433" y="4277032"/>
            <a:ext cx="260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059F05C-B685-4B25-AA2D-B55F6B6A8ADF}"/>
                  </a:ext>
                </a:extLst>
              </p:cNvPr>
              <p:cNvSpPr txBox="1"/>
              <p:nvPr/>
            </p:nvSpPr>
            <p:spPr>
              <a:xfrm>
                <a:off x="840247" y="4796182"/>
                <a:ext cx="742868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decomposition/Partition: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𝑅𝑒𝐿𝑈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 in each subdomain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059F05C-B685-4B25-AA2D-B55F6B6A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47" y="4796182"/>
                <a:ext cx="7428682" cy="1477328"/>
              </a:xfrm>
              <a:prstGeom prst="rect">
                <a:avLst/>
              </a:prstGeom>
              <a:blipFill>
                <a:blip r:embed="rId11"/>
                <a:stretch>
                  <a:fillRect l="-575" t="-2479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73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28" y="770153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1551040" y="10139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40" y="1013956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1551040" y="211597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40" y="2115971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3667638" y="75613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638" y="756138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3788291" y="2379994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91" y="2379994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D0A7A2B-369E-4044-AB6B-1E7088D71E69}"/>
              </a:ext>
            </a:extLst>
          </p:cNvPr>
          <p:cNvSpPr txBox="1"/>
          <p:nvPr/>
        </p:nvSpPr>
        <p:spPr>
          <a:xfrm>
            <a:off x="3207969" y="1522879"/>
            <a:ext cx="738664" cy="721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7E3E30-2357-4870-8064-7BFFC352DB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28" y="2997049"/>
            <a:ext cx="4545802" cy="3636642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F5D8A15-FF21-47DA-80A8-3556081793E5}"/>
              </a:ext>
            </a:extLst>
          </p:cNvPr>
          <p:cNvCxnSpPr/>
          <p:nvPr/>
        </p:nvCxnSpPr>
        <p:spPr>
          <a:xfrm>
            <a:off x="5899356" y="2884998"/>
            <a:ext cx="0" cy="346274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4511AE2-C265-4690-8E4F-4A8659476C7A}"/>
              </a:ext>
            </a:extLst>
          </p:cNvPr>
          <p:cNvCxnSpPr/>
          <p:nvPr/>
        </p:nvCxnSpPr>
        <p:spPr>
          <a:xfrm>
            <a:off x="5112773" y="2884997"/>
            <a:ext cx="0" cy="346274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7679A06-4A42-49B1-8105-9B6CF1E1241A}"/>
              </a:ext>
            </a:extLst>
          </p:cNvPr>
          <p:cNvCxnSpPr/>
          <p:nvPr/>
        </p:nvCxnSpPr>
        <p:spPr>
          <a:xfrm>
            <a:off x="4409767" y="2867812"/>
            <a:ext cx="0" cy="346274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5C01B11-8521-4E61-8953-8F9BE5D7C3B5}"/>
              </a:ext>
            </a:extLst>
          </p:cNvPr>
          <p:cNvCxnSpPr/>
          <p:nvPr/>
        </p:nvCxnSpPr>
        <p:spPr>
          <a:xfrm>
            <a:off x="3577301" y="2884996"/>
            <a:ext cx="0" cy="346274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0B23A6-C081-4689-AD67-867C82AD6265}"/>
              </a:ext>
            </a:extLst>
          </p:cNvPr>
          <p:cNvCxnSpPr/>
          <p:nvPr/>
        </p:nvCxnSpPr>
        <p:spPr>
          <a:xfrm>
            <a:off x="2893959" y="2884996"/>
            <a:ext cx="0" cy="3462745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9F67CCAF-2745-4973-843B-B9A0B5812BC2}"/>
              </a:ext>
            </a:extLst>
          </p:cNvPr>
          <p:cNvSpPr>
            <a:spLocks noChangeAspect="1"/>
          </p:cNvSpPr>
          <p:nvPr/>
        </p:nvSpPr>
        <p:spPr>
          <a:xfrm>
            <a:off x="2575647" y="467137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C567B9E-0ECA-4EA3-8758-D88662FF0C27}"/>
              </a:ext>
            </a:extLst>
          </p:cNvPr>
          <p:cNvSpPr>
            <a:spLocks noChangeAspect="1"/>
          </p:cNvSpPr>
          <p:nvPr/>
        </p:nvSpPr>
        <p:spPr>
          <a:xfrm>
            <a:off x="3091630" y="5533943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71EF5368-8AAB-4EE5-B1F6-31C7FC8B6700}"/>
              </a:ext>
            </a:extLst>
          </p:cNvPr>
          <p:cNvSpPr>
            <a:spLocks noChangeAspect="1"/>
          </p:cNvSpPr>
          <p:nvPr/>
        </p:nvSpPr>
        <p:spPr>
          <a:xfrm>
            <a:off x="3879229" y="400385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3043895-357F-4FA7-ABC9-A276522406D5}"/>
              </a:ext>
            </a:extLst>
          </p:cNvPr>
          <p:cNvSpPr>
            <a:spLocks noChangeAspect="1"/>
          </p:cNvSpPr>
          <p:nvPr/>
        </p:nvSpPr>
        <p:spPr>
          <a:xfrm>
            <a:off x="4639593" y="400385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8DC7DF2-4562-417F-BA7C-36BE487659D9}"/>
              </a:ext>
            </a:extLst>
          </p:cNvPr>
          <p:cNvSpPr>
            <a:spLocks noChangeAspect="1"/>
          </p:cNvSpPr>
          <p:nvPr/>
        </p:nvSpPr>
        <p:spPr>
          <a:xfrm>
            <a:off x="5409775" y="400385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90FECB2-4774-4DB3-8328-09594A58F92C}"/>
              </a:ext>
            </a:extLst>
          </p:cNvPr>
          <p:cNvSpPr>
            <a:spLocks noChangeAspect="1"/>
          </p:cNvSpPr>
          <p:nvPr/>
        </p:nvSpPr>
        <p:spPr>
          <a:xfrm>
            <a:off x="5956938" y="4003850"/>
            <a:ext cx="288000" cy="28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627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828" y="770153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1551040" y="1013956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40" y="1013956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1551040" y="2115971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040" y="2115971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3667638" y="756138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638" y="756138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3788291" y="2379994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291" y="2379994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D0A7A2B-369E-4044-AB6B-1E7088D71E69}"/>
              </a:ext>
            </a:extLst>
          </p:cNvPr>
          <p:cNvSpPr txBox="1"/>
          <p:nvPr/>
        </p:nvSpPr>
        <p:spPr>
          <a:xfrm>
            <a:off x="3207969" y="1522879"/>
            <a:ext cx="738664" cy="721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3F56DE4-05E5-449E-9A00-6690308A7E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657" y="2997049"/>
            <a:ext cx="4761905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6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54" y="1391321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1010266" y="1635124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66" y="1635124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1010266" y="2737139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66" y="2737139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533855" y="101423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855" y="1014231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533855" y="3513924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855" y="3513924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031433" y="2072211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433" y="2072211"/>
                <a:ext cx="4403416" cy="764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D29C3881-E42C-43B7-A4A4-B0303DF4EDFB}"/>
              </a:ext>
            </a:extLst>
          </p:cNvPr>
          <p:cNvSpPr txBox="1"/>
          <p:nvPr/>
        </p:nvSpPr>
        <p:spPr>
          <a:xfrm>
            <a:off x="619433" y="4277032"/>
            <a:ext cx="260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Remarks: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059F05C-B685-4B25-AA2D-B55F6B6A8ADF}"/>
                  </a:ext>
                </a:extLst>
              </p:cNvPr>
              <p:cNvSpPr txBox="1"/>
              <p:nvPr/>
            </p:nvSpPr>
            <p:spPr>
              <a:xfrm>
                <a:off x="840247" y="4796182"/>
                <a:ext cx="742868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decomposition/Partition: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𝑅𝑒𝐿𝑈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number of subdomains: (n + 1)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target function in each subdomain is approximated by a linear function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059F05C-B685-4B25-AA2D-B55F6B6A8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47" y="4796182"/>
                <a:ext cx="7428682" cy="1477328"/>
              </a:xfrm>
              <a:prstGeom prst="rect">
                <a:avLst/>
              </a:prstGeom>
              <a:blipFill>
                <a:blip r:embed="rId9"/>
                <a:stretch>
                  <a:fillRect l="-575" t="-2479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D0A7A2B-369E-4044-AB6B-1E7088D71E69}"/>
              </a:ext>
            </a:extLst>
          </p:cNvPr>
          <p:cNvSpPr txBox="1"/>
          <p:nvPr/>
        </p:nvSpPr>
        <p:spPr>
          <a:xfrm>
            <a:off x="2667195" y="2144047"/>
            <a:ext cx="738664" cy="721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57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Training NNs is difficult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54" y="1391321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1010266" y="1635124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66" y="1635124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1010266" y="2737139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66" y="2737139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533855" y="101423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855" y="1014231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533855" y="3513924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855" y="3513924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031433" y="2072211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433" y="2072211"/>
                <a:ext cx="4403416" cy="764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D0A7A2B-369E-4044-AB6B-1E7088D71E69}"/>
              </a:ext>
            </a:extLst>
          </p:cNvPr>
          <p:cNvSpPr txBox="1"/>
          <p:nvPr/>
        </p:nvSpPr>
        <p:spPr>
          <a:xfrm>
            <a:off x="2667195" y="2144047"/>
            <a:ext cx="738664" cy="721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070371-D063-4BB7-A274-10835AB634B2}"/>
              </a:ext>
            </a:extLst>
          </p:cNvPr>
          <p:cNvSpPr txBox="1"/>
          <p:nvPr/>
        </p:nvSpPr>
        <p:spPr>
          <a:xfrm>
            <a:off x="509028" y="4258892"/>
            <a:ext cx="358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 neural networks: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27DE7DB-474D-4EF1-934E-C8B9B6970156}"/>
                  </a:ext>
                </a:extLst>
              </p:cNvPr>
              <p:cNvSpPr txBox="1"/>
              <p:nvPr/>
            </p:nvSpPr>
            <p:spPr>
              <a:xfrm>
                <a:off x="840247" y="4796182"/>
                <a:ext cx="7428682" cy="1477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𝑅𝑒𝐿𝑈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target function in each subdomain is approximated by a linear function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27DE7DB-474D-4EF1-934E-C8B9B6970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47" y="4796182"/>
                <a:ext cx="7428682" cy="1477649"/>
              </a:xfrm>
              <a:prstGeom prst="rect">
                <a:avLst/>
              </a:prstGeom>
              <a:blipFill>
                <a:blip r:embed="rId9"/>
                <a:stretch>
                  <a:fillRect l="-575" t="-826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89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8B7841F-FB0A-47F9-BBD1-919CAA7405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177" y="2626135"/>
            <a:ext cx="3829885" cy="30639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886539"/>
                <a:ext cx="4076700" cy="129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Xavier initialization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50000 steps: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886539"/>
                <a:ext cx="4076700" cy="1292020"/>
              </a:xfrm>
              <a:prstGeom prst="rect">
                <a:avLst/>
              </a:prstGeom>
              <a:blipFill>
                <a:blip r:embed="rId5"/>
                <a:stretch>
                  <a:fillRect l="-1048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7A38B60A-05D9-4F93-BA4A-7795B0639F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626135"/>
            <a:ext cx="3829885" cy="30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−0.1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4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92943A56-4459-4734-AA53-93BAFBCFFE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2178559"/>
            <a:ext cx="2988171" cy="239053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BCE5BBE-1106-4234-B627-A608F379AD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783" y="2178558"/>
            <a:ext cx="2988173" cy="23905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D27B34C-FA2E-48EC-88C5-BACF7405E9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754" y="2178556"/>
            <a:ext cx="2988171" cy="239053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C44FCCC-751B-4E63-B3CD-653F6A8E9B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43" y="4471838"/>
            <a:ext cx="2844701" cy="227576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A59E8C7-23B8-4211-A2A7-A5069172B6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585" y="4481616"/>
            <a:ext cx="2809101" cy="224728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8CECE62-77C6-4763-BC01-68C1B7007050}"/>
              </a:ext>
            </a:extLst>
          </p:cNvPr>
          <p:cNvSpPr txBox="1"/>
          <p:nvPr/>
        </p:nvSpPr>
        <p:spPr>
          <a:xfrm>
            <a:off x="722560" y="2647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C39987-FBAF-47E3-AC16-81B9C28F52A2}"/>
              </a:ext>
            </a:extLst>
          </p:cNvPr>
          <p:cNvSpPr txBox="1"/>
          <p:nvPr/>
        </p:nvSpPr>
        <p:spPr>
          <a:xfrm>
            <a:off x="3604467" y="2680085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100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8EC8EC-BD3F-4F6E-9F85-007185C59791}"/>
              </a:ext>
            </a:extLst>
          </p:cNvPr>
          <p:cNvSpPr txBox="1"/>
          <p:nvPr/>
        </p:nvSpPr>
        <p:spPr>
          <a:xfrm>
            <a:off x="6626500" y="2689864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200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803FDF-4101-42CE-B068-39DF90F7A83D}"/>
              </a:ext>
            </a:extLst>
          </p:cNvPr>
          <p:cNvSpPr txBox="1"/>
          <p:nvPr/>
        </p:nvSpPr>
        <p:spPr>
          <a:xfrm>
            <a:off x="2250504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300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7446A8-902F-46A7-8FBE-B799AE7A51B4}"/>
              </a:ext>
            </a:extLst>
          </p:cNvPr>
          <p:cNvSpPr txBox="1"/>
          <p:nvPr/>
        </p:nvSpPr>
        <p:spPr>
          <a:xfrm>
            <a:off x="5344939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2000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42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256359" y="889873"/>
                <a:ext cx="4076700" cy="128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Xavier initialization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50000 steps: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359" y="889873"/>
                <a:ext cx="4076700" cy="1288686"/>
              </a:xfrm>
              <a:prstGeom prst="rect">
                <a:avLst/>
              </a:prstGeom>
              <a:blipFill>
                <a:blip r:embed="rId4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46BB498F-1508-4723-BD7C-9B0147CFF9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07" y="2687479"/>
            <a:ext cx="3829885" cy="306390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B3A414-35E8-4331-AB17-404950D98E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87479"/>
            <a:ext cx="3829885" cy="30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10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7F4B798F-5673-4BC2-8C26-B151F196D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721" y="4580749"/>
            <a:ext cx="2818319" cy="22546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7F32D0B-1115-48D2-930C-A41DBCDEF9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59" y="4538696"/>
            <a:ext cx="2899130" cy="23193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6BCF545-0E88-4CC9-8B6C-6A8F4C2283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85" y="2195020"/>
            <a:ext cx="3031410" cy="24251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0D1F075-B1F7-4FED-85A5-5071D17372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765" y="2184885"/>
            <a:ext cx="3044080" cy="24352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61103D-C707-499F-8908-7CC99B502B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5" y="2137741"/>
            <a:ext cx="3103009" cy="2482407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8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9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18CECE62-77C6-4763-BC01-68C1B7007050}"/>
              </a:ext>
            </a:extLst>
          </p:cNvPr>
          <p:cNvSpPr txBox="1"/>
          <p:nvPr/>
        </p:nvSpPr>
        <p:spPr>
          <a:xfrm>
            <a:off x="722560" y="2647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C39987-FBAF-47E3-AC16-81B9C28F52A2}"/>
              </a:ext>
            </a:extLst>
          </p:cNvPr>
          <p:cNvSpPr txBox="1"/>
          <p:nvPr/>
        </p:nvSpPr>
        <p:spPr>
          <a:xfrm>
            <a:off x="3604467" y="2680085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100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8EC8EC-BD3F-4F6E-9F85-007185C59791}"/>
              </a:ext>
            </a:extLst>
          </p:cNvPr>
          <p:cNvSpPr txBox="1"/>
          <p:nvPr/>
        </p:nvSpPr>
        <p:spPr>
          <a:xfrm>
            <a:off x="6626500" y="2689864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200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803FDF-4101-42CE-B068-39DF90F7A83D}"/>
              </a:ext>
            </a:extLst>
          </p:cNvPr>
          <p:cNvSpPr txBox="1"/>
          <p:nvPr/>
        </p:nvSpPr>
        <p:spPr>
          <a:xfrm>
            <a:off x="2250504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300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7446A8-902F-46A7-8FBE-B799AE7A51B4}"/>
              </a:ext>
            </a:extLst>
          </p:cNvPr>
          <p:cNvSpPr txBox="1"/>
          <p:nvPr/>
        </p:nvSpPr>
        <p:spPr>
          <a:xfrm>
            <a:off x="5344939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50000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74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4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7EC369B1-3D56-48BE-BB33-80CC765105B0}"/>
              </a:ext>
            </a:extLst>
          </p:cNvPr>
          <p:cNvGrpSpPr/>
          <p:nvPr/>
        </p:nvGrpSpPr>
        <p:grpSpPr>
          <a:xfrm>
            <a:off x="342863" y="2801614"/>
            <a:ext cx="3757189" cy="2911431"/>
            <a:chOff x="4688721" y="4580749"/>
            <a:chExt cx="2818319" cy="2254655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F4B798F-5673-4BC2-8C26-B151F196D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8721" y="4580749"/>
              <a:ext cx="2818319" cy="2254655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B7446A8-902F-46A7-8FBE-B799AE7A51B4}"/>
                </a:ext>
              </a:extLst>
            </p:cNvPr>
            <p:cNvSpPr txBox="1"/>
            <p:nvPr/>
          </p:nvSpPr>
          <p:spPr>
            <a:xfrm>
              <a:off x="5344939" y="4866796"/>
              <a:ext cx="1548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step: 50000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9A9145-C4C5-4E90-9E88-E88DA53FA5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978" y="2801614"/>
            <a:ext cx="3520199" cy="28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886539"/>
                <a:ext cx="4076700" cy="129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50000 steps: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886539"/>
                <a:ext cx="4076700" cy="1292020"/>
              </a:xfrm>
              <a:prstGeom prst="rect">
                <a:avLst/>
              </a:prstGeom>
              <a:blipFill>
                <a:blip r:embed="rId4"/>
                <a:stretch>
                  <a:fillRect l="-1048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43AEA169-2974-4F2C-84C4-3A359C3F0E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029" y="2576052"/>
            <a:ext cx="3770856" cy="30166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9048955-FA59-4899-B1AF-2E65DD87C8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599773"/>
            <a:ext cx="3770856" cy="301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3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7793B49C-B948-48DA-A1DF-00D601D82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121" y="4518867"/>
            <a:ext cx="2863653" cy="229092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DDF56BC-7F13-4459-8350-BE3EBCED9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164" y="4490979"/>
            <a:ext cx="2821294" cy="22570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2E35CC-C406-4B07-BDE3-34AF788A1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620" y="2228920"/>
            <a:ext cx="3000200" cy="24001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4289B3-D28A-427E-9B55-3CB07DED04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201" y="2228920"/>
            <a:ext cx="3000201" cy="240016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1254BDB-F973-48E9-9AEA-7887A02FD1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8920"/>
            <a:ext cx="3000202" cy="2400161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8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9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18CECE62-77C6-4763-BC01-68C1B7007050}"/>
              </a:ext>
            </a:extLst>
          </p:cNvPr>
          <p:cNvSpPr txBox="1"/>
          <p:nvPr/>
        </p:nvSpPr>
        <p:spPr>
          <a:xfrm>
            <a:off x="722560" y="2647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C39987-FBAF-47E3-AC16-81B9C28F52A2}"/>
              </a:ext>
            </a:extLst>
          </p:cNvPr>
          <p:cNvSpPr txBox="1"/>
          <p:nvPr/>
        </p:nvSpPr>
        <p:spPr>
          <a:xfrm>
            <a:off x="3604467" y="2680085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100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8EC8EC-BD3F-4F6E-9F85-007185C59791}"/>
              </a:ext>
            </a:extLst>
          </p:cNvPr>
          <p:cNvSpPr txBox="1"/>
          <p:nvPr/>
        </p:nvSpPr>
        <p:spPr>
          <a:xfrm>
            <a:off x="6626500" y="2689864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200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803FDF-4101-42CE-B068-39DF90F7A83D}"/>
              </a:ext>
            </a:extLst>
          </p:cNvPr>
          <p:cNvSpPr txBox="1"/>
          <p:nvPr/>
        </p:nvSpPr>
        <p:spPr>
          <a:xfrm>
            <a:off x="2250504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300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7446A8-902F-46A7-8FBE-B799AE7A51B4}"/>
              </a:ext>
            </a:extLst>
          </p:cNvPr>
          <p:cNvSpPr txBox="1"/>
          <p:nvPr/>
        </p:nvSpPr>
        <p:spPr>
          <a:xfrm>
            <a:off x="5344939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50000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07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4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E20EC861-A2D2-404E-AE95-3D1DE3DAD4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83" y="2682750"/>
            <a:ext cx="3722614" cy="29780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5070669-B7C6-4BD8-B096-A356A4EDACC8}"/>
              </a:ext>
            </a:extLst>
          </p:cNvPr>
          <p:cNvSpPr txBox="1"/>
          <p:nvPr/>
        </p:nvSpPr>
        <p:spPr>
          <a:xfrm>
            <a:off x="985093" y="3059668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50000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7C164A-3E10-4E63-B091-D945001BF0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82750"/>
            <a:ext cx="3722614" cy="297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6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4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029087"/>
                <a:ext cx="4076700" cy="87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029087"/>
                <a:ext cx="4076700" cy="873572"/>
              </a:xfrm>
              <a:prstGeom prst="rect">
                <a:avLst/>
              </a:prstGeom>
              <a:blipFill>
                <a:blip r:embed="rId5"/>
                <a:stretch>
                  <a:fillRect l="-1048" b="-83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7AA4D4F-DEEF-4195-85BB-AAA8B736DE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930012"/>
            <a:ext cx="3451306" cy="27610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DEA27AC-0CDF-4423-963B-D0C01B9A98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881" y="2930011"/>
            <a:ext cx="3451307" cy="276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C09E6D95-E02C-4EDD-AF68-9FBDFD209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1583" y="4760148"/>
            <a:ext cx="2622315" cy="20978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9F88B01-B83C-4297-8F9C-96A06A61D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106" y="4793137"/>
            <a:ext cx="2581079" cy="20648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134CAAA-4CDE-4844-9D89-209F2A2368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716" y="2401310"/>
            <a:ext cx="3075457" cy="24603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4DAC7C-A61F-48C7-8405-BD4EECC62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815" y="2403871"/>
            <a:ext cx="3075457" cy="24603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A47DC0C-CCBC-498A-9D8E-EDCA4BD55E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5151"/>
            <a:ext cx="3075456" cy="246036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8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9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18CECE62-77C6-4763-BC01-68C1B7007050}"/>
              </a:ext>
            </a:extLst>
          </p:cNvPr>
          <p:cNvSpPr txBox="1"/>
          <p:nvPr/>
        </p:nvSpPr>
        <p:spPr>
          <a:xfrm>
            <a:off x="722560" y="264713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C39987-FBAF-47E3-AC16-81B9C28F52A2}"/>
              </a:ext>
            </a:extLst>
          </p:cNvPr>
          <p:cNvSpPr txBox="1"/>
          <p:nvPr/>
        </p:nvSpPr>
        <p:spPr>
          <a:xfrm>
            <a:off x="3604467" y="2680085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100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8EC8EC-BD3F-4F6E-9F85-007185C59791}"/>
              </a:ext>
            </a:extLst>
          </p:cNvPr>
          <p:cNvSpPr txBox="1"/>
          <p:nvPr/>
        </p:nvSpPr>
        <p:spPr>
          <a:xfrm>
            <a:off x="6626500" y="2689864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200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803FDF-4101-42CE-B068-39DF90F7A83D}"/>
              </a:ext>
            </a:extLst>
          </p:cNvPr>
          <p:cNvSpPr txBox="1"/>
          <p:nvPr/>
        </p:nvSpPr>
        <p:spPr>
          <a:xfrm>
            <a:off x="2250504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300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B7446A8-902F-46A7-8FBE-B799AE7A51B4}"/>
              </a:ext>
            </a:extLst>
          </p:cNvPr>
          <p:cNvSpPr txBox="1"/>
          <p:nvPr/>
        </p:nvSpPr>
        <p:spPr>
          <a:xfrm>
            <a:off x="5344939" y="4866796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50000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887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77C713F7-7E9A-4FDE-A86D-081B6BE43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14" y="2682751"/>
            <a:ext cx="3553723" cy="2842978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4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238503"/>
                <a:ext cx="4076700" cy="457689"/>
              </a:xfrm>
              <a:prstGeom prst="rect">
                <a:avLst/>
              </a:prstGeom>
              <a:blipFill>
                <a:blip r:embed="rId5"/>
                <a:stretch>
                  <a:fillRect l="-1048" b="-17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5070669-B7C6-4BD8-B096-A356A4EDACC8}"/>
              </a:ext>
            </a:extLst>
          </p:cNvPr>
          <p:cNvSpPr txBox="1"/>
          <p:nvPr/>
        </p:nvSpPr>
        <p:spPr>
          <a:xfrm>
            <a:off x="985093" y="3059668"/>
            <a:ext cx="15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step: 50000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2DCED3-8349-4F8D-A716-4A5C1316D2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675" y="2776519"/>
            <a:ext cx="3553723" cy="284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4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233078" y="1106180"/>
                <a:ext cx="4076700" cy="87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=201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078" y="1106180"/>
                <a:ext cx="4076700" cy="873572"/>
              </a:xfrm>
              <a:prstGeom prst="rect">
                <a:avLst/>
              </a:prstGeom>
              <a:blipFill>
                <a:blip r:embed="rId4"/>
                <a:stretch>
                  <a:fillRect l="-897" b="-7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7B3A414-35E8-4331-AB17-404950D98E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79174"/>
            <a:ext cx="3022815" cy="24182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0DB74C-17E0-48F7-8268-B8D18482B5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592" y="2979174"/>
            <a:ext cx="3022816" cy="241825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E5EDBB-DB93-43B3-844C-78086815D5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185" y="2979174"/>
            <a:ext cx="3022814" cy="24182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8824113-EB11-4D16-B093-BB92832A5F9D}"/>
                  </a:ext>
                </a:extLst>
              </p:cNvPr>
              <p:cNvSpPr txBox="1"/>
              <p:nvPr/>
            </p:nvSpPr>
            <p:spPr>
              <a:xfrm>
                <a:off x="3268822" y="2389918"/>
                <a:ext cx="2910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8824113-EB11-4D16-B093-BB92832A5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822" y="2389918"/>
                <a:ext cx="29103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22E450B-4469-4C77-B663-ADE07C29D161}"/>
                  </a:ext>
                </a:extLst>
              </p:cNvPr>
              <p:cNvSpPr txBox="1"/>
              <p:nvPr/>
            </p:nvSpPr>
            <p:spPr>
              <a:xfrm>
                <a:off x="150244" y="5432684"/>
                <a:ext cx="2910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22E450B-4469-4C77-B663-ADE07C29D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44" y="5432684"/>
                <a:ext cx="29103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223D949-7091-467A-BA08-C488E7E2D3F1}"/>
                  </a:ext>
                </a:extLst>
              </p:cNvPr>
              <p:cNvSpPr txBox="1"/>
              <p:nvPr/>
            </p:nvSpPr>
            <p:spPr>
              <a:xfrm>
                <a:off x="3173060" y="5432684"/>
                <a:ext cx="2910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223D949-7091-467A-BA08-C488E7E2D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60" y="5432684"/>
                <a:ext cx="2910348" cy="369332"/>
              </a:xfrm>
              <a:prstGeom prst="rect">
                <a:avLst/>
              </a:prstGeom>
              <a:blipFill>
                <a:blip r:embed="rId10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354AC09-BC6A-463E-A998-B87F0E1D206E}"/>
                  </a:ext>
                </a:extLst>
              </p:cNvPr>
              <p:cNvSpPr txBox="1"/>
              <p:nvPr/>
            </p:nvSpPr>
            <p:spPr>
              <a:xfrm>
                <a:off x="6271428" y="5397426"/>
                <a:ext cx="2910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354AC09-BC6A-463E-A998-B87F0E1D2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428" y="5397426"/>
                <a:ext cx="29103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90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2 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030562"/>
                <a:ext cx="4076700" cy="87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∗2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Xavier initialization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030562"/>
                <a:ext cx="4076700" cy="873572"/>
              </a:xfrm>
              <a:prstGeom prst="rect">
                <a:avLst/>
              </a:prstGeom>
              <a:blipFill>
                <a:blip r:embed="rId4"/>
                <a:stretch>
                  <a:fillRect l="-1048" b="-10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06F356B-5F99-4AF4-920A-54DC1B5A1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921429"/>
            <a:ext cx="3892198" cy="31137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826F67F-90B2-4EF9-B4F9-89082ED75E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" y="2921429"/>
            <a:ext cx="3892197" cy="31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2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2 hidden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/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⁡(−100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−0.5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data: 101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data: 1000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7DF2FDF-B190-4518-8309-00AEEB23F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822813"/>
                <a:ext cx="4076700" cy="1289071"/>
              </a:xfrm>
              <a:prstGeom prst="rect">
                <a:avLst/>
              </a:prstGeom>
              <a:blipFill>
                <a:blip r:embed="rId3"/>
                <a:stretch>
                  <a:fillRect l="-897" b="-7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/>
              <p:nvPr/>
            </p:nvSpPr>
            <p:spPr>
              <a:xfrm>
                <a:off x="4325185" y="1030562"/>
                <a:ext cx="4076700" cy="873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∗2</m:t>
                    </m:r>
                  </m:oMath>
                </a14:m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Xavier initialization</a:t>
                </a:r>
                <a:endParaRPr lang="en-US" altLang="zh-CN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DCC369F-C087-4554-A255-6BCD3461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185" y="1030562"/>
                <a:ext cx="4076700" cy="873572"/>
              </a:xfrm>
              <a:prstGeom prst="rect">
                <a:avLst/>
              </a:prstGeom>
              <a:blipFill>
                <a:blip r:embed="rId4"/>
                <a:stretch>
                  <a:fillRect l="-1048" b="-10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006F356B-5F99-4AF4-920A-54DC1B5A1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842" y="3113721"/>
            <a:ext cx="3829885" cy="30639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699CB80-E273-45E6-AC74-8DF7FA18D1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3113721"/>
            <a:ext cx="3829885" cy="30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2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From 1D to </a:t>
            </a:r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nD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F3EF6AF-80DD-43A0-BD3E-89E4F1372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25" y="1464533"/>
            <a:ext cx="3517428" cy="2813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DB3370E-D88C-4966-96FE-39FD5773EF53}"/>
                  </a:ext>
                </a:extLst>
              </p:cNvPr>
              <p:cNvSpPr txBox="1"/>
              <p:nvPr/>
            </p:nvSpPr>
            <p:spPr>
              <a:xfrm>
                <a:off x="3116826" y="819898"/>
                <a:ext cx="2910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DB3370E-D88C-4966-96FE-39FD5773E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826" y="819898"/>
                <a:ext cx="29103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>
            <a:extLst>
              <a:ext uri="{FF2B5EF4-FFF2-40B4-BE49-F238E27FC236}">
                <a16:creationId xmlns:a16="http://schemas.microsoft.com/office/drawing/2014/main" id="{8B2A3941-578C-4559-BD98-7563AE831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336" y="1595394"/>
            <a:ext cx="4505393" cy="235654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5CA66DC-8A2D-4680-B14A-C8E170AA5B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684" y="4189984"/>
            <a:ext cx="2910348" cy="258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4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On Universal Approximation Theorem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701F89-49DE-4D1E-BC4A-13474DDEC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219" y="1149197"/>
            <a:ext cx="6384170" cy="1646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7269918-C012-4EB2-91C4-D5DCF4C68C62}"/>
                  </a:ext>
                </a:extLst>
              </p:cNvPr>
              <p:cNvSpPr txBox="1"/>
              <p:nvPr/>
            </p:nvSpPr>
            <p:spPr>
              <a:xfrm>
                <a:off x="747251" y="3138878"/>
                <a:ext cx="644012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b="0" dirty="0"/>
                  <a:t>: </a:t>
                </a:r>
                <a:r>
                  <a:rPr lang="en-US" altLang="zh-CN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partition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activation functions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7269918-C012-4EB2-91C4-D5DCF4C68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51" y="3138878"/>
                <a:ext cx="6440129" cy="923330"/>
              </a:xfrm>
              <a:prstGeom prst="rect">
                <a:avLst/>
              </a:prstGeom>
              <a:blipFill>
                <a:blip r:embed="rId4"/>
                <a:stretch>
                  <a:fillRect l="-663" t="-4636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88AD06AB-47B0-4CC8-8B89-963ABD203D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48" y="4127821"/>
            <a:ext cx="4810103" cy="241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7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NN with a single hidden layer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CEB176-2AB3-4775-8FD8-162A3C281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54" y="1391321"/>
            <a:ext cx="3010320" cy="21148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/>
              <p:nvPr/>
            </p:nvSpPr>
            <p:spPr>
              <a:xfrm>
                <a:off x="1010266" y="1635124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F7F2721-8C79-466E-B420-24D804FE8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66" y="1635124"/>
                <a:ext cx="1995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/>
              <p:nvPr/>
            </p:nvSpPr>
            <p:spPr>
              <a:xfrm>
                <a:off x="1010266" y="2737139"/>
                <a:ext cx="1995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7A3B87-7622-4E37-9619-7D7043890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66" y="2737139"/>
                <a:ext cx="1995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/>
              <p:nvPr/>
            </p:nvSpPr>
            <p:spPr>
              <a:xfrm>
                <a:off x="2533855" y="1014231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F37554-AD8F-4103-9235-EE1FF294C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855" y="1014231"/>
                <a:ext cx="2890271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/>
              <p:nvPr/>
            </p:nvSpPr>
            <p:spPr>
              <a:xfrm>
                <a:off x="2533855" y="3513924"/>
                <a:ext cx="2890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𝑅𝑒𝐿𝑈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96BB49D-85FB-4E3E-B0E8-BE1C2783E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855" y="3513924"/>
                <a:ext cx="2890271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/>
              <p:nvPr/>
            </p:nvSpPr>
            <p:spPr>
              <a:xfrm>
                <a:off x="4031433" y="2072211"/>
                <a:ext cx="440341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8AF2811-DC4E-468F-A6B6-91BC46461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433" y="2072211"/>
                <a:ext cx="4403416" cy="764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D0A7A2B-369E-4044-AB6B-1E7088D71E69}"/>
              </a:ext>
            </a:extLst>
          </p:cNvPr>
          <p:cNvSpPr txBox="1"/>
          <p:nvPr/>
        </p:nvSpPr>
        <p:spPr>
          <a:xfrm>
            <a:off x="2667195" y="2144047"/>
            <a:ext cx="738664" cy="72144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3AFF5F-666B-4D5B-ACFD-ABE9C6B32D6F}"/>
                  </a:ext>
                </a:extLst>
              </p:cNvPr>
              <p:cNvSpPr txBox="1"/>
              <p:nvPr/>
            </p:nvSpPr>
            <p:spPr>
              <a:xfrm>
                <a:off x="672491" y="4851011"/>
                <a:ext cx="76777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E3AFF5F-666B-4D5B-ACFD-ABE9C6B32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91" y="4851011"/>
                <a:ext cx="7677765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8F0132D6-CFE1-47C0-8FB8-0ADA911F913A}"/>
              </a:ext>
            </a:extLst>
          </p:cNvPr>
          <p:cNvSpPr txBox="1"/>
          <p:nvPr/>
        </p:nvSpPr>
        <p:spPr>
          <a:xfrm>
            <a:off x="509028" y="4258892"/>
            <a:ext cx="358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 rate: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45E3FED-3723-4485-A415-DCA3D67A9E8E}"/>
              </a:ext>
            </a:extLst>
          </p:cNvPr>
          <p:cNvSpPr txBox="1"/>
          <p:nvPr/>
        </p:nvSpPr>
        <p:spPr>
          <a:xfrm>
            <a:off x="509028" y="5282013"/>
            <a:ext cx="358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 expansion: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0D932C0-0CBC-4FB6-B061-FADD2B8A090E}"/>
                  </a:ext>
                </a:extLst>
              </p:cNvPr>
              <p:cNvSpPr txBox="1"/>
              <p:nvPr/>
            </p:nvSpPr>
            <p:spPr>
              <a:xfrm>
                <a:off x="831439" y="5672957"/>
                <a:ext cx="7677765" cy="88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0D932C0-0CBC-4FB6-B061-FADD2B8A0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39" y="5672957"/>
                <a:ext cx="7677765" cy="887935"/>
              </a:xfrm>
              <a:prstGeom prst="rect">
                <a:avLst/>
              </a:prstGeom>
              <a:blipFill>
                <a:blip r:embed="rId10"/>
                <a:stretch>
                  <a:fillRect b="-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16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2"/>
    </mc:Choice>
    <mc:Fallback xmlns="">
      <p:transition spd="slow" advTm="792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233" y="3075057"/>
            <a:ext cx="7175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DC31F1-D89B-4C21-B37C-7E760FAC0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59" y="6263149"/>
            <a:ext cx="822241" cy="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"/>
    </mc:Choice>
    <mc:Fallback xmlns="">
      <p:transition spd="slow" advTm="1926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14249</TotalTime>
  <Words>1532</Words>
  <Application>Microsoft Office PowerPoint</Application>
  <PresentationFormat>全屏显示(4:3)</PresentationFormat>
  <Paragraphs>401</Paragraphs>
  <Slides>37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Microsoft YaHei UI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1254</cp:revision>
  <dcterms:created xsi:type="dcterms:W3CDTF">2017-09-04T15:34:47Z</dcterms:created>
  <dcterms:modified xsi:type="dcterms:W3CDTF">2026-03-30T14:55:10Z</dcterms:modified>
</cp:coreProperties>
</file>