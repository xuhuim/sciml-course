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39"/>
  </p:notesMasterIdLst>
  <p:sldIdLst>
    <p:sldId id="256" r:id="rId2"/>
    <p:sldId id="333" r:id="rId3"/>
    <p:sldId id="409" r:id="rId4"/>
    <p:sldId id="306" r:id="rId5"/>
    <p:sldId id="377" r:id="rId6"/>
    <p:sldId id="428" r:id="rId7"/>
    <p:sldId id="395" r:id="rId8"/>
    <p:sldId id="392" r:id="rId9"/>
    <p:sldId id="411" r:id="rId10"/>
    <p:sldId id="410" r:id="rId11"/>
    <p:sldId id="397" r:id="rId12"/>
    <p:sldId id="396" r:id="rId13"/>
    <p:sldId id="398" r:id="rId14"/>
    <p:sldId id="402" r:id="rId15"/>
    <p:sldId id="401" r:id="rId16"/>
    <p:sldId id="405" r:id="rId17"/>
    <p:sldId id="404" r:id="rId18"/>
    <p:sldId id="403" r:id="rId19"/>
    <p:sldId id="407" r:id="rId20"/>
    <p:sldId id="413" r:id="rId21"/>
    <p:sldId id="412" r:id="rId22"/>
    <p:sldId id="415" r:id="rId23"/>
    <p:sldId id="414" r:id="rId24"/>
    <p:sldId id="416" r:id="rId25"/>
    <p:sldId id="417" r:id="rId26"/>
    <p:sldId id="418" r:id="rId27"/>
    <p:sldId id="419" r:id="rId28"/>
    <p:sldId id="420" r:id="rId29"/>
    <p:sldId id="421" r:id="rId30"/>
    <p:sldId id="422" r:id="rId31"/>
    <p:sldId id="424" r:id="rId32"/>
    <p:sldId id="427" r:id="rId33"/>
    <p:sldId id="423" r:id="rId34"/>
    <p:sldId id="425" r:id="rId35"/>
    <p:sldId id="426" r:id="rId36"/>
    <p:sldId id="406" r:id="rId37"/>
    <p:sldId id="338" r:id="rId3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3338FD"/>
    <a:srgbClr val="3333FD"/>
    <a:srgbClr val="0000CC"/>
    <a:srgbClr val="CC1704"/>
    <a:srgbClr val="000099"/>
    <a:srgbClr val="003399"/>
    <a:srgbClr val="6732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85619" autoAdjust="0"/>
  </p:normalViewPr>
  <p:slideViewPr>
    <p:cSldViewPr snapToGrid="0">
      <p:cViewPr varScale="1">
        <p:scale>
          <a:sx n="94" d="100"/>
          <a:sy n="94" d="100"/>
        </p:scale>
        <p:origin x="20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24CD06-CDB8-463C-82C0-327730F8ACA7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796392-4F4E-4DC5-B4DA-6DF644E23D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5799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44355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18827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4528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4516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4516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163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291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60341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3279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3229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9860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1236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69532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161194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54236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309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86008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989687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70700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2906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31473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93088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10104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17005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21370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618088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82895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437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53078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51734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16446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7347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00205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21379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94036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83744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9378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169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4760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46768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7597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91993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921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205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814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5640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776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F8D91E-FFF0-45B5-AFE0-22E101FDFDBC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5745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1.png"/><Relationship Id="rId8" Type="http://schemas.openxmlformats.org/officeDocument/2006/relationships/image" Target="../media/image4.wmf"/><Relationship Id="rId13" Type="http://schemas.openxmlformats.org/officeDocument/2006/relationships/image" Target="../media/image80.png"/><Relationship Id="rId18" Type="http://schemas.openxmlformats.org/officeDocument/2006/relationships/image" Target="../media/image13.png"/><Relationship Id="rId25" Type="http://schemas.openxmlformats.org/officeDocument/2006/relationships/image" Target="../media/image20.png"/><Relationship Id="rId7" Type="http://schemas.openxmlformats.org/officeDocument/2006/relationships/oleObject" Target="../embeddings/oleObject1.bin"/><Relationship Id="rId12" Type="http://schemas.openxmlformats.org/officeDocument/2006/relationships/image" Target="../media/image41.wmf"/><Relationship Id="rId17" Type="http://schemas.openxmlformats.org/officeDocument/2006/relationships/image" Target="../media/image12.png"/><Relationship Id="rId3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29" Type="http://schemas.openxmlformats.org/officeDocument/2006/relationships/image" Target="../media/image4.wmf"/><Relationship Id="rId16" Type="http://schemas.openxmlformats.org/officeDocument/2006/relationships/image" Target="../media/image110.png"/><Relationship Id="rId20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24" Type="http://schemas.openxmlformats.org/officeDocument/2006/relationships/image" Target="../media/image19.png"/><Relationship Id="rId11" Type="http://schemas.openxmlformats.org/officeDocument/2006/relationships/oleObject" Target="../embeddings/oleObject2.bin"/><Relationship Id="rId32" Type="http://schemas.openxmlformats.org/officeDocument/2006/relationships/image" Target="../media/image6.png"/><Relationship Id="rId28" Type="http://schemas.openxmlformats.org/officeDocument/2006/relationships/oleObject" Target="../embeddings/oleObject1.bin"/><Relationship Id="rId15" Type="http://schemas.openxmlformats.org/officeDocument/2006/relationships/image" Target="../media/image10.png"/><Relationship Id="rId19" Type="http://schemas.openxmlformats.org/officeDocument/2006/relationships/image" Target="../media/image14.png"/><Relationship Id="rId31" Type="http://schemas.openxmlformats.org/officeDocument/2006/relationships/image" Target="../media/image5.png"/><Relationship Id="rId27" Type="http://schemas.openxmlformats.org/officeDocument/2006/relationships/image" Target="../media/image3.png"/><Relationship Id="rId30" Type="http://schemas.openxmlformats.org/officeDocument/2006/relationships/oleObject" Target="../embeddings/oleObject2.bin"/><Relationship Id="rId14" Type="http://schemas.openxmlformats.org/officeDocument/2006/relationships/image" Target="../media/image9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wmf"/><Relationship Id="rId13" Type="http://schemas.openxmlformats.org/officeDocument/2006/relationships/image" Target="../media/image80.png"/><Relationship Id="rId18" Type="http://schemas.openxmlformats.org/officeDocument/2006/relationships/image" Target="../media/image13.png"/><Relationship Id="rId3" Type="http://schemas.openxmlformats.org/officeDocument/2006/relationships/image" Target="../media/image3.png"/><Relationship Id="rId21" Type="http://schemas.openxmlformats.org/officeDocument/2006/relationships/image" Target="../media/image5.png"/><Relationship Id="rId7" Type="http://schemas.openxmlformats.org/officeDocument/2006/relationships/oleObject" Target="../embeddings/oleObject1.bin"/><Relationship Id="rId12" Type="http://schemas.openxmlformats.org/officeDocument/2006/relationships/image" Target="../media/image41.wmf"/><Relationship Id="rId17" Type="http://schemas.openxmlformats.org/officeDocument/2006/relationships/image" Target="../media/image12.png"/><Relationship Id="rId25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10.png"/><Relationship Id="rId20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11" Type="http://schemas.openxmlformats.org/officeDocument/2006/relationships/oleObject" Target="../embeddings/oleObject2.bin"/><Relationship Id="rId24" Type="http://schemas.openxmlformats.org/officeDocument/2006/relationships/image" Target="../media/image8.png"/><Relationship Id="rId5" Type="http://schemas.openxmlformats.org/officeDocument/2006/relationships/image" Target="../media/image4.wmf"/><Relationship Id="rId15" Type="http://schemas.openxmlformats.org/officeDocument/2006/relationships/image" Target="../media/image10.png"/><Relationship Id="rId23" Type="http://schemas.openxmlformats.org/officeDocument/2006/relationships/image" Target="../media/image7.png"/><Relationship Id="rId19" Type="http://schemas.openxmlformats.org/officeDocument/2006/relationships/image" Target="../media/image14.png"/><Relationship Id="rId4" Type="http://schemas.openxmlformats.org/officeDocument/2006/relationships/oleObject" Target="../embeddings/oleObject1.bin"/><Relationship Id="rId9" Type="http://schemas.openxmlformats.org/officeDocument/2006/relationships/oleObject" Target="../embeddings/oleObject2.bin"/><Relationship Id="rId14" Type="http://schemas.openxmlformats.org/officeDocument/2006/relationships/image" Target="../media/image90.png"/><Relationship Id="rId22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wmf"/><Relationship Id="rId13" Type="http://schemas.openxmlformats.org/officeDocument/2006/relationships/image" Target="../media/image800.png"/><Relationship Id="rId18" Type="http://schemas.openxmlformats.org/officeDocument/2006/relationships/image" Target="../media/image130.png"/><Relationship Id="rId26" Type="http://schemas.openxmlformats.org/officeDocument/2006/relationships/image" Target="../media/image210.png"/><Relationship Id="rId3" Type="http://schemas.openxmlformats.org/officeDocument/2006/relationships/image" Target="../media/image3.png"/><Relationship Id="rId21" Type="http://schemas.openxmlformats.org/officeDocument/2006/relationships/image" Target="../media/image160.png"/><Relationship Id="rId7" Type="http://schemas.openxmlformats.org/officeDocument/2006/relationships/oleObject" Target="../embeddings/oleObject3.bin"/><Relationship Id="rId12" Type="http://schemas.openxmlformats.org/officeDocument/2006/relationships/image" Target="../media/image40.wmf"/><Relationship Id="rId17" Type="http://schemas.openxmlformats.org/officeDocument/2006/relationships/image" Target="../media/image120.png"/><Relationship Id="rId25" Type="http://schemas.openxmlformats.org/officeDocument/2006/relationships/image" Target="../media/image50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1100.png"/><Relationship Id="rId20" Type="http://schemas.openxmlformats.org/officeDocument/2006/relationships/image" Target="../media/image150.png"/><Relationship Id="rId1" Type="http://schemas.openxmlformats.org/officeDocument/2006/relationships/slideLayout" Target="../slideLayouts/slideLayout7.xml"/><Relationship Id="rId11" Type="http://schemas.openxmlformats.org/officeDocument/2006/relationships/oleObject" Target="../embeddings/oleObject4.bin"/><Relationship Id="rId24" Type="http://schemas.openxmlformats.org/officeDocument/2006/relationships/image" Target="../media/image190.png"/><Relationship Id="rId5" Type="http://schemas.openxmlformats.org/officeDocument/2006/relationships/image" Target="../media/image4.wmf"/><Relationship Id="rId15" Type="http://schemas.openxmlformats.org/officeDocument/2006/relationships/image" Target="../media/image104.png"/><Relationship Id="rId23" Type="http://schemas.openxmlformats.org/officeDocument/2006/relationships/image" Target="../media/image18.png"/><Relationship Id="rId19" Type="http://schemas.openxmlformats.org/officeDocument/2006/relationships/image" Target="../media/image140.png"/><Relationship Id="rId4" Type="http://schemas.openxmlformats.org/officeDocument/2006/relationships/oleObject" Target="../embeddings/oleObject3.bin"/><Relationship Id="rId9" Type="http://schemas.openxmlformats.org/officeDocument/2006/relationships/oleObject" Target="../embeddings/oleObject4.bin"/><Relationship Id="rId14" Type="http://schemas.openxmlformats.org/officeDocument/2006/relationships/image" Target="../media/image900.png"/><Relationship Id="rId22" Type="http://schemas.openxmlformats.org/officeDocument/2006/relationships/image" Target="../media/image170.png"/><Relationship Id="rId27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3" Type="http://schemas.openxmlformats.org/officeDocument/2006/relationships/image" Target="../media/image24.png"/><Relationship Id="rId7" Type="http://schemas.openxmlformats.org/officeDocument/2006/relationships/image" Target="../media/image240.pn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0.png"/><Relationship Id="rId11" Type="http://schemas.openxmlformats.org/officeDocument/2006/relationships/image" Target="../media/image28.png"/><Relationship Id="rId5" Type="http://schemas.openxmlformats.org/officeDocument/2006/relationships/image" Target="../media/image220.png"/><Relationship Id="rId10" Type="http://schemas.openxmlformats.org/officeDocument/2006/relationships/image" Target="../media/image27.png"/><Relationship Id="rId4" Type="http://schemas.openxmlformats.org/officeDocument/2006/relationships/image" Target="../media/image180.png"/><Relationship Id="rId9" Type="http://schemas.openxmlformats.org/officeDocument/2006/relationships/image" Target="../media/image26.png"/><Relationship Id="rId14" Type="http://schemas.openxmlformats.org/officeDocument/2006/relationships/image" Target="../media/image3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0.png"/><Relationship Id="rId13" Type="http://schemas.openxmlformats.org/officeDocument/2006/relationships/image" Target="../media/image34.png"/><Relationship Id="rId3" Type="http://schemas.openxmlformats.org/officeDocument/2006/relationships/image" Target="../media/image32.png"/><Relationship Id="rId7" Type="http://schemas.openxmlformats.org/officeDocument/2006/relationships/image" Target="../media/image230.png"/><Relationship Id="rId12" Type="http://schemas.openxmlformats.org/officeDocument/2006/relationships/image" Target="../media/image33.png"/><Relationship Id="rId17" Type="http://schemas.openxmlformats.org/officeDocument/2006/relationships/image" Target="../media/image38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0.png"/><Relationship Id="rId11" Type="http://schemas.openxmlformats.org/officeDocument/2006/relationships/image" Target="../media/image27.png"/><Relationship Id="rId5" Type="http://schemas.openxmlformats.org/officeDocument/2006/relationships/image" Target="../media/image180.png"/><Relationship Id="rId15" Type="http://schemas.openxmlformats.org/officeDocument/2006/relationships/image" Target="../media/image36.png"/><Relationship Id="rId10" Type="http://schemas.openxmlformats.org/officeDocument/2006/relationships/image" Target="../media/image26.png"/><Relationship Id="rId4" Type="http://schemas.openxmlformats.org/officeDocument/2006/relationships/image" Target="../media/image24.png"/><Relationship Id="rId9" Type="http://schemas.openxmlformats.org/officeDocument/2006/relationships/image" Target="../media/image25.png"/><Relationship Id="rId14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0.png"/><Relationship Id="rId13" Type="http://schemas.openxmlformats.org/officeDocument/2006/relationships/image" Target="../media/image41.png"/><Relationship Id="rId3" Type="http://schemas.openxmlformats.org/officeDocument/2006/relationships/image" Target="../media/image39.png"/><Relationship Id="rId7" Type="http://schemas.openxmlformats.org/officeDocument/2006/relationships/image" Target="../media/image230.png"/><Relationship Id="rId12" Type="http://schemas.openxmlformats.org/officeDocument/2006/relationships/image" Target="../media/image4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0.png"/><Relationship Id="rId11" Type="http://schemas.openxmlformats.org/officeDocument/2006/relationships/image" Target="../media/image27.png"/><Relationship Id="rId5" Type="http://schemas.openxmlformats.org/officeDocument/2006/relationships/image" Target="../media/image180.png"/><Relationship Id="rId15" Type="http://schemas.openxmlformats.org/officeDocument/2006/relationships/image" Target="../media/image43.png"/><Relationship Id="rId10" Type="http://schemas.openxmlformats.org/officeDocument/2006/relationships/image" Target="../media/image26.png"/><Relationship Id="rId4" Type="http://schemas.openxmlformats.org/officeDocument/2006/relationships/image" Target="../media/image24.png"/><Relationship Id="rId9" Type="http://schemas.openxmlformats.org/officeDocument/2006/relationships/image" Target="../media/image25.png"/><Relationship Id="rId14" Type="http://schemas.openxmlformats.org/officeDocument/2006/relationships/image" Target="../media/image4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0.png"/><Relationship Id="rId13" Type="http://schemas.openxmlformats.org/officeDocument/2006/relationships/image" Target="../media/image46.png"/><Relationship Id="rId3" Type="http://schemas.openxmlformats.org/officeDocument/2006/relationships/image" Target="../media/image44.png"/><Relationship Id="rId7" Type="http://schemas.openxmlformats.org/officeDocument/2006/relationships/image" Target="../media/image220.png"/><Relationship Id="rId12" Type="http://schemas.openxmlformats.org/officeDocument/2006/relationships/image" Target="../media/image27.png"/><Relationship Id="rId17" Type="http://schemas.openxmlformats.org/officeDocument/2006/relationships/image" Target="../media/image49.png"/><Relationship Id="rId2" Type="http://schemas.openxmlformats.org/officeDocument/2006/relationships/notesSlide" Target="../notesSlides/notesSlide14.xml"/><Relationship Id="rId16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0.png"/><Relationship Id="rId11" Type="http://schemas.openxmlformats.org/officeDocument/2006/relationships/image" Target="../media/image26.png"/><Relationship Id="rId5" Type="http://schemas.openxmlformats.org/officeDocument/2006/relationships/image" Target="../media/image24.png"/><Relationship Id="rId15" Type="http://schemas.openxmlformats.org/officeDocument/2006/relationships/image" Target="../media/image360.png"/><Relationship Id="rId10" Type="http://schemas.openxmlformats.org/officeDocument/2006/relationships/image" Target="../media/image25.png"/><Relationship Id="rId4" Type="http://schemas.openxmlformats.org/officeDocument/2006/relationships/image" Target="../media/image45.png"/><Relationship Id="rId9" Type="http://schemas.openxmlformats.org/officeDocument/2006/relationships/image" Target="../media/image240.png"/><Relationship Id="rId14" Type="http://schemas.openxmlformats.org/officeDocument/2006/relationships/image" Target="../media/image47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4.png"/><Relationship Id="rId7" Type="http://schemas.openxmlformats.org/officeDocument/2006/relationships/image" Target="../media/image24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0.png"/><Relationship Id="rId11" Type="http://schemas.openxmlformats.org/officeDocument/2006/relationships/image" Target="../media/image500.png"/><Relationship Id="rId5" Type="http://schemas.openxmlformats.org/officeDocument/2006/relationships/image" Target="../media/image220.png"/><Relationship Id="rId10" Type="http://schemas.openxmlformats.org/officeDocument/2006/relationships/image" Target="../media/image27.png"/><Relationship Id="rId4" Type="http://schemas.openxmlformats.org/officeDocument/2006/relationships/image" Target="../media/image180.png"/><Relationship Id="rId9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24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24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0.png"/><Relationship Id="rId3" Type="http://schemas.openxmlformats.org/officeDocument/2006/relationships/image" Target="../media/image24.png"/><Relationship Id="rId7" Type="http://schemas.openxmlformats.org/officeDocument/2006/relationships/image" Target="../media/image54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30.png"/><Relationship Id="rId5" Type="http://schemas.openxmlformats.org/officeDocument/2006/relationships/image" Target="../media/image520.png"/><Relationship Id="rId4" Type="http://schemas.openxmlformats.org/officeDocument/2006/relationships/image" Target="../media/image510.png"/><Relationship Id="rId9" Type="http://schemas.openxmlformats.org/officeDocument/2006/relationships/image" Target="../media/image57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0.png"/><Relationship Id="rId3" Type="http://schemas.openxmlformats.org/officeDocument/2006/relationships/image" Target="../media/image24.png"/><Relationship Id="rId7" Type="http://schemas.openxmlformats.org/officeDocument/2006/relationships/image" Target="../media/image54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30.png"/><Relationship Id="rId5" Type="http://schemas.openxmlformats.org/officeDocument/2006/relationships/image" Target="../media/image520.png"/><Relationship Id="rId4" Type="http://schemas.openxmlformats.org/officeDocument/2006/relationships/image" Target="../media/image510.png"/><Relationship Id="rId9" Type="http://schemas.openxmlformats.org/officeDocument/2006/relationships/image" Target="../media/image6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3" Type="http://schemas.openxmlformats.org/officeDocument/2006/relationships/image" Target="../media/image65.png"/><Relationship Id="rId7" Type="http://schemas.openxmlformats.org/officeDocument/2006/relationships/image" Target="../media/image6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Relationship Id="rId9" Type="http://schemas.openxmlformats.org/officeDocument/2006/relationships/image" Target="../media/image6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1.png"/><Relationship Id="rId5" Type="http://schemas.openxmlformats.org/officeDocument/2006/relationships/image" Target="../media/image60.png"/><Relationship Id="rId4" Type="http://schemas.openxmlformats.org/officeDocument/2006/relationships/image" Target="../media/image7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image" Target="../media/image72.png"/><Relationship Id="rId7" Type="http://schemas.openxmlformats.org/officeDocument/2006/relationships/image" Target="../media/image7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Relationship Id="rId9" Type="http://schemas.openxmlformats.org/officeDocument/2006/relationships/image" Target="../media/image6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7.png"/><Relationship Id="rId5" Type="http://schemas.openxmlformats.org/officeDocument/2006/relationships/image" Target="../media/image72.png"/><Relationship Id="rId4" Type="http://schemas.openxmlformats.org/officeDocument/2006/relationships/image" Target="../media/image6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1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image" Target="../media/image82.png"/><Relationship Id="rId7" Type="http://schemas.openxmlformats.org/officeDocument/2006/relationships/image" Target="../media/image8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5.png"/><Relationship Id="rId5" Type="http://schemas.openxmlformats.org/officeDocument/2006/relationships/image" Target="../media/image84.png"/><Relationship Id="rId4" Type="http://schemas.openxmlformats.org/officeDocument/2006/relationships/image" Target="../media/image83.png"/><Relationship Id="rId9" Type="http://schemas.openxmlformats.org/officeDocument/2006/relationships/image" Target="../media/image6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.png"/><Relationship Id="rId5" Type="http://schemas.openxmlformats.org/officeDocument/2006/relationships/image" Target="../media/image82.png"/><Relationship Id="rId4" Type="http://schemas.openxmlformats.org/officeDocument/2006/relationships/image" Target="../media/image6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7" Type="http://schemas.openxmlformats.org/officeDocument/2006/relationships/image" Target="../media/image9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1.png"/><Relationship Id="rId5" Type="http://schemas.openxmlformats.org/officeDocument/2006/relationships/image" Target="../media/image89.png"/><Relationship Id="rId4" Type="http://schemas.openxmlformats.org/officeDocument/2006/relationships/image" Target="../media/image69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image" Target="../media/image93.png"/><Relationship Id="rId7" Type="http://schemas.openxmlformats.org/officeDocument/2006/relationships/image" Target="../media/image9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6.png"/><Relationship Id="rId5" Type="http://schemas.openxmlformats.org/officeDocument/2006/relationships/image" Target="../media/image95.png"/><Relationship Id="rId4" Type="http://schemas.openxmlformats.org/officeDocument/2006/relationships/image" Target="../media/image94.png"/><Relationship Id="rId9" Type="http://schemas.openxmlformats.org/officeDocument/2006/relationships/image" Target="../media/image67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8.png"/><Relationship Id="rId5" Type="http://schemas.openxmlformats.org/officeDocument/2006/relationships/image" Target="../media/image670.png"/><Relationship Id="rId4" Type="http://schemas.openxmlformats.org/officeDocument/2006/relationships/image" Target="../media/image69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69.png"/><Relationship Id="rId7" Type="http://schemas.openxmlformats.org/officeDocument/2006/relationships/image" Target="../media/image92.png"/><Relationship Id="rId12" Type="http://schemas.openxmlformats.org/officeDocument/2006/relationships/image" Target="../media/image99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9.png"/><Relationship Id="rId11" Type="http://schemas.openxmlformats.org/officeDocument/2006/relationships/image" Target="../media/image103.png"/><Relationship Id="rId5" Type="http://schemas.openxmlformats.org/officeDocument/2006/relationships/image" Target="../media/image71.png"/><Relationship Id="rId10" Type="http://schemas.openxmlformats.org/officeDocument/2006/relationships/image" Target="../media/image102.png"/><Relationship Id="rId4" Type="http://schemas.openxmlformats.org/officeDocument/2006/relationships/image" Target="../media/image99.png"/><Relationship Id="rId9" Type="http://schemas.openxmlformats.org/officeDocument/2006/relationships/image" Target="../media/image10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7.png"/><Relationship Id="rId5" Type="http://schemas.openxmlformats.org/officeDocument/2006/relationships/image" Target="../media/image106.png"/><Relationship Id="rId4" Type="http://schemas.openxmlformats.org/officeDocument/2006/relationships/image" Target="../media/image10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8.png"/><Relationship Id="rId5" Type="http://schemas.openxmlformats.org/officeDocument/2006/relationships/image" Target="../media/image106.png"/><Relationship Id="rId4" Type="http://schemas.openxmlformats.org/officeDocument/2006/relationships/image" Target="../media/image10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2.png"/><Relationship Id="rId5" Type="http://schemas.openxmlformats.org/officeDocument/2006/relationships/image" Target="../media/image111.png"/><Relationship Id="rId4" Type="http://schemas.openxmlformats.org/officeDocument/2006/relationships/image" Target="../media/image10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jp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14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0.png"/><Relationship Id="rId3" Type="http://schemas.openxmlformats.org/officeDocument/2006/relationships/image" Target="../media/image24.png"/><Relationship Id="rId7" Type="http://schemas.openxmlformats.org/officeDocument/2006/relationships/image" Target="../media/image54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30.png"/><Relationship Id="rId5" Type="http://schemas.openxmlformats.org/officeDocument/2006/relationships/image" Target="../media/image520.png"/><Relationship Id="rId10" Type="http://schemas.openxmlformats.org/officeDocument/2006/relationships/image" Target="../media/image590.png"/><Relationship Id="rId4" Type="http://schemas.openxmlformats.org/officeDocument/2006/relationships/image" Target="../media/image510.png"/><Relationship Id="rId9" Type="http://schemas.openxmlformats.org/officeDocument/2006/relationships/image" Target="../media/image58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0452A146-20B8-4FD8-A214-319B3897D56E}"/>
              </a:ext>
            </a:extLst>
          </p:cNvPr>
          <p:cNvSpPr txBox="1"/>
          <p:nvPr/>
        </p:nvSpPr>
        <p:spPr>
          <a:xfrm>
            <a:off x="375658" y="246221"/>
            <a:ext cx="83926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Scientific Machine Learning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382D0D78-D0B9-403E-B5AC-66E83F5AC89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7549" y="150224"/>
            <a:ext cx="973866" cy="704544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C72604B1-DFD6-4A0E-BA4B-23A06DBE536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25" r="82409"/>
          <a:stretch/>
        </p:blipFill>
        <p:spPr>
          <a:xfrm>
            <a:off x="992586" y="37675"/>
            <a:ext cx="893400" cy="940311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6B7CEB32-1021-4218-A4D5-F1083BF5322E}"/>
              </a:ext>
            </a:extLst>
          </p:cNvPr>
          <p:cNvSpPr txBox="1"/>
          <p:nvPr/>
        </p:nvSpPr>
        <p:spPr>
          <a:xfrm>
            <a:off x="629265" y="1784198"/>
            <a:ext cx="78166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Lecture 2: On Universal Approximation Theorem</a:t>
            </a:r>
            <a:endParaRPr lang="zh-CN" altLang="en-US" sz="2800" b="1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56BF80A-5EF6-4539-ACB8-DA297CF81EAA}"/>
              </a:ext>
            </a:extLst>
          </p:cNvPr>
          <p:cNvSpPr txBox="1"/>
          <p:nvPr/>
        </p:nvSpPr>
        <p:spPr>
          <a:xfrm>
            <a:off x="629265" y="3137509"/>
            <a:ext cx="78854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孟旭辉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6126DFE-D15F-47B5-9240-27C4587C9024}"/>
              </a:ext>
            </a:extLst>
          </p:cNvPr>
          <p:cNvSpPr txBox="1"/>
          <p:nvPr/>
        </p:nvSpPr>
        <p:spPr>
          <a:xfrm>
            <a:off x="629265" y="3648390"/>
            <a:ext cx="78854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数学与统计学院数学与应用学科交叉创新研究院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9B9D2569-83C5-47AE-B0C1-B755D485CBD5}"/>
              </a:ext>
            </a:extLst>
          </p:cNvPr>
          <p:cNvSpPr txBox="1"/>
          <p:nvPr/>
        </p:nvSpPr>
        <p:spPr>
          <a:xfrm>
            <a:off x="629265" y="4213821"/>
            <a:ext cx="78854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办公室：东</a:t>
            </a:r>
            <a:r>
              <a:rPr lang="en-US" altLang="zh-CN" b="1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32</a:t>
            </a:r>
            <a:r>
              <a:rPr lang="zh-CN" altLang="en-US" b="1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楼</a:t>
            </a:r>
            <a:r>
              <a:rPr lang="en-US" altLang="zh-CN" b="1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111</a:t>
            </a:r>
            <a:r>
              <a:rPr lang="zh-CN" altLang="en-US" b="1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室</a:t>
            </a:r>
            <a:endParaRPr lang="en-US" altLang="zh-CN" b="1" dirty="0">
              <a:solidFill>
                <a:srgbClr val="0000FF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algn="ctr"/>
            <a:endParaRPr lang="en-US" altLang="zh-CN" b="1" dirty="0">
              <a:solidFill>
                <a:srgbClr val="0000FF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algn="ctr"/>
            <a:r>
              <a:rPr lang="en-US" altLang="zh-CN" b="1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Email</a:t>
            </a:r>
            <a:r>
              <a:rPr lang="zh-CN" altLang="en-US" b="1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：</a:t>
            </a:r>
            <a:r>
              <a:rPr lang="en-US" altLang="zh-CN" b="1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xuhui_meng@hust.edu.cn</a:t>
            </a:r>
          </a:p>
        </p:txBody>
      </p:sp>
    </p:spTree>
    <p:extLst>
      <p:ext uri="{BB962C8B-B14F-4D97-AF65-F5344CB8AC3E}">
        <p14:creationId xmlns:p14="http://schemas.microsoft.com/office/powerpoint/2010/main" val="605082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2659"/>
    </mc:Choice>
    <mc:Fallback xmlns="">
      <p:transition spd="slow" advTm="12659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Times New Roman" panose="02020603050405020304" pitchFamily="18" charset="0"/>
              </a:rPr>
              <a:t>Contents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66C4B3CC-4919-4B0C-BEDA-5A309DD3CCAF}"/>
              </a:ext>
            </a:extLst>
          </p:cNvPr>
          <p:cNvSpPr txBox="1"/>
          <p:nvPr/>
        </p:nvSpPr>
        <p:spPr>
          <a:xfrm>
            <a:off x="309716" y="1699894"/>
            <a:ext cx="852456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p"/>
            </a:pPr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 Neural Networks</a:t>
            </a:r>
          </a:p>
          <a:p>
            <a:pPr marL="285750" indent="-285750">
              <a:buFont typeface="Wingdings" panose="05000000000000000000" pitchFamily="2" charset="2"/>
              <a:buChar char="p"/>
            </a:pPr>
            <a:endParaRPr lang="en-US" altLang="zh-C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p"/>
            </a:pPr>
            <a:endParaRPr lang="en-US" altLang="zh-C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p"/>
            </a:pPr>
            <a:endParaRPr lang="en-US" altLang="zh-C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p"/>
            </a:pPr>
            <a:r>
              <a:rPr lang="en-US" altLang="zh-CN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ReLU</a:t>
            </a:r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NN with single hidden layer</a:t>
            </a:r>
          </a:p>
          <a:p>
            <a:pPr marL="285750" indent="-285750">
              <a:buFont typeface="Wingdings" panose="05000000000000000000" pitchFamily="2" charset="2"/>
              <a:buChar char="p"/>
            </a:pPr>
            <a:endParaRPr lang="en-US" altLang="zh-C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p"/>
            </a:pPr>
            <a:endParaRPr lang="en-US" altLang="zh-C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p"/>
            </a:pPr>
            <a:endParaRPr lang="en-US" altLang="zh-C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p"/>
            </a:pPr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 Universal Approximation Theorem</a:t>
            </a:r>
          </a:p>
        </p:txBody>
      </p:sp>
    </p:spTree>
    <p:extLst>
      <p:ext uri="{BB962C8B-B14F-4D97-AF65-F5344CB8AC3E}">
        <p14:creationId xmlns:p14="http://schemas.microsoft.com/office/powerpoint/2010/main" val="2930185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94"/>
    </mc:Choice>
    <mc:Fallback xmlns="">
      <p:transition spd="slow" advTm="4594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Times New Roman" panose="02020603050405020304" pitchFamily="18" charset="0"/>
              </a:rPr>
              <a:t>Contents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66C4B3CC-4919-4B0C-BEDA-5A309DD3CCAF}"/>
              </a:ext>
            </a:extLst>
          </p:cNvPr>
          <p:cNvSpPr txBox="1"/>
          <p:nvPr/>
        </p:nvSpPr>
        <p:spPr>
          <a:xfrm>
            <a:off x="309716" y="1699894"/>
            <a:ext cx="852456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p"/>
            </a:pP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Deep Neural Networks</a:t>
            </a:r>
          </a:p>
          <a:p>
            <a:pPr marL="285750" indent="-285750">
              <a:buFont typeface="Wingdings" panose="05000000000000000000" pitchFamily="2" charset="2"/>
              <a:buChar char="p"/>
            </a:pPr>
            <a:endParaRPr lang="en-US" altLang="zh-C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p"/>
            </a:pPr>
            <a:endParaRPr lang="en-US" altLang="zh-C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p"/>
            </a:pPr>
            <a:endParaRPr lang="en-US" altLang="zh-C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p"/>
            </a:pPr>
            <a:r>
              <a:rPr lang="en-US" altLang="zh-CN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ReLU</a:t>
            </a:r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NN with single hidden layer</a:t>
            </a:r>
          </a:p>
          <a:p>
            <a:pPr marL="285750" indent="-285750">
              <a:buFont typeface="Wingdings" panose="05000000000000000000" pitchFamily="2" charset="2"/>
              <a:buChar char="p"/>
            </a:pPr>
            <a:endParaRPr lang="en-US" altLang="zh-C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p"/>
            </a:pPr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 Universal Approximation Theorem</a:t>
            </a:r>
          </a:p>
        </p:txBody>
      </p:sp>
    </p:spTree>
    <p:extLst>
      <p:ext uri="{BB962C8B-B14F-4D97-AF65-F5344CB8AC3E}">
        <p14:creationId xmlns:p14="http://schemas.microsoft.com/office/powerpoint/2010/main" val="3624464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94"/>
    </mc:Choice>
    <mc:Fallback xmlns="">
      <p:transition spd="slow" advTm="4594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Deep Neural Networks (DNNs): Universal Approximation Theorem</a:t>
            </a:r>
          </a:p>
        </p:txBody>
      </p:sp>
      <p:grpSp>
        <p:nvGrpSpPr>
          <p:cNvPr id="21" name="组合 20"/>
          <p:cNvGrpSpPr/>
          <p:nvPr/>
        </p:nvGrpSpPr>
        <p:grpSpPr>
          <a:xfrm>
            <a:off x="5232400" y="1222772"/>
            <a:ext cx="3474611" cy="2004879"/>
            <a:chOff x="5151229" y="1346753"/>
            <a:chExt cx="3474611" cy="200487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文本框 1"/>
                <p:cNvSpPr txBox="1"/>
                <p:nvPr/>
              </p:nvSpPr>
              <p:spPr>
                <a:xfrm>
                  <a:off x="5151229" y="1346753"/>
                  <a:ext cx="339344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b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" name="文本框 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51229" y="1346753"/>
                  <a:ext cx="3393440" cy="369332"/>
                </a:xfrm>
                <a:prstGeom prst="rect">
                  <a:avLst/>
                </a:prstGeom>
                <a:blipFill>
                  <a:blip r:embed="rId24"/>
                  <a:stretch>
                    <a:fillRect b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文本框 19"/>
                <p:cNvSpPr txBox="1"/>
                <p:nvPr/>
              </p:nvSpPr>
              <p:spPr>
                <a:xfrm>
                  <a:off x="5232400" y="1859364"/>
                  <a:ext cx="3393440" cy="149226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b="0" dirty="0"/>
                </a:p>
                <a:p>
                  <a:endParaRPr lang="en-US" b="0" dirty="0"/>
                </a:p>
                <a:p>
                  <a:pPr algn="ctr"/>
                  <a:r>
                    <a:rPr lang="en-US" dirty="0"/>
                    <a:t>…</a:t>
                  </a:r>
                </a:p>
                <a:p>
                  <a:pPr algn="ctr"/>
                  <a:endParaRPr lang="en-US" dirty="0"/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b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" name="文本框 1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32400" y="1859364"/>
                  <a:ext cx="3393440" cy="1492268"/>
                </a:xfrm>
                <a:prstGeom prst="rect">
                  <a:avLst/>
                </a:prstGeom>
                <a:blipFill>
                  <a:blip r:embed="rId25"/>
                  <a:stretch>
                    <a:fillRect b="-123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2" name="矩形 21"/>
          <p:cNvSpPr/>
          <p:nvPr/>
        </p:nvSpPr>
        <p:spPr>
          <a:xfrm>
            <a:off x="6479905" y="6581001"/>
            <a:ext cx="258436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K. </a:t>
            </a:r>
            <a:r>
              <a:rPr lang="en-US" sz="1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Hornik</a:t>
            </a:r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etc</a:t>
            </a:r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Neural Networks, 1989</a:t>
            </a:r>
          </a:p>
        </p:txBody>
      </p:sp>
      <p:sp>
        <p:nvSpPr>
          <p:cNvPr id="23" name="文本框 22"/>
          <p:cNvSpPr txBox="1"/>
          <p:nvPr/>
        </p:nvSpPr>
        <p:spPr>
          <a:xfrm>
            <a:off x="506801" y="4280373"/>
            <a:ext cx="805647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Standard multilayer feedforward networks are capable of approximating any measurable function to any desired degree of accuracy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Convergence rate increases as the number of hidden units grows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/>
              <p:cNvSpPr txBox="1"/>
              <p:nvPr/>
            </p:nvSpPr>
            <p:spPr>
              <a:xfrm>
                <a:off x="5755640" y="3323302"/>
                <a:ext cx="234696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𝑠𝑖𝑔𝑚𝑜𝑖𝑑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𝑡𝑎𝑛h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文本框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5640" y="3323302"/>
                <a:ext cx="2346960" cy="369332"/>
              </a:xfrm>
              <a:prstGeom prst="rect">
                <a:avLst/>
              </a:prstGeom>
              <a:blipFill>
                <a:blip r:embed="rId2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组合 25">
            <a:extLst>
              <a:ext uri="{FF2B5EF4-FFF2-40B4-BE49-F238E27FC236}">
                <a16:creationId xmlns:a16="http://schemas.microsoft.com/office/drawing/2014/main" id="{7AEA88CC-58A0-4269-8F98-0C7A2E35EF59}"/>
              </a:ext>
            </a:extLst>
          </p:cNvPr>
          <p:cNvGrpSpPr/>
          <p:nvPr/>
        </p:nvGrpSpPr>
        <p:grpSpPr>
          <a:xfrm>
            <a:off x="639445" y="951223"/>
            <a:ext cx="5116231" cy="2717346"/>
            <a:chOff x="506801" y="843508"/>
            <a:chExt cx="5116231" cy="2717346"/>
          </a:xfrm>
        </p:grpSpPr>
        <p:grpSp>
          <p:nvGrpSpPr>
            <p:cNvPr id="27" name="组合 26">
              <a:extLst>
                <a:ext uri="{FF2B5EF4-FFF2-40B4-BE49-F238E27FC236}">
                  <a16:creationId xmlns:a16="http://schemas.microsoft.com/office/drawing/2014/main" id="{51950ABC-DBC1-48C1-B7FA-6533961E3509}"/>
                </a:ext>
              </a:extLst>
            </p:cNvPr>
            <p:cNvGrpSpPr/>
            <p:nvPr/>
          </p:nvGrpSpPr>
          <p:grpSpPr>
            <a:xfrm>
              <a:off x="506801" y="1046480"/>
              <a:ext cx="4725599" cy="2514374"/>
              <a:chOff x="334081" y="1249680"/>
              <a:chExt cx="4725599" cy="2514374"/>
            </a:xfrm>
          </p:grpSpPr>
          <p:grpSp>
            <p:nvGrpSpPr>
              <p:cNvPr id="32" name="组合 31">
                <a:extLst>
                  <a:ext uri="{FF2B5EF4-FFF2-40B4-BE49-F238E27FC236}">
                    <a16:creationId xmlns:a16="http://schemas.microsoft.com/office/drawing/2014/main" id="{58C750DE-62B0-4B86-92B4-B2C6EADDFF54}"/>
                  </a:ext>
                </a:extLst>
              </p:cNvPr>
              <p:cNvGrpSpPr/>
              <p:nvPr/>
            </p:nvGrpSpPr>
            <p:grpSpPr>
              <a:xfrm>
                <a:off x="334081" y="1249680"/>
                <a:ext cx="4725599" cy="2514374"/>
                <a:chOff x="2014680" y="794893"/>
                <a:chExt cx="5143358" cy="2938641"/>
              </a:xfrm>
            </p:grpSpPr>
            <p:pic>
              <p:nvPicPr>
                <p:cNvPr id="41" name="图片 40">
                  <a:extLst>
                    <a:ext uri="{FF2B5EF4-FFF2-40B4-BE49-F238E27FC236}">
                      <a16:creationId xmlns:a16="http://schemas.microsoft.com/office/drawing/2014/main" id="{B7189A4B-46D7-4546-A170-6D613A9B544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7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399296" y="794893"/>
                  <a:ext cx="4493189" cy="2938641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42" name="对象 41">
                      <a:extLst>
                        <a:ext uri="{FF2B5EF4-FFF2-40B4-BE49-F238E27FC236}">
                          <a16:creationId xmlns:a16="http://schemas.microsoft.com/office/drawing/2014/main" id="{60D151A5-8E11-4214-9A4F-D1CCDBE00BF8}"/>
                        </a:ext>
                      </a:extLst>
                    </p:cNvPr>
                    <p:cNvGraphicFramePr>
                      <a:graphicFrameLocks noChangeAspect="1"/>
                    </p:cNvGraphicFramePr>
                    <p:nvPr/>
                  </p:nvGraphicFramePr>
                  <p:xfrm>
                    <a:off x="2014680" y="1882775"/>
                    <a:ext cx="312882" cy="344170"/>
                  </p:xfrm>
                  <a:graphic>
                    <a:graphicData uri="http://schemas.openxmlformats.org/presentationml/2006/ole">
                      <mc:AlternateContent>
                        <mc:Choice xmlns:v="urn:schemas-microsoft-com:vml" Requires="v">
                          <p:oleObj name="Equation" r:id="rId28" imgW="126720" imgH="139680" progId="Equation.DSMT4">
                            <p:embed/>
                          </p:oleObj>
                        </mc:Choice>
                        <mc:Fallback>
                          <p:oleObj name="Equation" r:id="rId28" imgW="126720" imgH="139680" progId="Equation.DSMT4">
                            <p:embed/>
                            <p:pic>
                              <p:nvPicPr>
                                <p:cNvPr id="7" name="对象 6"/>
                                <p:cNvPicPr/>
                                <p:nvPr/>
                              </p:nvPicPr>
                              <p:blipFill>
                                <a:blip r:embed="rId29"/>
                                <a:stretch>
                                  <a:fillRect/>
                                </a:stretch>
                              </p:blipFill>
                              <p:spPr>
                                <a:xfrm>
                                  <a:off x="2014680" y="1882775"/>
                                  <a:ext cx="312882" cy="344170"/>
                                </a:xfrm>
                                <a:prstGeom prst="rect">
                                  <a:avLst/>
                                </a:prstGeom>
                              </p:spPr>
                            </p:pic>
                          </p:oleObj>
                        </mc:Fallback>
                      </mc:AlternateContent>
                    </a:graphicData>
                  </a:graphic>
                </p:graphicFrame>
              </mc:Choice>
              <mc:Fallback xmlns="">
                <p:graphicFrame>
                  <p:nvGraphicFramePr>
                    <p:cNvPr id="7" name="对象 6"/>
                    <p:cNvGraphicFramePr>
                      <a:graphicFrameLocks noChangeAspect="1"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550979354"/>
                        </p:ext>
                      </p:extLst>
                    </p:nvPr>
                  </p:nvGraphicFramePr>
                  <p:xfrm>
                    <a:off x="2014680" y="1882775"/>
                    <a:ext cx="312882" cy="344170"/>
                  </p:xfrm>
                  <a:graphic>
                    <a:graphicData uri="http://schemas.openxmlformats.org/presentationml/2006/ole">
                      <mc:AlternateContent>
                        <mc:Choice xmlns:v="urn:schemas-microsoft-com:vml" Requires="v">
                          <p:oleObj spid="_x0000_s1144" name="Equation" r:id="rId7" imgW="126720" imgH="139680" progId="Equation.DSMT4">
                            <p:embed/>
                          </p:oleObj>
                        </mc:Choice>
                        <mc:Fallback>
                          <p:oleObj name="Equation" r:id="rId7" imgW="126720" imgH="139680" progId="Equation.DSMT4">
                            <p:embed/>
                            <p:pic>
                              <p:nvPicPr>
                                <p:cNvPr id="13" name="对象 12"/>
                                <p:cNvPicPr/>
                                <p:nvPr/>
                              </p:nvPicPr>
                              <p:blipFill>
                                <a:blip r:embed="rId8"/>
                                <a:stretch>
                                  <a:fillRect/>
                                </a:stretch>
                              </p:blipFill>
                              <p:spPr>
                                <a:xfrm>
                                  <a:off x="2014680" y="1882775"/>
                                  <a:ext cx="312882" cy="344170"/>
                                </a:xfrm>
                                <a:prstGeom prst="rect">
                                  <a:avLst/>
                                </a:prstGeom>
                              </p:spPr>
                            </p:pic>
                          </p:oleObj>
                        </mc:Fallback>
                      </mc:AlternateContent>
                    </a:graphicData>
                  </a:graphic>
                </p:graphicFrame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43" name="对象 42">
                      <a:extLst>
                        <a:ext uri="{FF2B5EF4-FFF2-40B4-BE49-F238E27FC236}">
                          <a16:creationId xmlns:a16="http://schemas.microsoft.com/office/drawing/2014/main" id="{03B6E8D3-24D6-4F5E-898B-CAAFBF28E145}"/>
                        </a:ext>
                      </a:extLst>
                    </p:cNvPr>
                    <p:cNvGraphicFramePr>
                      <a:graphicFrameLocks noChangeAspect="1"/>
                    </p:cNvGraphicFramePr>
                    <p:nvPr/>
                  </p:nvGraphicFramePr>
                  <p:xfrm>
                    <a:off x="6813550" y="1852613"/>
                    <a:ext cx="344488" cy="406400"/>
                  </p:xfrm>
                  <a:graphic>
                    <a:graphicData uri="http://schemas.openxmlformats.org/presentationml/2006/ole">
                      <mc:AlternateContent>
                        <mc:Choice xmlns:v="urn:schemas-microsoft-com:vml" Requires="v">
                          <p:oleObj name="Equation" r:id="rId30" imgW="139680" imgH="164880" progId="Equation.DSMT4">
                            <p:embed/>
                          </p:oleObj>
                        </mc:Choice>
                        <mc:Fallback>
                          <p:oleObj name="Equation" r:id="rId30" imgW="139680" imgH="164880" progId="Equation.DSMT4">
                            <p:embed/>
                            <p:pic>
                              <p:nvPicPr>
                                <p:cNvPr id="9" name="对象 8"/>
                                <p:cNvPicPr/>
                                <p:nvPr/>
                              </p:nvPicPr>
                              <p:blipFill>
                                <a:blip r:embed="rId8"/>
                                <a:stretch>
                                  <a:fillRect/>
                                </a:stretch>
                              </p:blipFill>
                              <p:spPr>
                                <a:xfrm>
                                  <a:off x="6813550" y="1852613"/>
                                  <a:ext cx="344488" cy="406400"/>
                                </a:xfrm>
                                <a:prstGeom prst="rect">
                                  <a:avLst/>
                                </a:prstGeom>
                              </p:spPr>
                            </p:pic>
                          </p:oleObj>
                        </mc:Fallback>
                      </mc:AlternateContent>
                    </a:graphicData>
                  </a:graphic>
                </p:graphicFrame>
              </mc:Choice>
              <mc:Fallback xmlns="">
                <p:graphicFrame>
                  <p:nvGraphicFramePr>
                    <p:cNvPr id="9" name="对象 8"/>
                    <p:cNvGraphicFramePr>
                      <a:graphicFrameLocks noChangeAspect="1"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2195750796"/>
                        </p:ext>
                      </p:extLst>
                    </p:nvPr>
                  </p:nvGraphicFramePr>
                  <p:xfrm>
                    <a:off x="6813550" y="1852613"/>
                    <a:ext cx="344488" cy="406400"/>
                  </p:xfrm>
                  <a:graphic>
                    <a:graphicData uri="http://schemas.openxmlformats.org/presentationml/2006/ole">
                      <mc:AlternateContent>
                        <mc:Choice xmlns:v="urn:schemas-microsoft-com:vml" Requires="v">
                          <p:oleObj spid="_x0000_s1145" name="Equation" r:id="rId11" imgW="139680" imgH="164880" progId="Equation.DSMT4">
                            <p:embed/>
                          </p:oleObj>
                        </mc:Choice>
                        <mc:Fallback>
                          <p:oleObj name="Equation" r:id="rId11" imgW="139680" imgH="164880" progId="Equation.DSMT4">
                            <p:embed/>
                            <p:pic>
                              <p:nvPicPr>
                                <p:cNvPr id="14" name="对象 13"/>
                                <p:cNvPicPr/>
                                <p:nvPr/>
                              </p:nvPicPr>
                              <p:blipFill>
                                <a:blip r:embed="rId12"/>
                                <a:stretch>
                                  <a:fillRect/>
                                </a:stretch>
                              </p:blipFill>
                              <p:spPr>
                                <a:xfrm>
                                  <a:off x="6813550" y="1852613"/>
                                  <a:ext cx="344488" cy="406400"/>
                                </a:xfrm>
                                <a:prstGeom prst="rect">
                                  <a:avLst/>
                                </a:prstGeom>
                              </p:spPr>
                            </p:pic>
                          </p:oleObj>
                        </mc:Fallback>
                      </mc:AlternateContent>
                    </a:graphicData>
                  </a:graphic>
                </p:graphicFrame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文本框 32">
                    <a:extLst>
                      <a:ext uri="{FF2B5EF4-FFF2-40B4-BE49-F238E27FC236}">
                        <a16:creationId xmlns:a16="http://schemas.microsoft.com/office/drawing/2014/main" id="{436752C8-EFC7-48AC-9648-7FFFEF3DB006}"/>
                      </a:ext>
                    </a:extLst>
                  </p:cNvPr>
                  <p:cNvSpPr txBox="1"/>
                  <p:nvPr/>
                </p:nvSpPr>
                <p:spPr>
                  <a:xfrm>
                    <a:off x="1778000" y="1249680"/>
                    <a:ext cx="77216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" name="文本框 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78000" y="1249680"/>
                    <a:ext cx="772160" cy="369332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文本框 33">
                    <a:extLst>
                      <a:ext uri="{FF2B5EF4-FFF2-40B4-BE49-F238E27FC236}">
                        <a16:creationId xmlns:a16="http://schemas.microsoft.com/office/drawing/2014/main" id="{A5A382B8-535A-46F2-B823-7394A320D65F}"/>
                      </a:ext>
                    </a:extLst>
                  </p:cNvPr>
                  <p:cNvSpPr txBox="1"/>
                  <p:nvPr/>
                </p:nvSpPr>
                <p:spPr>
                  <a:xfrm>
                    <a:off x="1778000" y="1846319"/>
                    <a:ext cx="77216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0" name="文本框 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78000" y="1846319"/>
                    <a:ext cx="772160" cy="369332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文本框 34">
                    <a:extLst>
                      <a:ext uri="{FF2B5EF4-FFF2-40B4-BE49-F238E27FC236}">
                        <a16:creationId xmlns:a16="http://schemas.microsoft.com/office/drawing/2014/main" id="{BA5FCEFF-7F8C-4018-B85B-438DC9A87445}"/>
                      </a:ext>
                    </a:extLst>
                  </p:cNvPr>
                  <p:cNvSpPr txBox="1"/>
                  <p:nvPr/>
                </p:nvSpPr>
                <p:spPr>
                  <a:xfrm>
                    <a:off x="1757680" y="2435854"/>
                    <a:ext cx="77216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1" name="文本框 1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57680" y="2435854"/>
                    <a:ext cx="772160" cy="369332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文本框 35">
                    <a:extLst>
                      <a:ext uri="{FF2B5EF4-FFF2-40B4-BE49-F238E27FC236}">
                        <a16:creationId xmlns:a16="http://schemas.microsoft.com/office/drawing/2014/main" id="{F71D42CB-D556-4CCE-9E6A-CC96A645194B}"/>
                      </a:ext>
                    </a:extLst>
                  </p:cNvPr>
                  <p:cNvSpPr txBox="1"/>
                  <p:nvPr/>
                </p:nvSpPr>
                <p:spPr>
                  <a:xfrm>
                    <a:off x="1778000" y="3025389"/>
                    <a:ext cx="77216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文本框 1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78000" y="3025389"/>
                    <a:ext cx="772160" cy="369332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文本框 36">
                    <a:extLst>
                      <a:ext uri="{FF2B5EF4-FFF2-40B4-BE49-F238E27FC236}">
                        <a16:creationId xmlns:a16="http://schemas.microsoft.com/office/drawing/2014/main" id="{0CCCA0BC-FA63-427E-A4E5-1396F8EB813B}"/>
                      </a:ext>
                    </a:extLst>
                  </p:cNvPr>
                  <p:cNvSpPr txBox="1"/>
                  <p:nvPr/>
                </p:nvSpPr>
                <p:spPr>
                  <a:xfrm>
                    <a:off x="2909183" y="1283652"/>
                    <a:ext cx="77216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3" name="文本框 1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09183" y="1283652"/>
                    <a:ext cx="772160" cy="369332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文本框 37">
                    <a:extLst>
                      <a:ext uri="{FF2B5EF4-FFF2-40B4-BE49-F238E27FC236}">
                        <a16:creationId xmlns:a16="http://schemas.microsoft.com/office/drawing/2014/main" id="{47C2D9F3-F7CA-46B3-84DE-B92FE5DB4AA0}"/>
                      </a:ext>
                    </a:extLst>
                  </p:cNvPr>
                  <p:cNvSpPr txBox="1"/>
                  <p:nvPr/>
                </p:nvSpPr>
                <p:spPr>
                  <a:xfrm>
                    <a:off x="2909183" y="1837945"/>
                    <a:ext cx="77216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4" name="文本框 1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09183" y="1837945"/>
                    <a:ext cx="772160" cy="369332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文本框 38">
                    <a:extLst>
                      <a:ext uri="{FF2B5EF4-FFF2-40B4-BE49-F238E27FC236}">
                        <a16:creationId xmlns:a16="http://schemas.microsoft.com/office/drawing/2014/main" id="{6AF43F4D-170F-40D8-9FAD-A008A071BDC3}"/>
                      </a:ext>
                    </a:extLst>
                  </p:cNvPr>
                  <p:cNvSpPr txBox="1"/>
                  <p:nvPr/>
                </p:nvSpPr>
                <p:spPr>
                  <a:xfrm>
                    <a:off x="2909183" y="2435854"/>
                    <a:ext cx="77216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5" name="文本框 1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09183" y="2435854"/>
                    <a:ext cx="772160" cy="369332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文本框 39">
                    <a:extLst>
                      <a:ext uri="{FF2B5EF4-FFF2-40B4-BE49-F238E27FC236}">
                        <a16:creationId xmlns:a16="http://schemas.microsoft.com/office/drawing/2014/main" id="{134DD782-64B1-4561-BEE9-DBD0999E2BAB}"/>
                      </a:ext>
                    </a:extLst>
                  </p:cNvPr>
                  <p:cNvSpPr txBox="1"/>
                  <p:nvPr/>
                </p:nvSpPr>
                <p:spPr>
                  <a:xfrm>
                    <a:off x="2909183" y="3033763"/>
                    <a:ext cx="77216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6" name="文本框 1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09183" y="3033763"/>
                    <a:ext cx="772160" cy="369332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文本框 27">
                  <a:extLst>
                    <a:ext uri="{FF2B5EF4-FFF2-40B4-BE49-F238E27FC236}">
                      <a16:creationId xmlns:a16="http://schemas.microsoft.com/office/drawing/2014/main" id="{0698218F-BA3B-4D28-9B91-B372D5B1BC9E}"/>
                    </a:ext>
                  </a:extLst>
                </p:cNvPr>
                <p:cNvSpPr txBox="1"/>
                <p:nvPr/>
              </p:nvSpPr>
              <p:spPr>
                <a:xfrm>
                  <a:off x="1320656" y="943950"/>
                  <a:ext cx="772160" cy="39164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文本框 27">
                  <a:extLst>
                    <a:ext uri="{FF2B5EF4-FFF2-40B4-BE49-F238E27FC236}">
                      <a16:creationId xmlns:a16="http://schemas.microsoft.com/office/drawing/2014/main" id="{0698218F-BA3B-4D28-9B91-B372D5B1BC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20656" y="943950"/>
                  <a:ext cx="772160" cy="391646"/>
                </a:xfrm>
                <a:prstGeom prst="rect">
                  <a:avLst/>
                </a:prstGeom>
                <a:blipFill>
                  <a:blip r:embed="rId31"/>
                  <a:stretch>
                    <a:fillRect b="-781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文本框 28">
                  <a:extLst>
                    <a:ext uri="{FF2B5EF4-FFF2-40B4-BE49-F238E27FC236}">
                      <a16:creationId xmlns:a16="http://schemas.microsoft.com/office/drawing/2014/main" id="{1C724994-080F-465E-A23A-894C4964625A}"/>
                    </a:ext>
                  </a:extLst>
                </p:cNvPr>
                <p:cNvSpPr txBox="1"/>
                <p:nvPr/>
              </p:nvSpPr>
              <p:spPr>
                <a:xfrm>
                  <a:off x="3854063" y="1335596"/>
                  <a:ext cx="772160" cy="39164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文本框 28">
                  <a:extLst>
                    <a:ext uri="{FF2B5EF4-FFF2-40B4-BE49-F238E27FC236}">
                      <a16:creationId xmlns:a16="http://schemas.microsoft.com/office/drawing/2014/main" id="{1C724994-080F-465E-A23A-894C496462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4063" y="1335596"/>
                  <a:ext cx="772160" cy="391646"/>
                </a:xfrm>
                <a:prstGeom prst="rect">
                  <a:avLst/>
                </a:prstGeom>
                <a:blipFill>
                  <a:blip r:embed="rId32"/>
                  <a:stretch>
                    <a:fillRect b="-781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文本框 29">
                  <a:extLst>
                    <a:ext uri="{FF2B5EF4-FFF2-40B4-BE49-F238E27FC236}">
                      <a16:creationId xmlns:a16="http://schemas.microsoft.com/office/drawing/2014/main" id="{C5AC00B9-FA14-4BDF-9697-82F8B9E548AD}"/>
                    </a:ext>
                  </a:extLst>
                </p:cNvPr>
                <p:cNvSpPr txBox="1"/>
                <p:nvPr/>
              </p:nvSpPr>
              <p:spPr>
                <a:xfrm>
                  <a:off x="2538216" y="843508"/>
                  <a:ext cx="772160" cy="39164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0" name="文本框 29">
                  <a:extLst>
                    <a:ext uri="{FF2B5EF4-FFF2-40B4-BE49-F238E27FC236}">
                      <a16:creationId xmlns:a16="http://schemas.microsoft.com/office/drawing/2014/main" id="{C5AC00B9-FA14-4BDF-9697-82F8B9E548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8216" y="843508"/>
                  <a:ext cx="772160" cy="391646"/>
                </a:xfrm>
                <a:prstGeom prst="rect">
                  <a:avLst/>
                </a:prstGeom>
                <a:blipFill>
                  <a:blip r:embed="rId33"/>
                  <a:stretch>
                    <a:fillRect b="-937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405C8210-4574-44C9-9FDD-EAEBFCB020FC}"/>
                </a:ext>
              </a:extLst>
            </p:cNvPr>
            <p:cNvSpPr txBox="1"/>
            <p:nvPr/>
          </p:nvSpPr>
          <p:spPr>
            <a:xfrm>
              <a:off x="4944606" y="1820355"/>
              <a:ext cx="678426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altLang="zh-CN" sz="24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  <a:endParaRPr lang="zh-CN" alt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24609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2"/>
    </mc:Choice>
    <mc:Fallback xmlns="">
      <p:transition spd="slow" advTm="792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Deep Neural Networks (DNNs): Universal Approximation Theorem</a:t>
            </a:r>
          </a:p>
        </p:txBody>
      </p:sp>
      <p:sp>
        <p:nvSpPr>
          <p:cNvPr id="22" name="矩形 21"/>
          <p:cNvSpPr/>
          <p:nvPr/>
        </p:nvSpPr>
        <p:spPr>
          <a:xfrm>
            <a:off x="6665436" y="6581001"/>
            <a:ext cx="247856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Hornik</a:t>
            </a:r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et al, Neural Networks, 1989</a:t>
            </a:r>
          </a:p>
        </p:txBody>
      </p: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72AB21C2-4511-473C-A2F3-BDD1BD2E90D4}"/>
              </a:ext>
            </a:extLst>
          </p:cNvPr>
          <p:cNvGrpSpPr/>
          <p:nvPr/>
        </p:nvGrpSpPr>
        <p:grpSpPr>
          <a:xfrm>
            <a:off x="639445" y="951223"/>
            <a:ext cx="5116231" cy="2717346"/>
            <a:chOff x="506801" y="843508"/>
            <a:chExt cx="5116231" cy="2717346"/>
          </a:xfrm>
        </p:grpSpPr>
        <p:grpSp>
          <p:nvGrpSpPr>
            <p:cNvPr id="4" name="组合 3"/>
            <p:cNvGrpSpPr/>
            <p:nvPr/>
          </p:nvGrpSpPr>
          <p:grpSpPr>
            <a:xfrm>
              <a:off x="506801" y="1046480"/>
              <a:ext cx="4725599" cy="2514374"/>
              <a:chOff x="334081" y="1249680"/>
              <a:chExt cx="4725599" cy="2514374"/>
            </a:xfrm>
          </p:grpSpPr>
          <p:grpSp>
            <p:nvGrpSpPr>
              <p:cNvPr id="5" name="组合 4"/>
              <p:cNvGrpSpPr/>
              <p:nvPr/>
            </p:nvGrpSpPr>
            <p:grpSpPr>
              <a:xfrm>
                <a:off x="334081" y="1249680"/>
                <a:ext cx="4725599" cy="2514374"/>
                <a:chOff x="2014680" y="794893"/>
                <a:chExt cx="5143358" cy="2938641"/>
              </a:xfrm>
            </p:grpSpPr>
            <p:pic>
              <p:nvPicPr>
                <p:cNvPr id="6" name="图片 5"/>
                <p:cNvPicPr>
                  <a:picLocks noChangeAspect="1"/>
                </p:cNvPicPr>
                <p:nvPr/>
              </p:nvPicPr>
              <p:blipFill>
                <a:blip r:embed="rId3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399296" y="794893"/>
                  <a:ext cx="4493189" cy="2938641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7" name="对象 6"/>
                    <p:cNvGraphicFramePr>
                      <a:graphicFrameLocks noChangeAspect="1"/>
                    </p:cNvGraphicFramePr>
                    <p:nvPr/>
                  </p:nvGraphicFramePr>
                  <p:xfrm>
                    <a:off x="2014680" y="1882775"/>
                    <a:ext cx="312882" cy="344170"/>
                  </p:xfrm>
                  <a:graphic>
                    <a:graphicData uri="http://schemas.openxmlformats.org/presentationml/2006/ole">
                      <mc:AlternateContent>
                        <mc:Choice xmlns:v="urn:schemas-microsoft-com:vml" Requires="v">
                          <p:oleObj name="Equation" r:id="rId4" imgW="126720" imgH="139680" progId="Equation.DSMT4">
                            <p:embed/>
                          </p:oleObj>
                        </mc:Choice>
                        <mc:Fallback>
                          <p:oleObj name="Equation" r:id="rId4" imgW="126720" imgH="139680" progId="Equation.DSMT4">
                            <p:embed/>
                            <p:pic>
                              <p:nvPicPr>
                                <p:cNvPr id="7" name="对象 6"/>
                                <p:cNvPicPr/>
                                <p:nvPr/>
                              </p:nvPicPr>
                              <p:blipFill>
                                <a:blip r:embed="rId5"/>
                                <a:stretch>
                                  <a:fillRect/>
                                </a:stretch>
                              </p:blipFill>
                              <p:spPr>
                                <a:xfrm>
                                  <a:off x="2014680" y="1882775"/>
                                  <a:ext cx="312882" cy="344170"/>
                                </a:xfrm>
                                <a:prstGeom prst="rect">
                                  <a:avLst/>
                                </a:prstGeom>
                              </p:spPr>
                            </p:pic>
                          </p:oleObj>
                        </mc:Fallback>
                      </mc:AlternateContent>
                    </a:graphicData>
                  </a:graphic>
                </p:graphicFrame>
              </mc:Choice>
              <mc:Fallback xmlns="">
                <p:graphicFrame>
                  <p:nvGraphicFramePr>
                    <p:cNvPr id="7" name="对象 6"/>
                    <p:cNvGraphicFramePr>
                      <a:graphicFrameLocks noChangeAspect="1"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550979354"/>
                        </p:ext>
                      </p:extLst>
                    </p:nvPr>
                  </p:nvGraphicFramePr>
                  <p:xfrm>
                    <a:off x="2014680" y="1882775"/>
                    <a:ext cx="312882" cy="344170"/>
                  </p:xfrm>
                  <a:graphic>
                    <a:graphicData uri="http://schemas.openxmlformats.org/presentationml/2006/ole">
                      <mc:AlternateContent>
                        <mc:Choice xmlns:v="urn:schemas-microsoft-com:vml" Requires="v">
                          <p:oleObj spid="_x0000_s1144" name="Equation" r:id="rId7" imgW="126720" imgH="139680" progId="Equation.DSMT4">
                            <p:embed/>
                          </p:oleObj>
                        </mc:Choice>
                        <mc:Fallback>
                          <p:oleObj name="Equation" r:id="rId7" imgW="126720" imgH="139680" progId="Equation.DSMT4">
                            <p:embed/>
                            <p:pic>
                              <p:nvPicPr>
                                <p:cNvPr id="13" name="对象 12"/>
                                <p:cNvPicPr/>
                                <p:nvPr/>
                              </p:nvPicPr>
                              <p:blipFill>
                                <a:blip r:embed="rId8"/>
                                <a:stretch>
                                  <a:fillRect/>
                                </a:stretch>
                              </p:blipFill>
                              <p:spPr>
                                <a:xfrm>
                                  <a:off x="2014680" y="1882775"/>
                                  <a:ext cx="312882" cy="344170"/>
                                </a:xfrm>
                                <a:prstGeom prst="rect">
                                  <a:avLst/>
                                </a:prstGeom>
                              </p:spPr>
                            </p:pic>
                          </p:oleObj>
                        </mc:Fallback>
                      </mc:AlternateContent>
                    </a:graphicData>
                  </a:graphic>
                </p:graphicFrame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9" name="对象 8"/>
                    <p:cNvGraphicFramePr>
                      <a:graphicFrameLocks noChangeAspect="1"/>
                    </p:cNvGraphicFramePr>
                    <p:nvPr/>
                  </p:nvGraphicFramePr>
                  <p:xfrm>
                    <a:off x="6813550" y="1852613"/>
                    <a:ext cx="344488" cy="406400"/>
                  </p:xfrm>
                  <a:graphic>
                    <a:graphicData uri="http://schemas.openxmlformats.org/presentationml/2006/ole">
                      <mc:AlternateContent>
                        <mc:Choice xmlns:v="urn:schemas-microsoft-com:vml" Requires="v">
                          <p:oleObj name="Equation" r:id="rId9" imgW="139680" imgH="164880" progId="Equation.DSMT4">
                            <p:embed/>
                          </p:oleObj>
                        </mc:Choice>
                        <mc:Fallback>
                          <p:oleObj name="Equation" r:id="rId9" imgW="139680" imgH="164880" progId="Equation.DSMT4">
                            <p:embed/>
                            <p:pic>
                              <p:nvPicPr>
                                <p:cNvPr id="9" name="对象 8"/>
                                <p:cNvPicPr/>
                                <p:nvPr/>
                              </p:nvPicPr>
                              <p:blipFill>
                                <a:blip r:embed="rId5"/>
                                <a:stretch>
                                  <a:fillRect/>
                                </a:stretch>
                              </p:blipFill>
                              <p:spPr>
                                <a:xfrm>
                                  <a:off x="6813550" y="1852613"/>
                                  <a:ext cx="344488" cy="406400"/>
                                </a:xfrm>
                                <a:prstGeom prst="rect">
                                  <a:avLst/>
                                </a:prstGeom>
                              </p:spPr>
                            </p:pic>
                          </p:oleObj>
                        </mc:Fallback>
                      </mc:AlternateContent>
                    </a:graphicData>
                  </a:graphic>
                </p:graphicFrame>
              </mc:Choice>
              <mc:Fallback xmlns="">
                <p:graphicFrame>
                  <p:nvGraphicFramePr>
                    <p:cNvPr id="9" name="对象 8"/>
                    <p:cNvGraphicFramePr>
                      <a:graphicFrameLocks noChangeAspect="1"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2195750796"/>
                        </p:ext>
                      </p:extLst>
                    </p:nvPr>
                  </p:nvGraphicFramePr>
                  <p:xfrm>
                    <a:off x="6813550" y="1852613"/>
                    <a:ext cx="344488" cy="406400"/>
                  </p:xfrm>
                  <a:graphic>
                    <a:graphicData uri="http://schemas.openxmlformats.org/presentationml/2006/ole">
                      <mc:AlternateContent>
                        <mc:Choice xmlns:v="urn:schemas-microsoft-com:vml" Requires="v">
                          <p:oleObj spid="_x0000_s1145" name="Equation" r:id="rId11" imgW="139680" imgH="164880" progId="Equation.DSMT4">
                            <p:embed/>
                          </p:oleObj>
                        </mc:Choice>
                        <mc:Fallback>
                          <p:oleObj name="Equation" r:id="rId11" imgW="139680" imgH="164880" progId="Equation.DSMT4">
                            <p:embed/>
                            <p:pic>
                              <p:nvPicPr>
                                <p:cNvPr id="14" name="对象 13"/>
                                <p:cNvPicPr/>
                                <p:nvPr/>
                              </p:nvPicPr>
                              <p:blipFill>
                                <a:blip r:embed="rId12"/>
                                <a:stretch>
                                  <a:fillRect/>
                                </a:stretch>
                              </p:blipFill>
                              <p:spPr>
                                <a:xfrm>
                                  <a:off x="6813550" y="1852613"/>
                                  <a:ext cx="344488" cy="406400"/>
                                </a:xfrm>
                                <a:prstGeom prst="rect">
                                  <a:avLst/>
                                </a:prstGeom>
                              </p:spPr>
                            </p:pic>
                          </p:oleObj>
                        </mc:Fallback>
                      </mc:AlternateContent>
                    </a:graphicData>
                  </a:graphic>
                </p:graphicFrame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" name="文本框 2"/>
                  <p:cNvSpPr txBox="1"/>
                  <p:nvPr/>
                </p:nvSpPr>
                <p:spPr>
                  <a:xfrm>
                    <a:off x="1778000" y="1249680"/>
                    <a:ext cx="77216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" name="文本框 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78000" y="1249680"/>
                    <a:ext cx="772160" cy="369332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文本框 9"/>
                  <p:cNvSpPr txBox="1"/>
                  <p:nvPr/>
                </p:nvSpPr>
                <p:spPr>
                  <a:xfrm>
                    <a:off x="1778000" y="1846319"/>
                    <a:ext cx="77216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0" name="文本框 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78000" y="1846319"/>
                    <a:ext cx="772160" cy="369332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文本框 10"/>
                  <p:cNvSpPr txBox="1"/>
                  <p:nvPr/>
                </p:nvSpPr>
                <p:spPr>
                  <a:xfrm>
                    <a:off x="1757680" y="2435854"/>
                    <a:ext cx="77216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1" name="文本框 1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57680" y="2435854"/>
                    <a:ext cx="772160" cy="369332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文本框 11"/>
                  <p:cNvSpPr txBox="1"/>
                  <p:nvPr/>
                </p:nvSpPr>
                <p:spPr>
                  <a:xfrm>
                    <a:off x="1778000" y="3025389"/>
                    <a:ext cx="77216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文本框 1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78000" y="3025389"/>
                    <a:ext cx="772160" cy="369332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文本框 12"/>
                  <p:cNvSpPr txBox="1"/>
                  <p:nvPr/>
                </p:nvSpPr>
                <p:spPr>
                  <a:xfrm>
                    <a:off x="2909183" y="1283652"/>
                    <a:ext cx="77216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3" name="文本框 1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09183" y="1283652"/>
                    <a:ext cx="772160" cy="369332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文本框 13"/>
                  <p:cNvSpPr txBox="1"/>
                  <p:nvPr/>
                </p:nvSpPr>
                <p:spPr>
                  <a:xfrm>
                    <a:off x="2909183" y="1837945"/>
                    <a:ext cx="77216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4" name="文本框 1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09183" y="1837945"/>
                    <a:ext cx="772160" cy="369332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2909183" y="2435854"/>
                    <a:ext cx="77216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5" name="文本框 1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09183" y="2435854"/>
                    <a:ext cx="772160" cy="369332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文本框 15"/>
                  <p:cNvSpPr txBox="1"/>
                  <p:nvPr/>
                </p:nvSpPr>
                <p:spPr>
                  <a:xfrm>
                    <a:off x="2909183" y="3033763"/>
                    <a:ext cx="77216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6" name="文本框 1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09183" y="3033763"/>
                    <a:ext cx="772160" cy="369332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文本框 16"/>
                <p:cNvSpPr txBox="1"/>
                <p:nvPr/>
              </p:nvSpPr>
              <p:spPr>
                <a:xfrm>
                  <a:off x="1320656" y="943950"/>
                  <a:ext cx="772160" cy="39164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文本框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20656" y="943950"/>
                  <a:ext cx="772160" cy="391646"/>
                </a:xfrm>
                <a:prstGeom prst="rect">
                  <a:avLst/>
                </a:prstGeom>
                <a:blipFill>
                  <a:blip r:embed="rId21"/>
                  <a:stretch>
                    <a:fillRect b="-781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文本框 17"/>
                <p:cNvSpPr txBox="1"/>
                <p:nvPr/>
              </p:nvSpPr>
              <p:spPr>
                <a:xfrm>
                  <a:off x="3854063" y="1335596"/>
                  <a:ext cx="772160" cy="39164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文本框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4063" y="1335596"/>
                  <a:ext cx="772160" cy="391646"/>
                </a:xfrm>
                <a:prstGeom prst="rect">
                  <a:avLst/>
                </a:prstGeom>
                <a:blipFill>
                  <a:blip r:embed="rId22"/>
                  <a:stretch>
                    <a:fillRect b="-781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文本框 18"/>
                <p:cNvSpPr txBox="1"/>
                <p:nvPr/>
              </p:nvSpPr>
              <p:spPr>
                <a:xfrm>
                  <a:off x="2538216" y="843508"/>
                  <a:ext cx="772160" cy="39164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文本框 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8216" y="843508"/>
                  <a:ext cx="772160" cy="391646"/>
                </a:xfrm>
                <a:prstGeom prst="rect">
                  <a:avLst/>
                </a:prstGeom>
                <a:blipFill>
                  <a:blip r:embed="rId23"/>
                  <a:stretch>
                    <a:fillRect b="-937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92B310FD-7F4A-4CB2-AE6E-AFAAD35D6ECE}"/>
                </a:ext>
              </a:extLst>
            </p:cNvPr>
            <p:cNvSpPr txBox="1"/>
            <p:nvPr/>
          </p:nvSpPr>
          <p:spPr>
            <a:xfrm>
              <a:off x="4944606" y="1820355"/>
              <a:ext cx="678426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altLang="zh-CN" sz="24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  <a:endParaRPr lang="zh-CN" alt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CB350B54-4082-4671-9FE7-4F4210FDAA3F}"/>
                  </a:ext>
                </a:extLst>
              </p:cNvPr>
              <p:cNvSpPr txBox="1"/>
              <p:nvPr/>
            </p:nvSpPr>
            <p:spPr>
              <a:xfrm>
                <a:off x="1022555" y="3928743"/>
                <a:ext cx="8121445" cy="2608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Input: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p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sub>
                        </m:sSub>
                      </m:sup>
                    </m:sSup>
                  </m:oMath>
                </a14:m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Output of 1</a:t>
                </a:r>
                <a:r>
                  <a:rPr lang="en-US" altLang="zh-CN" baseline="30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</a:t>
                </a: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hidden layer: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altLang="zh-CN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zh-CN" b="0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0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zh-CN" b="0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bSup>
                        <m:r>
                          <a:rPr lang="en-US" altLang="zh-CN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zh-CN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zh-CN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zh-CN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~</m:t>
                    </m:r>
                    <m:sSub>
                      <m:sSubPr>
                        <m:ctrlPr>
                          <a:rPr lang="en-US" altLang="zh-CN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altLang="zh-CN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US" altLang="zh-CN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altLang="zh-CN" dirty="0">
                  <a:solidFill>
                    <a:srgbClr val="0000FF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endParaRPr lang="en-US" altLang="zh-CN" dirty="0"/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Output of 2</a:t>
                </a:r>
                <a:r>
                  <a:rPr lang="en-US" altLang="zh-CN" baseline="30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nd</a:t>
                </a: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hidden layer: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altLang="zh-CN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zh-CN" i="1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i="1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altLang="zh-CN" i="1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bSup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CN" b="0" i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CN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CN" b="0" i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b="0" i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~</m:t>
                    </m:r>
                    <m:sSub>
                      <m:sSubPr>
                        <m:ctrlPr>
                          <a:rPr lang="en-US" altLang="zh-CN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zh-CN" b="0" i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US" altLang="zh-CN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dirty="0">
                    <a:solidFill>
                      <a:srgbClr val="0000FF"/>
                    </a:solidFill>
                  </a:rPr>
                  <a:t> </a:t>
                </a: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endParaRPr lang="en-US" altLang="zh-CN" dirty="0"/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altLang="zh-CN" dirty="0"/>
                  <a:t>…</a:t>
                </a: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endParaRPr lang="en-US" altLang="zh-CN" dirty="0"/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Output of last layer: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altLang="zh-CN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altLang="zh-CN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  <m:sup>
                        <m:r>
                          <a:rPr lang="en-US" altLang="zh-CN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sSub>
                      <m:sSubPr>
                        <m:ctrlPr>
                          <a:rPr lang="en-US" altLang="zh-CN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altLang="zh-CN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CN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CB350B54-4082-4671-9FE7-4F4210FDAA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2555" y="3928743"/>
                <a:ext cx="8121445" cy="2608535"/>
              </a:xfrm>
              <a:prstGeom prst="rect">
                <a:avLst/>
              </a:prstGeom>
              <a:blipFill>
                <a:blip r:embed="rId24"/>
                <a:stretch>
                  <a:fillRect l="-526" t="-935" b="-257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E400EFF1-1C5F-4222-A22E-9165A0BA64C4}"/>
                  </a:ext>
                </a:extLst>
              </p:cNvPr>
              <p:cNvSpPr txBox="1"/>
              <p:nvPr/>
            </p:nvSpPr>
            <p:spPr>
              <a:xfrm>
                <a:off x="5480083" y="1238706"/>
                <a:ext cx="3392876" cy="20422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p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altLang="zh-CN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𝑁𝑁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sup>
                    </m:sSup>
                  </m:oMath>
                </a14:m>
                <a:endParaRPr lang="en-US" altLang="zh-CN" dirty="0"/>
              </a:p>
              <a:p>
                <a:pPr marL="285750" indent="-285750">
                  <a:buFont typeface="Wingdings" panose="05000000000000000000" pitchFamily="2" charset="2"/>
                  <a:buChar char="p"/>
                </a:pPr>
                <a:endParaRPr lang="en-US" altLang="zh-CN" dirty="0"/>
              </a:p>
              <a:p>
                <a:pPr marL="285750" indent="-285750">
                  <a:buFont typeface="Wingdings" panose="05000000000000000000" pitchFamily="2" charset="2"/>
                  <a:buChar char="p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Width: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285750" indent="-285750">
                  <a:buFont typeface="Wingdings" panose="05000000000000000000" pitchFamily="2" charset="2"/>
                  <a:buChar char="p"/>
                </a:pPr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p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Depth: # of hidden layers + 1</a:t>
                </a:r>
              </a:p>
              <a:p>
                <a:pPr marL="285750" indent="-285750">
                  <a:buFont typeface="Wingdings" panose="05000000000000000000" pitchFamily="2" charset="2"/>
                  <a:buChar char="p"/>
                </a:pPr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p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activation function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E400EFF1-1C5F-4222-A22E-9165A0BA64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083" y="1238706"/>
                <a:ext cx="3392876" cy="2042226"/>
              </a:xfrm>
              <a:prstGeom prst="rect">
                <a:avLst/>
              </a:prstGeom>
              <a:blipFill>
                <a:blip r:embed="rId25"/>
                <a:stretch>
                  <a:fillRect l="-1257" b="-38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101440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2"/>
    </mc:Choice>
    <mc:Fallback xmlns="">
      <p:transition spd="slow" advTm="792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DNNs: About activation function</a:t>
            </a: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97A03B15-8C1C-49B1-9FD9-889362B26C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84" y="867322"/>
            <a:ext cx="7307432" cy="5685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9278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2"/>
    </mc:Choice>
    <mc:Fallback xmlns="">
      <p:transition spd="slow" advTm="792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DNNs: About activation functions</a:t>
            </a:r>
          </a:p>
        </p:txBody>
      </p:sp>
      <p:pic>
        <p:nvPicPr>
          <p:cNvPr id="25" name="图片 24">
            <a:extLst>
              <a:ext uri="{FF2B5EF4-FFF2-40B4-BE49-F238E27FC236}">
                <a16:creationId xmlns:a16="http://schemas.microsoft.com/office/drawing/2014/main" id="{DD94F79C-8D3D-408A-9DC1-DA7BF705A3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510" y="825910"/>
            <a:ext cx="8636979" cy="4340082"/>
          </a:xfrm>
          <a:prstGeom prst="rect">
            <a:avLst/>
          </a:prstGeom>
        </p:spPr>
      </p:pic>
      <p:sp>
        <p:nvSpPr>
          <p:cNvPr id="27" name="文本框 26">
            <a:extLst>
              <a:ext uri="{FF2B5EF4-FFF2-40B4-BE49-F238E27FC236}">
                <a16:creationId xmlns:a16="http://schemas.microsoft.com/office/drawing/2014/main" id="{04A426E8-F1AA-45F9-B47C-9A9375D361C4}"/>
              </a:ext>
            </a:extLst>
          </p:cNvPr>
          <p:cNvSpPr txBox="1"/>
          <p:nvPr/>
        </p:nvSpPr>
        <p:spPr>
          <a:xfrm>
            <a:off x="442452" y="5165992"/>
            <a:ext cx="825909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Remarks:</a:t>
            </a:r>
          </a:p>
          <a:p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 choice: tanh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very deep NNs, try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ReLU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-type activation function first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090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2"/>
    </mc:Choice>
    <mc:Fallback xmlns="">
      <p:transition spd="slow" advTm="792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DNNs: Optimization</a:t>
            </a:r>
          </a:p>
        </p:txBody>
      </p:sp>
      <p:grpSp>
        <p:nvGrpSpPr>
          <p:cNvPr id="4" name="组合 3"/>
          <p:cNvGrpSpPr/>
          <p:nvPr/>
        </p:nvGrpSpPr>
        <p:grpSpPr>
          <a:xfrm>
            <a:off x="506801" y="1046480"/>
            <a:ext cx="4725599" cy="2514374"/>
            <a:chOff x="334081" y="1249680"/>
            <a:chExt cx="4725599" cy="2514374"/>
          </a:xfrm>
        </p:grpSpPr>
        <p:grpSp>
          <p:nvGrpSpPr>
            <p:cNvPr id="5" name="组合 4"/>
            <p:cNvGrpSpPr/>
            <p:nvPr/>
          </p:nvGrpSpPr>
          <p:grpSpPr>
            <a:xfrm>
              <a:off x="334081" y="1249680"/>
              <a:ext cx="4725599" cy="2514374"/>
              <a:chOff x="2014680" y="794893"/>
              <a:chExt cx="5143358" cy="2938641"/>
            </a:xfrm>
          </p:grpSpPr>
          <p:pic>
            <p:nvPicPr>
              <p:cNvPr id="6" name="图片 5"/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399296" y="794893"/>
                <a:ext cx="4493189" cy="2938641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graphicFrame>
                <p:nvGraphicFramePr>
                  <p:cNvPr id="7" name="对象 6"/>
                  <p:cNvGraphicFramePr>
                    <a:graphicFrameLocks noChangeAspect="1"/>
                  </p:cNvGraphicFramePr>
                  <p:nvPr/>
                </p:nvGraphicFramePr>
                <p:xfrm>
                  <a:off x="2014680" y="1882775"/>
                  <a:ext cx="312882" cy="344170"/>
                </p:xfrm>
                <a:graphic>
                  <a:graphicData uri="http://schemas.openxmlformats.org/presentationml/2006/ole">
                    <mc:AlternateContent>
                      <mc:Choice xmlns:v="urn:schemas-microsoft-com:vml" Requires="v">
                        <p:oleObj name="Equation" r:id="rId4" imgW="126720" imgH="139680" progId="Equation.DSMT4">
                          <p:embed/>
                        </p:oleObj>
                      </mc:Choice>
                      <mc:Fallback>
                        <p:oleObj name="Equation" r:id="rId4" imgW="126720" imgH="139680" progId="Equation.DSMT4">
                          <p:embed/>
                          <p:pic>
                            <p:nvPicPr>
                              <p:cNvPr id="7" name="对象 6"/>
                              <p:cNvPicPr/>
                              <p:nvPr/>
                            </p:nvPicPr>
                            <p:blipFill>
                              <a:blip r:embed="rId5"/>
                              <a:stretch>
                                <a:fillRect/>
                              </a:stretch>
                            </p:blipFill>
                            <p:spPr>
                              <a:xfrm>
                                <a:off x="2014680" y="1882775"/>
                                <a:ext cx="312882" cy="344170"/>
                              </a:xfrm>
                              <a:prstGeom prst="rect">
                                <a:avLst/>
                              </a:prstGeom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</mc:Choice>
            <mc:Fallback xmlns="">
              <p:graphicFrame>
                <p:nvGraphicFramePr>
                  <p:cNvPr id="7" name="对象 6"/>
                  <p:cNvGraphicFramePr>
                    <a:graphicFrameLocks noChangeAspect="1"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550979354"/>
                      </p:ext>
                    </p:extLst>
                  </p:nvPr>
                </p:nvGraphicFramePr>
                <p:xfrm>
                  <a:off x="2014680" y="1882775"/>
                  <a:ext cx="312882" cy="344170"/>
                </p:xfrm>
                <a:graphic>
                  <a:graphicData uri="http://schemas.openxmlformats.org/presentationml/2006/ole">
                    <mc:AlternateContent>
                      <mc:Choice xmlns:v="urn:schemas-microsoft-com:vml" Requires="v">
                        <p:oleObj spid="_x0000_s1144" name="Equation" r:id="rId7" imgW="126720" imgH="139680" progId="Equation.DSMT4">
                          <p:embed/>
                        </p:oleObj>
                      </mc:Choice>
                      <mc:Fallback>
                        <p:oleObj name="Equation" r:id="rId7" imgW="126720" imgH="139680" progId="Equation.DSMT4">
                          <p:embed/>
                          <p:pic>
                            <p:nvPicPr>
                              <p:cNvPr id="13" name="对象 12"/>
                              <p:cNvPicPr/>
                              <p:nvPr/>
                            </p:nvPicPr>
                            <p:blipFill>
                              <a:blip r:embed="rId8"/>
                              <a:stretch>
                                <a:fillRect/>
                              </a:stretch>
                            </p:blipFill>
                            <p:spPr>
                              <a:xfrm>
                                <a:off x="2014680" y="1882775"/>
                                <a:ext cx="312882" cy="344170"/>
                              </a:xfrm>
                              <a:prstGeom prst="rect">
                                <a:avLst/>
                              </a:prstGeom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graphicFrame>
                <p:nvGraphicFramePr>
                  <p:cNvPr id="9" name="对象 8"/>
                  <p:cNvGraphicFramePr>
                    <a:graphicFrameLocks noChangeAspect="1"/>
                  </p:cNvGraphicFramePr>
                  <p:nvPr/>
                </p:nvGraphicFramePr>
                <p:xfrm>
                  <a:off x="6813550" y="1852613"/>
                  <a:ext cx="344488" cy="406400"/>
                </p:xfrm>
                <a:graphic>
                  <a:graphicData uri="http://schemas.openxmlformats.org/presentationml/2006/ole">
                    <mc:AlternateContent>
                      <mc:Choice xmlns:v="urn:schemas-microsoft-com:vml" Requires="v">
                        <p:oleObj name="Equation" r:id="rId9" imgW="139680" imgH="164880" progId="Equation.DSMT4">
                          <p:embed/>
                        </p:oleObj>
                      </mc:Choice>
                      <mc:Fallback>
                        <p:oleObj name="Equation" r:id="rId9" imgW="139680" imgH="164880" progId="Equation.DSMT4">
                          <p:embed/>
                          <p:pic>
                            <p:nvPicPr>
                              <p:cNvPr id="9" name="对象 8"/>
                              <p:cNvPicPr/>
                              <p:nvPr/>
                            </p:nvPicPr>
                            <p:blipFill>
                              <a:blip r:embed="rId5"/>
                              <a:stretch>
                                <a:fillRect/>
                              </a:stretch>
                            </p:blipFill>
                            <p:spPr>
                              <a:xfrm>
                                <a:off x="6813550" y="1852613"/>
                                <a:ext cx="344488" cy="406400"/>
                              </a:xfrm>
                              <a:prstGeom prst="rect">
                                <a:avLst/>
                              </a:prstGeom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</mc:Choice>
            <mc:Fallback xmlns="">
              <p:graphicFrame>
                <p:nvGraphicFramePr>
                  <p:cNvPr id="9" name="对象 8"/>
                  <p:cNvGraphicFramePr>
                    <a:graphicFrameLocks noChangeAspect="1"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2195750796"/>
                      </p:ext>
                    </p:extLst>
                  </p:nvPr>
                </p:nvGraphicFramePr>
                <p:xfrm>
                  <a:off x="6813550" y="1852613"/>
                  <a:ext cx="344488" cy="406400"/>
                </p:xfrm>
                <a:graphic>
                  <a:graphicData uri="http://schemas.openxmlformats.org/presentationml/2006/ole">
                    <mc:AlternateContent>
                      <mc:Choice xmlns:v="urn:schemas-microsoft-com:vml" Requires="v">
                        <p:oleObj spid="_x0000_s1145" name="Equation" r:id="rId11" imgW="139680" imgH="164880" progId="Equation.DSMT4">
                          <p:embed/>
                        </p:oleObj>
                      </mc:Choice>
                      <mc:Fallback>
                        <p:oleObj name="Equation" r:id="rId11" imgW="139680" imgH="164880" progId="Equation.DSMT4">
                          <p:embed/>
                          <p:pic>
                            <p:nvPicPr>
                              <p:cNvPr id="14" name="对象 13"/>
                              <p:cNvPicPr/>
                              <p:nvPr/>
                            </p:nvPicPr>
                            <p:blipFill>
                              <a:blip r:embed="rId12"/>
                              <a:stretch>
                                <a:fillRect/>
                              </a:stretch>
                            </p:blipFill>
                            <p:spPr>
                              <a:xfrm>
                                <a:off x="6813550" y="1852613"/>
                                <a:ext cx="344488" cy="406400"/>
                              </a:xfrm>
                              <a:prstGeom prst="rect">
                                <a:avLst/>
                              </a:prstGeom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文本框 2"/>
                <p:cNvSpPr txBox="1"/>
                <p:nvPr/>
              </p:nvSpPr>
              <p:spPr>
                <a:xfrm>
                  <a:off x="1778000" y="1249680"/>
                  <a:ext cx="77216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文本框 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78000" y="1249680"/>
                  <a:ext cx="77216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文本框 9"/>
                <p:cNvSpPr txBox="1"/>
                <p:nvPr/>
              </p:nvSpPr>
              <p:spPr>
                <a:xfrm>
                  <a:off x="1778000" y="1846319"/>
                  <a:ext cx="77216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文本框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78000" y="1846319"/>
                  <a:ext cx="772160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文本框 10"/>
                <p:cNvSpPr txBox="1"/>
                <p:nvPr/>
              </p:nvSpPr>
              <p:spPr>
                <a:xfrm>
                  <a:off x="1757680" y="2435854"/>
                  <a:ext cx="77216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文本框 1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7680" y="2435854"/>
                  <a:ext cx="772160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文本框 11"/>
                <p:cNvSpPr txBox="1"/>
                <p:nvPr/>
              </p:nvSpPr>
              <p:spPr>
                <a:xfrm>
                  <a:off x="1778000" y="3025389"/>
                  <a:ext cx="77216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文本框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78000" y="3025389"/>
                  <a:ext cx="772160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本框 12"/>
                <p:cNvSpPr txBox="1"/>
                <p:nvPr/>
              </p:nvSpPr>
              <p:spPr>
                <a:xfrm>
                  <a:off x="2909183" y="1283652"/>
                  <a:ext cx="77216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" name="文本框 1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09183" y="1283652"/>
                  <a:ext cx="772160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文本框 13"/>
                <p:cNvSpPr txBox="1"/>
                <p:nvPr/>
              </p:nvSpPr>
              <p:spPr>
                <a:xfrm>
                  <a:off x="2909183" y="1837945"/>
                  <a:ext cx="77216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文本框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09183" y="1837945"/>
                  <a:ext cx="772160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本框 14"/>
                <p:cNvSpPr txBox="1"/>
                <p:nvPr/>
              </p:nvSpPr>
              <p:spPr>
                <a:xfrm>
                  <a:off x="2909183" y="2435854"/>
                  <a:ext cx="77216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文本框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09183" y="2435854"/>
                  <a:ext cx="772160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文本框 15"/>
                <p:cNvSpPr txBox="1"/>
                <p:nvPr/>
              </p:nvSpPr>
              <p:spPr>
                <a:xfrm>
                  <a:off x="2909183" y="3033763"/>
                  <a:ext cx="77216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" name="文本框 1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09183" y="3033763"/>
                  <a:ext cx="772160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本框 16"/>
              <p:cNvSpPr txBox="1"/>
              <p:nvPr/>
            </p:nvSpPr>
            <p:spPr>
              <a:xfrm>
                <a:off x="1320656" y="943950"/>
                <a:ext cx="772160" cy="3916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文本框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0656" y="943950"/>
                <a:ext cx="772160" cy="391646"/>
              </a:xfrm>
              <a:prstGeom prst="rect">
                <a:avLst/>
              </a:prstGeom>
              <a:blipFill>
                <a:blip r:embed="rId21"/>
                <a:stretch>
                  <a:fillRect b="-78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/>
              <p:cNvSpPr txBox="1"/>
              <p:nvPr/>
            </p:nvSpPr>
            <p:spPr>
              <a:xfrm>
                <a:off x="3854063" y="1335596"/>
                <a:ext cx="772160" cy="3916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文本框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4063" y="1335596"/>
                <a:ext cx="772160" cy="391646"/>
              </a:xfrm>
              <a:prstGeom prst="rect">
                <a:avLst/>
              </a:prstGeom>
              <a:blipFill>
                <a:blip r:embed="rId22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本框 18"/>
              <p:cNvSpPr txBox="1"/>
              <p:nvPr/>
            </p:nvSpPr>
            <p:spPr>
              <a:xfrm>
                <a:off x="2538216" y="843508"/>
                <a:ext cx="772160" cy="3916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" name="文本框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8216" y="843508"/>
                <a:ext cx="772160" cy="391646"/>
              </a:xfrm>
              <a:prstGeom prst="rect">
                <a:avLst/>
              </a:prstGeom>
              <a:blipFill>
                <a:blip r:embed="rId23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组合 20"/>
          <p:cNvGrpSpPr/>
          <p:nvPr/>
        </p:nvGrpSpPr>
        <p:grpSpPr>
          <a:xfrm>
            <a:off x="5232400" y="1222772"/>
            <a:ext cx="3416215" cy="1992233"/>
            <a:chOff x="5151229" y="1346753"/>
            <a:chExt cx="3416215" cy="199223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文本框 1"/>
                <p:cNvSpPr txBox="1"/>
                <p:nvPr/>
              </p:nvSpPr>
              <p:spPr>
                <a:xfrm>
                  <a:off x="5151229" y="1346753"/>
                  <a:ext cx="339344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b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" name="文本框 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51229" y="1346753"/>
                  <a:ext cx="3393440" cy="369332"/>
                </a:xfrm>
                <a:prstGeom prst="rect">
                  <a:avLst/>
                </a:prstGeom>
                <a:blipFill>
                  <a:blip r:embed="rId24"/>
                  <a:stretch>
                    <a:fillRect b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文本框 19"/>
                <p:cNvSpPr txBox="1"/>
                <p:nvPr/>
              </p:nvSpPr>
              <p:spPr>
                <a:xfrm>
                  <a:off x="5174004" y="1846718"/>
                  <a:ext cx="3393440" cy="149226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b="0" dirty="0"/>
                </a:p>
                <a:p>
                  <a:endParaRPr lang="en-US" b="0" dirty="0"/>
                </a:p>
                <a:p>
                  <a:pPr algn="ctr"/>
                  <a:r>
                    <a:rPr lang="en-US" dirty="0"/>
                    <a:t>…</a:t>
                  </a:r>
                </a:p>
                <a:p>
                  <a:pPr algn="ctr"/>
                  <a:endParaRPr lang="en-US" dirty="0"/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b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" name="文本框 1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74004" y="1846718"/>
                  <a:ext cx="3393440" cy="1492268"/>
                </a:xfrm>
                <a:prstGeom prst="rect">
                  <a:avLst/>
                </a:prstGeom>
                <a:blipFill>
                  <a:blip r:embed="rId25"/>
                  <a:stretch>
                    <a:fillRect b="-123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2" name="矩形 21"/>
          <p:cNvSpPr/>
          <p:nvPr/>
        </p:nvSpPr>
        <p:spPr>
          <a:xfrm>
            <a:off x="6665436" y="6581001"/>
            <a:ext cx="247856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Hornik</a:t>
            </a:r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et al, Neural Networks, 1989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/>
              <p:cNvSpPr txBox="1"/>
              <p:nvPr/>
            </p:nvSpPr>
            <p:spPr>
              <a:xfrm>
                <a:off x="5755640" y="3323302"/>
                <a:ext cx="234696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𝑠𝑖𝑔𝑚𝑜𝑖𝑑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𝑡𝑎𝑛h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文本框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5640" y="3323302"/>
                <a:ext cx="2346960" cy="369332"/>
              </a:xfrm>
              <a:prstGeom prst="rect">
                <a:avLst/>
              </a:prstGeom>
              <a:blipFill>
                <a:blip r:embed="rId2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文本框 25">
            <a:extLst>
              <a:ext uri="{FF2B5EF4-FFF2-40B4-BE49-F238E27FC236}">
                <a16:creationId xmlns:a16="http://schemas.microsoft.com/office/drawing/2014/main" id="{92B310FD-7F4A-4CB2-AE6E-AFAAD35D6ECE}"/>
              </a:ext>
            </a:extLst>
          </p:cNvPr>
          <p:cNvSpPr txBox="1"/>
          <p:nvPr/>
        </p:nvSpPr>
        <p:spPr>
          <a:xfrm>
            <a:off x="4944606" y="1820355"/>
            <a:ext cx="678426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24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DEBCBCE-9884-4845-B641-D7050158A3D8}"/>
              </a:ext>
            </a:extLst>
          </p:cNvPr>
          <p:cNvSpPr txBox="1"/>
          <p:nvPr/>
        </p:nvSpPr>
        <p:spPr>
          <a:xfrm>
            <a:off x="481073" y="3788960"/>
            <a:ext cx="805647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Standard multilayer feedforward networks are capable of approximating any measurable function to any desired degree of accuracy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Convergence rate increases as the number of hidden units grows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BE71C554-E56C-4B0C-944A-94D552CEC248}"/>
                  </a:ext>
                </a:extLst>
              </p:cNvPr>
              <p:cNvSpPr txBox="1"/>
              <p:nvPr/>
            </p:nvSpPr>
            <p:spPr>
              <a:xfrm>
                <a:off x="794270" y="5304601"/>
                <a:ext cx="8056476" cy="11200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0000FF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Loss function: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2000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limLow>
                          <m:limLowPr>
                            <m:ctrlPr>
                              <a:rPr lang="en-US" sz="2000" b="0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000" b="0" i="0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r>
                              <a:rPr lang="en-US" sz="2000" b="0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lim>
                        </m:limLow>
                        <m:r>
                          <a:rPr lang="en-US" sz="20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sz="2000" b="0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000" b="0" i="1" smtClean="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000" b="0" i="1" smtClean="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p>
                                <m:r>
                                  <a:rPr lang="en-US" sz="2000" b="0" i="1" smtClean="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p>
                            <m:r>
                              <a:rPr lang="en-US" sz="2000" b="0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b="0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</m:e>
                      <m:sup>
                        <m:r>
                          <a:rPr lang="en-US" sz="20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b="0" i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𝜆</m:t>
                    </m:r>
                    <m:sSup>
                      <m:sSupPr>
                        <m:ctrlPr>
                          <a:rPr lang="en-US" sz="20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2000" b="0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</m:e>
                      <m:sup>
                        <m:r>
                          <a:rPr lang="en-US" sz="2000" b="0" i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b="0" i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>
                  <a:solidFill>
                    <a:srgbClr val="0000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sz="2000" dirty="0">
                  <a:solidFill>
                    <a:srgbClr val="0000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sz="2000" dirty="0">
                    <a:solidFill>
                      <a:srgbClr val="0000FF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Optimization: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𝛻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sz="2000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2000" dirty="0">
                    <a:solidFill>
                      <a:srgbClr val="0000FF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(stochastic gradient decent)</a:t>
                </a:r>
                <a:endPara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BE71C554-E56C-4B0C-944A-94D552CEC2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270" y="5304601"/>
                <a:ext cx="8056476" cy="1120050"/>
              </a:xfrm>
              <a:prstGeom prst="rect">
                <a:avLst/>
              </a:prstGeom>
              <a:blipFill>
                <a:blip r:embed="rId27"/>
                <a:stretch>
                  <a:fillRect l="-756" t="-2174" b="-815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79794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2"/>
    </mc:Choice>
    <mc:Fallback xmlns="">
      <p:transition spd="slow" advTm="792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NN for regression problems</a:t>
            </a:r>
          </a:p>
        </p:txBody>
      </p:sp>
      <p:pic>
        <p:nvPicPr>
          <p:cNvPr id="25" name="图片 24">
            <a:extLst>
              <a:ext uri="{FF2B5EF4-FFF2-40B4-BE49-F238E27FC236}">
                <a16:creationId xmlns:a16="http://schemas.microsoft.com/office/drawing/2014/main" id="{974370CF-A457-4D03-AB92-42052E4EA6F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34"/>
          <a:stretch/>
        </p:blipFill>
        <p:spPr>
          <a:xfrm>
            <a:off x="946354" y="824963"/>
            <a:ext cx="7251291" cy="4156991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1F337ED8-5DEE-4F19-9EFB-68592128D4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636" y="4913129"/>
            <a:ext cx="7800989" cy="1643631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8C088A2A-00A2-47E2-8E3E-1EC577F8B1D9}"/>
              </a:ext>
            </a:extLst>
          </p:cNvPr>
          <p:cNvSpPr txBox="1"/>
          <p:nvPr/>
        </p:nvSpPr>
        <p:spPr>
          <a:xfrm>
            <a:off x="3559278" y="2718793"/>
            <a:ext cx="25465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Adam</a:t>
            </a:r>
            <a:endParaRPr lang="zh-CN" altLang="en-US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8440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2"/>
    </mc:Choice>
    <mc:Fallback xmlns="">
      <p:transition spd="slow" advTm="792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Times New Roman" panose="02020603050405020304" pitchFamily="18" charset="0"/>
              </a:rPr>
              <a:t>Contents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66C4B3CC-4919-4B0C-BEDA-5A309DD3CCAF}"/>
              </a:ext>
            </a:extLst>
          </p:cNvPr>
          <p:cNvSpPr txBox="1"/>
          <p:nvPr/>
        </p:nvSpPr>
        <p:spPr>
          <a:xfrm>
            <a:off x="309716" y="1699894"/>
            <a:ext cx="852456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p"/>
            </a:pPr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 Neural Networks</a:t>
            </a:r>
          </a:p>
          <a:p>
            <a:pPr marL="285750" indent="-285750">
              <a:buFont typeface="Wingdings" panose="05000000000000000000" pitchFamily="2" charset="2"/>
              <a:buChar char="p"/>
            </a:pPr>
            <a:endParaRPr lang="en-US" altLang="zh-C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p"/>
            </a:pPr>
            <a:endParaRPr lang="en-US" altLang="zh-C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p"/>
            </a:pPr>
            <a:endParaRPr lang="en-US" altLang="zh-C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p"/>
            </a:pPr>
            <a:r>
              <a:rPr lang="en-US" altLang="zh-CN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ReLU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NN with single hidden layer</a:t>
            </a:r>
          </a:p>
          <a:p>
            <a:pPr marL="285750" indent="-285750">
              <a:buFont typeface="Wingdings" panose="05000000000000000000" pitchFamily="2" charset="2"/>
              <a:buChar char="p"/>
            </a:pPr>
            <a:endParaRPr lang="en-US" altLang="zh-C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p"/>
            </a:pPr>
            <a:endParaRPr lang="en-US" altLang="zh-C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p"/>
            </a:pPr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 Universal Approximation Theorem</a:t>
            </a:r>
          </a:p>
        </p:txBody>
      </p:sp>
    </p:spTree>
    <p:extLst>
      <p:ext uri="{BB962C8B-B14F-4D97-AF65-F5344CB8AC3E}">
        <p14:creationId xmlns:p14="http://schemas.microsoft.com/office/powerpoint/2010/main" val="1861870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94"/>
    </mc:Choice>
    <mc:Fallback xmlns="">
      <p:transition spd="slow" advTm="4594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 err="1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ReLU</a:t>
            </a:r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 NN with a single hidden layer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9CCEB176-2AB3-4775-8FD8-162A3C281E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221" y="1382038"/>
            <a:ext cx="3010320" cy="211484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4F7F2721-8C79-466E-B420-24D804FE874F}"/>
                  </a:ext>
                </a:extLst>
              </p:cNvPr>
              <p:cNvSpPr txBox="1"/>
              <p:nvPr/>
            </p:nvSpPr>
            <p:spPr>
              <a:xfrm>
                <a:off x="619433" y="1625841"/>
                <a:ext cx="1995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4F7F2721-8C79-466E-B420-24D804FE87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433" y="1625841"/>
                <a:ext cx="1995948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657A3B87-7622-4E37-9619-7D70438908B1}"/>
                  </a:ext>
                </a:extLst>
              </p:cNvPr>
              <p:cNvSpPr txBox="1"/>
              <p:nvPr/>
            </p:nvSpPr>
            <p:spPr>
              <a:xfrm>
                <a:off x="619433" y="2727856"/>
                <a:ext cx="1995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657A3B87-7622-4E37-9619-7D7043890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433" y="2727856"/>
                <a:ext cx="199594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8F37554-AD8F-4103-9235-EE1FF294C293}"/>
                  </a:ext>
                </a:extLst>
              </p:cNvPr>
              <p:cNvSpPr txBox="1"/>
              <p:nvPr/>
            </p:nvSpPr>
            <p:spPr>
              <a:xfrm>
                <a:off x="2143022" y="1004948"/>
                <a:ext cx="28902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𝑅𝑒𝐿𝑈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8F37554-AD8F-4103-9235-EE1FF294C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3022" y="1004948"/>
                <a:ext cx="2890271" cy="369332"/>
              </a:xfrm>
              <a:prstGeom prst="rect">
                <a:avLst/>
              </a:prstGeom>
              <a:blipFill>
                <a:blip r:embed="rId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596BB49D-85FB-4E3E-B0E8-BE1C2783EBC9}"/>
                  </a:ext>
                </a:extLst>
              </p:cNvPr>
              <p:cNvSpPr txBox="1"/>
              <p:nvPr/>
            </p:nvSpPr>
            <p:spPr>
              <a:xfrm>
                <a:off x="2143022" y="3504641"/>
                <a:ext cx="28902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𝑅𝑒𝐿𝑈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596BB49D-85FB-4E3E-B0E8-BE1C2783EB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3022" y="3504641"/>
                <a:ext cx="2890271" cy="369332"/>
              </a:xfrm>
              <a:prstGeom prst="rect">
                <a:avLst/>
              </a:prstGeom>
              <a:blipFill>
                <a:blip r:embed="rId7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4538FF45-D125-4B68-83F2-BB1F0338AA0E}"/>
                  </a:ext>
                </a:extLst>
              </p:cNvPr>
              <p:cNvSpPr txBox="1"/>
              <p:nvPr/>
            </p:nvSpPr>
            <p:spPr>
              <a:xfrm>
                <a:off x="2547991" y="1692486"/>
                <a:ext cx="1995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4538FF45-D125-4B68-83F2-BB1F0338AA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7991" y="1692486"/>
                <a:ext cx="1995948" cy="369332"/>
              </a:xfrm>
              <a:prstGeom prst="rect">
                <a:avLst/>
              </a:prstGeom>
              <a:blipFill>
                <a:blip r:embed="rId8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9995F59C-CE4D-4496-92EF-865866DEB25C}"/>
                  </a:ext>
                </a:extLst>
              </p:cNvPr>
              <p:cNvSpPr txBox="1"/>
              <p:nvPr/>
            </p:nvSpPr>
            <p:spPr>
              <a:xfrm>
                <a:off x="2547991" y="2794501"/>
                <a:ext cx="1995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9995F59C-CE4D-4496-92EF-865866DEB2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7991" y="2794501"/>
                <a:ext cx="1995948" cy="369332"/>
              </a:xfrm>
              <a:prstGeom prst="rect">
                <a:avLst/>
              </a:prstGeom>
              <a:blipFill>
                <a:blip r:embed="rId9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08AF2811-DC4E-468F-A6B6-91BC46461B92}"/>
                  </a:ext>
                </a:extLst>
              </p:cNvPr>
              <p:cNvSpPr txBox="1"/>
              <p:nvPr/>
            </p:nvSpPr>
            <p:spPr>
              <a:xfrm>
                <a:off x="4181167" y="2052535"/>
                <a:ext cx="4403416" cy="7645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21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22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nary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08AF2811-DC4E-468F-A6B6-91BC46461B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1167" y="2052535"/>
                <a:ext cx="4403416" cy="76456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组合 5">
            <a:extLst>
              <a:ext uri="{FF2B5EF4-FFF2-40B4-BE49-F238E27FC236}">
                <a16:creationId xmlns:a16="http://schemas.microsoft.com/office/drawing/2014/main" id="{B4240CD9-065F-4CC2-88CA-FCA2D92522A3}"/>
              </a:ext>
            </a:extLst>
          </p:cNvPr>
          <p:cNvGrpSpPr/>
          <p:nvPr/>
        </p:nvGrpSpPr>
        <p:grpSpPr>
          <a:xfrm>
            <a:off x="1059926" y="4187965"/>
            <a:ext cx="6633315" cy="2496993"/>
            <a:chOff x="1059926" y="4187965"/>
            <a:chExt cx="6633315" cy="2496993"/>
          </a:xfrm>
        </p:grpSpPr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408480AA-1894-40DD-ACD0-22E8A6DA2F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59926" y="4187965"/>
              <a:ext cx="3121241" cy="2496993"/>
            </a:xfrm>
            <a:prstGeom prst="rect">
              <a:avLst/>
            </a:prstGeom>
          </p:spPr>
        </p:pic>
        <p:pic>
          <p:nvPicPr>
            <p:cNvPr id="15" name="图片 14">
              <a:extLst>
                <a:ext uri="{FF2B5EF4-FFF2-40B4-BE49-F238E27FC236}">
                  <a16:creationId xmlns:a16="http://schemas.microsoft.com/office/drawing/2014/main" id="{240BA80D-C954-4961-9849-0BF613D3187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72000" y="4187965"/>
              <a:ext cx="3121241" cy="2496993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文本框 1">
                  <a:extLst>
                    <a:ext uri="{FF2B5EF4-FFF2-40B4-BE49-F238E27FC236}">
                      <a16:creationId xmlns:a16="http://schemas.microsoft.com/office/drawing/2014/main" id="{4EE9886A-F3DB-411D-B719-9344E6332E39}"/>
                    </a:ext>
                  </a:extLst>
                </p:cNvPr>
                <p:cNvSpPr txBox="1"/>
                <p:nvPr/>
              </p:nvSpPr>
              <p:spPr>
                <a:xfrm>
                  <a:off x="1617407" y="5047493"/>
                  <a:ext cx="203814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=2,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=−1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2" name="文本框 1">
                  <a:extLst>
                    <a:ext uri="{FF2B5EF4-FFF2-40B4-BE49-F238E27FC236}">
                      <a16:creationId xmlns:a16="http://schemas.microsoft.com/office/drawing/2014/main" id="{4EE9886A-F3DB-411D-B719-9344E6332E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17407" y="5047493"/>
                  <a:ext cx="2038145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5C5067D0-23FE-4077-9513-92BCE22875CA}"/>
                    </a:ext>
                  </a:extLst>
                </p:cNvPr>
                <p:cNvSpPr txBox="1"/>
                <p:nvPr/>
              </p:nvSpPr>
              <p:spPr>
                <a:xfrm>
                  <a:off x="5033293" y="5041205"/>
                  <a:ext cx="203814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=5,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5C5067D0-23FE-4077-9513-92BCE22875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93" y="5041205"/>
                  <a:ext cx="2038145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84459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2"/>
    </mc:Choice>
    <mc:Fallback xmlns="">
      <p:transition spd="slow" advTm="792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图片 24">
            <a:extLst>
              <a:ext uri="{FF2B5EF4-FFF2-40B4-BE49-F238E27FC236}">
                <a16:creationId xmlns:a16="http://schemas.microsoft.com/office/drawing/2014/main" id="{13EC21F9-69AF-4550-A6F4-CC1E612070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5406" y="3851371"/>
            <a:ext cx="3641817" cy="2913453"/>
          </a:xfrm>
          <a:prstGeom prst="rect">
            <a:avLst/>
          </a:prstGeom>
        </p:spPr>
      </p:pic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 err="1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ReLU</a:t>
            </a:r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 NN with a single hidden layer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9CCEB176-2AB3-4775-8FD8-162A3C281EF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221" y="1382038"/>
            <a:ext cx="3010320" cy="211484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4F7F2721-8C79-466E-B420-24D804FE874F}"/>
                  </a:ext>
                </a:extLst>
              </p:cNvPr>
              <p:cNvSpPr txBox="1"/>
              <p:nvPr/>
            </p:nvSpPr>
            <p:spPr>
              <a:xfrm>
                <a:off x="619433" y="1625841"/>
                <a:ext cx="1995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4F7F2721-8C79-466E-B420-24D804FE87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433" y="1625841"/>
                <a:ext cx="199594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657A3B87-7622-4E37-9619-7D70438908B1}"/>
                  </a:ext>
                </a:extLst>
              </p:cNvPr>
              <p:cNvSpPr txBox="1"/>
              <p:nvPr/>
            </p:nvSpPr>
            <p:spPr>
              <a:xfrm>
                <a:off x="619433" y="2727856"/>
                <a:ext cx="1995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657A3B87-7622-4E37-9619-7D7043890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433" y="2727856"/>
                <a:ext cx="199594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8F37554-AD8F-4103-9235-EE1FF294C293}"/>
                  </a:ext>
                </a:extLst>
              </p:cNvPr>
              <p:cNvSpPr txBox="1"/>
              <p:nvPr/>
            </p:nvSpPr>
            <p:spPr>
              <a:xfrm>
                <a:off x="2143022" y="1004948"/>
                <a:ext cx="28902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𝑅𝑒𝐿𝑈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8F37554-AD8F-4103-9235-EE1FF294C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3022" y="1004948"/>
                <a:ext cx="2890271" cy="369332"/>
              </a:xfrm>
              <a:prstGeom prst="rect">
                <a:avLst/>
              </a:prstGeom>
              <a:blipFill>
                <a:blip r:embed="rId7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596BB49D-85FB-4E3E-B0E8-BE1C2783EBC9}"/>
                  </a:ext>
                </a:extLst>
              </p:cNvPr>
              <p:cNvSpPr txBox="1"/>
              <p:nvPr/>
            </p:nvSpPr>
            <p:spPr>
              <a:xfrm>
                <a:off x="2143022" y="3504641"/>
                <a:ext cx="28902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𝑅𝑒𝐿𝑈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596BB49D-85FB-4E3E-B0E8-BE1C2783EB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3022" y="3504641"/>
                <a:ext cx="2890271" cy="369332"/>
              </a:xfrm>
              <a:prstGeom prst="rect">
                <a:avLst/>
              </a:prstGeom>
              <a:blipFill>
                <a:blip r:embed="rId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4538FF45-D125-4B68-83F2-BB1F0338AA0E}"/>
                  </a:ext>
                </a:extLst>
              </p:cNvPr>
              <p:cNvSpPr txBox="1"/>
              <p:nvPr/>
            </p:nvSpPr>
            <p:spPr>
              <a:xfrm>
                <a:off x="2547991" y="1692486"/>
                <a:ext cx="1995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4538FF45-D125-4B68-83F2-BB1F0338AA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7991" y="1692486"/>
                <a:ext cx="1995948" cy="369332"/>
              </a:xfrm>
              <a:prstGeom prst="rect">
                <a:avLst/>
              </a:prstGeom>
              <a:blipFill>
                <a:blip r:embed="rId9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9995F59C-CE4D-4496-92EF-865866DEB25C}"/>
                  </a:ext>
                </a:extLst>
              </p:cNvPr>
              <p:cNvSpPr txBox="1"/>
              <p:nvPr/>
            </p:nvSpPr>
            <p:spPr>
              <a:xfrm>
                <a:off x="2547991" y="2794501"/>
                <a:ext cx="1995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9995F59C-CE4D-4496-92EF-865866DEB2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7991" y="2794501"/>
                <a:ext cx="1995948" cy="369332"/>
              </a:xfrm>
              <a:prstGeom prst="rect">
                <a:avLst/>
              </a:prstGeom>
              <a:blipFill>
                <a:blip r:embed="rId10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08AF2811-DC4E-468F-A6B6-91BC46461B92}"/>
                  </a:ext>
                </a:extLst>
              </p:cNvPr>
              <p:cNvSpPr txBox="1"/>
              <p:nvPr/>
            </p:nvSpPr>
            <p:spPr>
              <a:xfrm>
                <a:off x="4181167" y="2052535"/>
                <a:ext cx="4403416" cy="7645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21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22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nary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08AF2811-DC4E-468F-A6B6-91BC46461B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1167" y="2052535"/>
                <a:ext cx="4403416" cy="76456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组合 18">
            <a:extLst>
              <a:ext uri="{FF2B5EF4-FFF2-40B4-BE49-F238E27FC236}">
                <a16:creationId xmlns:a16="http://schemas.microsoft.com/office/drawing/2014/main" id="{D4219C5F-BCE4-4050-8946-8DAA626F3110}"/>
              </a:ext>
            </a:extLst>
          </p:cNvPr>
          <p:cNvGrpSpPr/>
          <p:nvPr/>
        </p:nvGrpSpPr>
        <p:grpSpPr>
          <a:xfrm>
            <a:off x="0" y="3851371"/>
            <a:ext cx="3641851" cy="2913481"/>
            <a:chOff x="322096" y="3910468"/>
            <a:chExt cx="3641851" cy="2913481"/>
          </a:xfrm>
        </p:grpSpPr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0A161A4C-B885-4192-A520-995A9F29EA4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2096" y="3910468"/>
              <a:ext cx="3641851" cy="291348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文本框 17">
                  <a:extLst>
                    <a:ext uri="{FF2B5EF4-FFF2-40B4-BE49-F238E27FC236}">
                      <a16:creationId xmlns:a16="http://schemas.microsoft.com/office/drawing/2014/main" id="{88EBC51B-E5E3-4074-8986-8477C278353A}"/>
                    </a:ext>
                  </a:extLst>
                </p:cNvPr>
                <p:cNvSpPr txBox="1"/>
                <p:nvPr/>
              </p:nvSpPr>
              <p:spPr>
                <a:xfrm>
                  <a:off x="2969342" y="5810865"/>
                  <a:ext cx="51127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8" name="文本框 17">
                  <a:extLst>
                    <a:ext uri="{FF2B5EF4-FFF2-40B4-BE49-F238E27FC236}">
                      <a16:creationId xmlns:a16="http://schemas.microsoft.com/office/drawing/2014/main" id="{88EBC51B-E5E3-4074-8986-8477C27835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9342" y="5810865"/>
                  <a:ext cx="511277" cy="369332"/>
                </a:xfrm>
                <a:prstGeom prst="rect">
                  <a:avLst/>
                </a:prstGeom>
                <a:blipFill>
                  <a:blip r:embed="rId13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文本框 19">
                  <a:extLst>
                    <a:ext uri="{FF2B5EF4-FFF2-40B4-BE49-F238E27FC236}">
                      <a16:creationId xmlns:a16="http://schemas.microsoft.com/office/drawing/2014/main" id="{FD3F3B05-1B94-4AE0-BBD4-252430433E19}"/>
                    </a:ext>
                  </a:extLst>
                </p:cNvPr>
                <p:cNvSpPr txBox="1"/>
                <p:nvPr/>
              </p:nvSpPr>
              <p:spPr>
                <a:xfrm>
                  <a:off x="2453923" y="5079128"/>
                  <a:ext cx="51127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20" name="文本框 19">
                  <a:extLst>
                    <a:ext uri="{FF2B5EF4-FFF2-40B4-BE49-F238E27FC236}">
                      <a16:creationId xmlns:a16="http://schemas.microsoft.com/office/drawing/2014/main" id="{FD3F3B05-1B94-4AE0-BBD4-252430433E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3923" y="5079128"/>
                  <a:ext cx="511277" cy="369332"/>
                </a:xfrm>
                <a:prstGeom prst="rect">
                  <a:avLst/>
                </a:prstGeom>
                <a:blipFill>
                  <a:blip r:embed="rId14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E2D1FA6B-641D-493B-892C-E06117D27A19}"/>
              </a:ext>
            </a:extLst>
          </p:cNvPr>
          <p:cNvCxnSpPr>
            <a:cxnSpLocks/>
          </p:cNvCxnSpPr>
          <p:nvPr/>
        </p:nvCxnSpPr>
        <p:spPr>
          <a:xfrm flipV="1">
            <a:off x="3892233" y="5288000"/>
            <a:ext cx="1148004" cy="1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806CC114-D36A-4305-BBD6-84C1E1E49F96}"/>
                  </a:ext>
                </a:extLst>
              </p:cNvPr>
              <p:cNvSpPr txBox="1"/>
              <p:nvPr/>
            </p:nvSpPr>
            <p:spPr>
              <a:xfrm>
                <a:off x="3478215" y="4755353"/>
                <a:ext cx="2131448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=5,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=0.1</m:t>
                      </m:r>
                    </m:oMath>
                  </m:oMathPara>
                </a14:m>
                <a:endParaRPr lang="en-US" altLang="zh-CN" b="0" i="1" dirty="0">
                  <a:latin typeface="Cambria Math" panose="02040503050406030204" pitchFamily="18" charset="0"/>
                </a:endParaRPr>
              </a:p>
              <a:p>
                <a:endParaRPr lang="en-US" altLang="zh-CN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806CC114-D36A-4305-BBD6-84C1E1E49F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8215" y="4755353"/>
                <a:ext cx="2131448" cy="92333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FF7EAC3D-2FD7-46E0-8028-A4061E994907}"/>
                  </a:ext>
                </a:extLst>
              </p:cNvPr>
              <p:cNvSpPr txBox="1"/>
              <p:nvPr/>
            </p:nvSpPr>
            <p:spPr>
              <a:xfrm>
                <a:off x="577236" y="4155741"/>
                <a:ext cx="203814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=2,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=−1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FF7EAC3D-2FD7-46E0-8028-A4061E9949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236" y="4155741"/>
                <a:ext cx="2038145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4EED8A5C-D0CE-4179-B8D4-4199D0CB2658}"/>
                  </a:ext>
                </a:extLst>
              </p:cNvPr>
              <p:cNvSpPr txBox="1"/>
              <p:nvPr/>
            </p:nvSpPr>
            <p:spPr>
              <a:xfrm>
                <a:off x="509846" y="4570687"/>
                <a:ext cx="203814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=5,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4EED8A5C-D0CE-4179-B8D4-4199D0CB26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846" y="4570687"/>
                <a:ext cx="2038145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7488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2"/>
    </mc:Choice>
    <mc:Fallback xmlns="">
      <p:transition spd="slow" advTm="792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>
            <a:extLst>
              <a:ext uri="{FF2B5EF4-FFF2-40B4-BE49-F238E27FC236}">
                <a16:creationId xmlns:a16="http://schemas.microsoft.com/office/drawing/2014/main" id="{A79E7BF8-39EC-4B1B-A7BF-1DC6973FC6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9353" y="3990355"/>
            <a:ext cx="3438978" cy="2751182"/>
          </a:xfrm>
          <a:prstGeom prst="rect">
            <a:avLst/>
          </a:prstGeom>
        </p:spPr>
      </p:pic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 err="1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ReLU</a:t>
            </a:r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 NN with a single hidden layer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9CCEB176-2AB3-4775-8FD8-162A3C281EF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221" y="1382038"/>
            <a:ext cx="3010320" cy="211484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4F7F2721-8C79-466E-B420-24D804FE874F}"/>
                  </a:ext>
                </a:extLst>
              </p:cNvPr>
              <p:cNvSpPr txBox="1"/>
              <p:nvPr/>
            </p:nvSpPr>
            <p:spPr>
              <a:xfrm>
                <a:off x="619433" y="1625841"/>
                <a:ext cx="1995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4F7F2721-8C79-466E-B420-24D804FE87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433" y="1625841"/>
                <a:ext cx="199594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657A3B87-7622-4E37-9619-7D70438908B1}"/>
                  </a:ext>
                </a:extLst>
              </p:cNvPr>
              <p:cNvSpPr txBox="1"/>
              <p:nvPr/>
            </p:nvSpPr>
            <p:spPr>
              <a:xfrm>
                <a:off x="619433" y="2727856"/>
                <a:ext cx="1995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657A3B87-7622-4E37-9619-7D7043890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433" y="2727856"/>
                <a:ext cx="199594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8F37554-AD8F-4103-9235-EE1FF294C293}"/>
                  </a:ext>
                </a:extLst>
              </p:cNvPr>
              <p:cNvSpPr txBox="1"/>
              <p:nvPr/>
            </p:nvSpPr>
            <p:spPr>
              <a:xfrm>
                <a:off x="2143022" y="1004948"/>
                <a:ext cx="28902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𝑅𝑒𝐿𝑈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8F37554-AD8F-4103-9235-EE1FF294C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3022" y="1004948"/>
                <a:ext cx="2890271" cy="369332"/>
              </a:xfrm>
              <a:prstGeom prst="rect">
                <a:avLst/>
              </a:prstGeom>
              <a:blipFill>
                <a:blip r:embed="rId7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596BB49D-85FB-4E3E-B0E8-BE1C2783EBC9}"/>
                  </a:ext>
                </a:extLst>
              </p:cNvPr>
              <p:cNvSpPr txBox="1"/>
              <p:nvPr/>
            </p:nvSpPr>
            <p:spPr>
              <a:xfrm>
                <a:off x="2143022" y="3504641"/>
                <a:ext cx="28902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𝑅𝑒𝐿𝑈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596BB49D-85FB-4E3E-B0E8-BE1C2783EB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3022" y="3504641"/>
                <a:ext cx="2890271" cy="369332"/>
              </a:xfrm>
              <a:prstGeom prst="rect">
                <a:avLst/>
              </a:prstGeom>
              <a:blipFill>
                <a:blip r:embed="rId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4538FF45-D125-4B68-83F2-BB1F0338AA0E}"/>
                  </a:ext>
                </a:extLst>
              </p:cNvPr>
              <p:cNvSpPr txBox="1"/>
              <p:nvPr/>
            </p:nvSpPr>
            <p:spPr>
              <a:xfrm>
                <a:off x="2547991" y="1692486"/>
                <a:ext cx="1995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4538FF45-D125-4B68-83F2-BB1F0338AA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7991" y="1692486"/>
                <a:ext cx="1995948" cy="369332"/>
              </a:xfrm>
              <a:prstGeom prst="rect">
                <a:avLst/>
              </a:prstGeom>
              <a:blipFill>
                <a:blip r:embed="rId9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9995F59C-CE4D-4496-92EF-865866DEB25C}"/>
                  </a:ext>
                </a:extLst>
              </p:cNvPr>
              <p:cNvSpPr txBox="1"/>
              <p:nvPr/>
            </p:nvSpPr>
            <p:spPr>
              <a:xfrm>
                <a:off x="2547991" y="2794501"/>
                <a:ext cx="1995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9995F59C-CE4D-4496-92EF-865866DEB2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7991" y="2794501"/>
                <a:ext cx="1995948" cy="369332"/>
              </a:xfrm>
              <a:prstGeom prst="rect">
                <a:avLst/>
              </a:prstGeom>
              <a:blipFill>
                <a:blip r:embed="rId10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08AF2811-DC4E-468F-A6B6-91BC46461B92}"/>
                  </a:ext>
                </a:extLst>
              </p:cNvPr>
              <p:cNvSpPr txBox="1"/>
              <p:nvPr/>
            </p:nvSpPr>
            <p:spPr>
              <a:xfrm>
                <a:off x="4181167" y="2052535"/>
                <a:ext cx="4403416" cy="7645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21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22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nary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08AF2811-DC4E-468F-A6B6-91BC46461B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1167" y="2052535"/>
                <a:ext cx="4403416" cy="76456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E2D1FA6B-641D-493B-892C-E06117D27A19}"/>
              </a:ext>
            </a:extLst>
          </p:cNvPr>
          <p:cNvCxnSpPr>
            <a:cxnSpLocks/>
          </p:cNvCxnSpPr>
          <p:nvPr/>
        </p:nvCxnSpPr>
        <p:spPr>
          <a:xfrm flipV="1">
            <a:off x="3892233" y="5288000"/>
            <a:ext cx="1148004" cy="1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806CC114-D36A-4305-BBD6-84C1E1E49F96}"/>
                  </a:ext>
                </a:extLst>
              </p:cNvPr>
              <p:cNvSpPr txBox="1"/>
              <p:nvPr/>
            </p:nvSpPr>
            <p:spPr>
              <a:xfrm>
                <a:off x="3513118" y="4806841"/>
                <a:ext cx="2131448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=1,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altLang="zh-CN" b="0" i="1" dirty="0">
                  <a:latin typeface="Cambria Math" panose="02040503050406030204" pitchFamily="18" charset="0"/>
                </a:endParaRPr>
              </a:p>
              <a:p>
                <a:endParaRPr lang="en-US" altLang="zh-CN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806CC114-D36A-4305-BBD6-84C1E1E49F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3118" y="4806841"/>
                <a:ext cx="2131448" cy="92333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图片 5">
            <a:extLst>
              <a:ext uri="{FF2B5EF4-FFF2-40B4-BE49-F238E27FC236}">
                <a16:creationId xmlns:a16="http://schemas.microsoft.com/office/drawing/2014/main" id="{787598A4-F04A-4468-B8CB-6C5A765FB77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764" y="3990355"/>
            <a:ext cx="3294354" cy="263548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86325F7A-AB9E-461B-92DA-D31BAC927827}"/>
                  </a:ext>
                </a:extLst>
              </p:cNvPr>
              <p:cNvSpPr txBox="1"/>
              <p:nvPr/>
            </p:nvSpPr>
            <p:spPr>
              <a:xfrm>
                <a:off x="509846" y="5831352"/>
                <a:ext cx="203814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=2,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86325F7A-AB9E-461B-92DA-D31BAC9278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846" y="5831352"/>
                <a:ext cx="2038145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8EFA0C28-776F-4E75-AAF7-BB74B60770E9}"/>
                  </a:ext>
                </a:extLst>
              </p:cNvPr>
              <p:cNvSpPr txBox="1"/>
              <p:nvPr/>
            </p:nvSpPr>
            <p:spPr>
              <a:xfrm>
                <a:off x="1110221" y="4397808"/>
                <a:ext cx="203814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=−2,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8EFA0C28-776F-4E75-AAF7-BB74B60770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0221" y="4397808"/>
                <a:ext cx="2038145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76610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2"/>
    </mc:Choice>
    <mc:Fallback xmlns="">
      <p:transition spd="slow" advTm="792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图片 15">
            <a:extLst>
              <a:ext uri="{FF2B5EF4-FFF2-40B4-BE49-F238E27FC236}">
                <a16:creationId xmlns:a16="http://schemas.microsoft.com/office/drawing/2014/main" id="{6E9F71ED-90D1-4C68-B8FE-A5F1EE9007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5845" y="4096940"/>
            <a:ext cx="3389851" cy="2711881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55F0A4D1-B861-4153-BE4B-E9526E3D3A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982" y="4108811"/>
            <a:ext cx="3360175" cy="2688140"/>
          </a:xfrm>
          <a:prstGeom prst="rect">
            <a:avLst/>
          </a:prstGeom>
        </p:spPr>
      </p:pic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 err="1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ReLU</a:t>
            </a:r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 NN with a single hidden layer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9CCEB176-2AB3-4775-8FD8-162A3C281E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221" y="1382038"/>
            <a:ext cx="3010320" cy="211484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4F7F2721-8C79-466E-B420-24D804FE874F}"/>
                  </a:ext>
                </a:extLst>
              </p:cNvPr>
              <p:cNvSpPr txBox="1"/>
              <p:nvPr/>
            </p:nvSpPr>
            <p:spPr>
              <a:xfrm>
                <a:off x="619433" y="1625841"/>
                <a:ext cx="1995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4F7F2721-8C79-466E-B420-24D804FE87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433" y="1625841"/>
                <a:ext cx="199594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657A3B87-7622-4E37-9619-7D70438908B1}"/>
                  </a:ext>
                </a:extLst>
              </p:cNvPr>
              <p:cNvSpPr txBox="1"/>
              <p:nvPr/>
            </p:nvSpPr>
            <p:spPr>
              <a:xfrm>
                <a:off x="619433" y="2727856"/>
                <a:ext cx="1995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657A3B87-7622-4E37-9619-7D7043890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433" y="2727856"/>
                <a:ext cx="1995948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8F37554-AD8F-4103-9235-EE1FF294C293}"/>
                  </a:ext>
                </a:extLst>
              </p:cNvPr>
              <p:cNvSpPr txBox="1"/>
              <p:nvPr/>
            </p:nvSpPr>
            <p:spPr>
              <a:xfrm>
                <a:off x="2143022" y="1004948"/>
                <a:ext cx="28902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𝑅𝑒𝐿𝑈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8F37554-AD8F-4103-9235-EE1FF294C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3022" y="1004948"/>
                <a:ext cx="2890271" cy="369332"/>
              </a:xfrm>
              <a:prstGeom prst="rect">
                <a:avLst/>
              </a:prstGeom>
              <a:blipFill>
                <a:blip r:embed="rId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596BB49D-85FB-4E3E-B0E8-BE1C2783EBC9}"/>
                  </a:ext>
                </a:extLst>
              </p:cNvPr>
              <p:cNvSpPr txBox="1"/>
              <p:nvPr/>
            </p:nvSpPr>
            <p:spPr>
              <a:xfrm>
                <a:off x="2143022" y="3504641"/>
                <a:ext cx="28902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𝑅𝑒𝐿𝑈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596BB49D-85FB-4E3E-B0E8-BE1C2783EB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3022" y="3504641"/>
                <a:ext cx="2890271" cy="369332"/>
              </a:xfrm>
              <a:prstGeom prst="rect">
                <a:avLst/>
              </a:prstGeom>
              <a:blipFill>
                <a:blip r:embed="rId9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4538FF45-D125-4B68-83F2-BB1F0338AA0E}"/>
                  </a:ext>
                </a:extLst>
              </p:cNvPr>
              <p:cNvSpPr txBox="1"/>
              <p:nvPr/>
            </p:nvSpPr>
            <p:spPr>
              <a:xfrm>
                <a:off x="2547991" y="1692486"/>
                <a:ext cx="1995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4538FF45-D125-4B68-83F2-BB1F0338AA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7991" y="1692486"/>
                <a:ext cx="1995948" cy="369332"/>
              </a:xfrm>
              <a:prstGeom prst="rect">
                <a:avLst/>
              </a:prstGeom>
              <a:blipFill>
                <a:blip r:embed="rId10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9995F59C-CE4D-4496-92EF-865866DEB25C}"/>
                  </a:ext>
                </a:extLst>
              </p:cNvPr>
              <p:cNvSpPr txBox="1"/>
              <p:nvPr/>
            </p:nvSpPr>
            <p:spPr>
              <a:xfrm>
                <a:off x="2547991" y="2794501"/>
                <a:ext cx="1995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9995F59C-CE4D-4496-92EF-865866DEB2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7991" y="2794501"/>
                <a:ext cx="1995948" cy="369332"/>
              </a:xfrm>
              <a:prstGeom prst="rect">
                <a:avLst/>
              </a:prstGeom>
              <a:blipFill>
                <a:blip r:embed="rId11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08AF2811-DC4E-468F-A6B6-91BC46461B92}"/>
                  </a:ext>
                </a:extLst>
              </p:cNvPr>
              <p:cNvSpPr txBox="1"/>
              <p:nvPr/>
            </p:nvSpPr>
            <p:spPr>
              <a:xfrm>
                <a:off x="4181167" y="2052535"/>
                <a:ext cx="4403416" cy="7645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21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22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nary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08AF2811-DC4E-468F-A6B6-91BC46461B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1167" y="2052535"/>
                <a:ext cx="4403416" cy="764568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组合 18">
            <a:extLst>
              <a:ext uri="{FF2B5EF4-FFF2-40B4-BE49-F238E27FC236}">
                <a16:creationId xmlns:a16="http://schemas.microsoft.com/office/drawing/2014/main" id="{D4219C5F-BCE4-4050-8946-8DAA626F3110}"/>
              </a:ext>
            </a:extLst>
          </p:cNvPr>
          <p:cNvGrpSpPr/>
          <p:nvPr/>
        </p:nvGrpSpPr>
        <p:grpSpPr>
          <a:xfrm>
            <a:off x="2143022" y="4766882"/>
            <a:ext cx="1140597" cy="863883"/>
            <a:chOff x="2465118" y="4825979"/>
            <a:chExt cx="1140597" cy="8638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文本框 17">
                  <a:extLst>
                    <a:ext uri="{FF2B5EF4-FFF2-40B4-BE49-F238E27FC236}">
                      <a16:creationId xmlns:a16="http://schemas.microsoft.com/office/drawing/2014/main" id="{88EBC51B-E5E3-4074-8986-8477C278353A}"/>
                    </a:ext>
                  </a:extLst>
                </p:cNvPr>
                <p:cNvSpPr txBox="1"/>
                <p:nvPr/>
              </p:nvSpPr>
              <p:spPr>
                <a:xfrm>
                  <a:off x="2465118" y="4825979"/>
                  <a:ext cx="51127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8" name="文本框 17">
                  <a:extLst>
                    <a:ext uri="{FF2B5EF4-FFF2-40B4-BE49-F238E27FC236}">
                      <a16:creationId xmlns:a16="http://schemas.microsoft.com/office/drawing/2014/main" id="{88EBC51B-E5E3-4074-8986-8477C27835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5118" y="4825979"/>
                  <a:ext cx="511277" cy="369332"/>
                </a:xfrm>
                <a:prstGeom prst="rect">
                  <a:avLst/>
                </a:prstGeom>
                <a:blipFill>
                  <a:blip r:embed="rId13"/>
                  <a:stretch>
                    <a:fillRect b="-491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文本框 19">
                  <a:extLst>
                    <a:ext uri="{FF2B5EF4-FFF2-40B4-BE49-F238E27FC236}">
                      <a16:creationId xmlns:a16="http://schemas.microsoft.com/office/drawing/2014/main" id="{FD3F3B05-1B94-4AE0-BBD4-252430433E19}"/>
                    </a:ext>
                  </a:extLst>
                </p:cNvPr>
                <p:cNvSpPr txBox="1"/>
                <p:nvPr/>
              </p:nvSpPr>
              <p:spPr>
                <a:xfrm>
                  <a:off x="3094438" y="5320530"/>
                  <a:ext cx="51127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20" name="文本框 19">
                  <a:extLst>
                    <a:ext uri="{FF2B5EF4-FFF2-40B4-BE49-F238E27FC236}">
                      <a16:creationId xmlns:a16="http://schemas.microsoft.com/office/drawing/2014/main" id="{FD3F3B05-1B94-4AE0-BBD4-252430433E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94438" y="5320530"/>
                  <a:ext cx="511277" cy="369332"/>
                </a:xfrm>
                <a:prstGeom prst="rect">
                  <a:avLst/>
                </a:prstGeom>
                <a:blipFill>
                  <a:blip r:embed="rId14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E2D1FA6B-641D-493B-892C-E06117D27A19}"/>
              </a:ext>
            </a:extLst>
          </p:cNvPr>
          <p:cNvCxnSpPr>
            <a:cxnSpLocks/>
          </p:cNvCxnSpPr>
          <p:nvPr/>
        </p:nvCxnSpPr>
        <p:spPr>
          <a:xfrm flipV="1">
            <a:off x="3892233" y="5288000"/>
            <a:ext cx="1148004" cy="1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806CC114-D36A-4305-BBD6-84C1E1E49F96}"/>
                  </a:ext>
                </a:extLst>
              </p:cNvPr>
              <p:cNvSpPr txBox="1"/>
              <p:nvPr/>
            </p:nvSpPr>
            <p:spPr>
              <a:xfrm>
                <a:off x="3513118" y="4806841"/>
                <a:ext cx="2131448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=5,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=0.1</m:t>
                      </m:r>
                    </m:oMath>
                  </m:oMathPara>
                </a14:m>
                <a:endParaRPr lang="en-US" altLang="zh-CN" b="0" i="1" dirty="0">
                  <a:latin typeface="Cambria Math" panose="02040503050406030204" pitchFamily="18" charset="0"/>
                </a:endParaRPr>
              </a:p>
              <a:p>
                <a:endParaRPr lang="en-US" altLang="zh-CN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806CC114-D36A-4305-BBD6-84C1E1E49F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3118" y="4806841"/>
                <a:ext cx="2131448" cy="92333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560FBBDE-2562-48D9-AD00-8F2541D33689}"/>
                  </a:ext>
                </a:extLst>
              </p:cNvPr>
              <p:cNvSpPr txBox="1"/>
              <p:nvPr/>
            </p:nvSpPr>
            <p:spPr>
              <a:xfrm>
                <a:off x="577236" y="4256870"/>
                <a:ext cx="203814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=2,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560FBBDE-2562-48D9-AD00-8F2541D33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236" y="4256870"/>
                <a:ext cx="2038145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A6E3EE37-ED1E-4A0C-B69F-CAE71E10EC9F}"/>
                  </a:ext>
                </a:extLst>
              </p:cNvPr>
              <p:cNvSpPr txBox="1"/>
              <p:nvPr/>
            </p:nvSpPr>
            <p:spPr>
              <a:xfrm>
                <a:off x="989835" y="5750160"/>
                <a:ext cx="203814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=1,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A6E3EE37-ED1E-4A0C-B69F-CAE71E10EC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835" y="5750160"/>
                <a:ext cx="2038145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53260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2"/>
    </mc:Choice>
    <mc:Fallback xmlns="">
      <p:transition spd="slow" advTm="792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 err="1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ReLU</a:t>
            </a:r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 NN with a single hidden layer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9CCEB176-2AB3-4775-8FD8-162A3C281E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221" y="1382038"/>
            <a:ext cx="3010320" cy="211484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4F7F2721-8C79-466E-B420-24D804FE874F}"/>
                  </a:ext>
                </a:extLst>
              </p:cNvPr>
              <p:cNvSpPr txBox="1"/>
              <p:nvPr/>
            </p:nvSpPr>
            <p:spPr>
              <a:xfrm>
                <a:off x="619433" y="1625841"/>
                <a:ext cx="1995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4F7F2721-8C79-466E-B420-24D804FE87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433" y="1625841"/>
                <a:ext cx="1995948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657A3B87-7622-4E37-9619-7D70438908B1}"/>
                  </a:ext>
                </a:extLst>
              </p:cNvPr>
              <p:cNvSpPr txBox="1"/>
              <p:nvPr/>
            </p:nvSpPr>
            <p:spPr>
              <a:xfrm>
                <a:off x="619433" y="2727856"/>
                <a:ext cx="1995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657A3B87-7622-4E37-9619-7D7043890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433" y="2727856"/>
                <a:ext cx="199594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8F37554-AD8F-4103-9235-EE1FF294C293}"/>
                  </a:ext>
                </a:extLst>
              </p:cNvPr>
              <p:cNvSpPr txBox="1"/>
              <p:nvPr/>
            </p:nvSpPr>
            <p:spPr>
              <a:xfrm>
                <a:off x="2143022" y="1004948"/>
                <a:ext cx="28902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𝑅𝑒𝐿𝑈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8F37554-AD8F-4103-9235-EE1FF294C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3022" y="1004948"/>
                <a:ext cx="2890271" cy="369332"/>
              </a:xfrm>
              <a:prstGeom prst="rect">
                <a:avLst/>
              </a:prstGeom>
              <a:blipFill>
                <a:blip r:embed="rId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596BB49D-85FB-4E3E-B0E8-BE1C2783EBC9}"/>
                  </a:ext>
                </a:extLst>
              </p:cNvPr>
              <p:cNvSpPr txBox="1"/>
              <p:nvPr/>
            </p:nvSpPr>
            <p:spPr>
              <a:xfrm>
                <a:off x="2143022" y="3504641"/>
                <a:ext cx="28902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𝑅𝑒𝐿𝑈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596BB49D-85FB-4E3E-B0E8-BE1C2783EB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3022" y="3504641"/>
                <a:ext cx="2890271" cy="369332"/>
              </a:xfrm>
              <a:prstGeom prst="rect">
                <a:avLst/>
              </a:prstGeom>
              <a:blipFill>
                <a:blip r:embed="rId7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4538FF45-D125-4B68-83F2-BB1F0338AA0E}"/>
                  </a:ext>
                </a:extLst>
              </p:cNvPr>
              <p:cNvSpPr txBox="1"/>
              <p:nvPr/>
            </p:nvSpPr>
            <p:spPr>
              <a:xfrm>
                <a:off x="2547991" y="1692486"/>
                <a:ext cx="1995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4538FF45-D125-4B68-83F2-BB1F0338AA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7991" y="1692486"/>
                <a:ext cx="1995948" cy="369332"/>
              </a:xfrm>
              <a:prstGeom prst="rect">
                <a:avLst/>
              </a:prstGeom>
              <a:blipFill>
                <a:blip r:embed="rId8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9995F59C-CE4D-4496-92EF-865866DEB25C}"/>
                  </a:ext>
                </a:extLst>
              </p:cNvPr>
              <p:cNvSpPr txBox="1"/>
              <p:nvPr/>
            </p:nvSpPr>
            <p:spPr>
              <a:xfrm>
                <a:off x="2547991" y="2794501"/>
                <a:ext cx="1995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9995F59C-CE4D-4496-92EF-865866DEB2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7991" y="2794501"/>
                <a:ext cx="1995948" cy="369332"/>
              </a:xfrm>
              <a:prstGeom prst="rect">
                <a:avLst/>
              </a:prstGeom>
              <a:blipFill>
                <a:blip r:embed="rId9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08AF2811-DC4E-468F-A6B6-91BC46461B92}"/>
                  </a:ext>
                </a:extLst>
              </p:cNvPr>
              <p:cNvSpPr txBox="1"/>
              <p:nvPr/>
            </p:nvSpPr>
            <p:spPr>
              <a:xfrm>
                <a:off x="4181167" y="2052535"/>
                <a:ext cx="4403416" cy="7645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21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22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nary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08AF2811-DC4E-468F-A6B6-91BC46461B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1167" y="2052535"/>
                <a:ext cx="4403416" cy="76456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文本框 25">
            <a:extLst>
              <a:ext uri="{FF2B5EF4-FFF2-40B4-BE49-F238E27FC236}">
                <a16:creationId xmlns:a16="http://schemas.microsoft.com/office/drawing/2014/main" id="{D29C3881-E42C-43B7-A4A4-B0303DF4EDFB}"/>
              </a:ext>
            </a:extLst>
          </p:cNvPr>
          <p:cNvSpPr txBox="1"/>
          <p:nvPr/>
        </p:nvSpPr>
        <p:spPr>
          <a:xfrm>
            <a:off x="619433" y="4277032"/>
            <a:ext cx="2605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Remarks: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0059F05C-B685-4B25-AA2D-B55F6B6A8ADF}"/>
                  </a:ext>
                </a:extLst>
              </p:cNvPr>
              <p:cNvSpPr txBox="1"/>
              <p:nvPr/>
            </p:nvSpPr>
            <p:spPr>
              <a:xfrm>
                <a:off x="840247" y="4796182"/>
                <a:ext cx="7428682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Domain decomposition/Partition: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𝑅𝑒𝐿𝑈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altLang="zh-CN" b="0" dirty="0">
                  <a:latin typeface="Times New Roman" panose="02020603050405020304" pitchFamily="18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</m:oMath>
                </a14:m>
                <a:r>
                  <a:rPr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slope in each subdomain</a:t>
                </a: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</m:oMath>
                </a14:m>
                <a:r>
                  <a:rPr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linear combination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0059F05C-B685-4B25-AA2D-B55F6B6A8A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247" y="4796182"/>
                <a:ext cx="7428682" cy="1477328"/>
              </a:xfrm>
              <a:prstGeom prst="rect">
                <a:avLst/>
              </a:prstGeom>
              <a:blipFill>
                <a:blip r:embed="rId11"/>
                <a:stretch>
                  <a:fillRect l="-575" t="-2479" b="-578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7738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2"/>
    </mc:Choice>
    <mc:Fallback xmlns="">
      <p:transition spd="slow" advTm="792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 err="1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ReLU</a:t>
            </a:r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 NN with a single hidden layer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9CCEB176-2AB3-4775-8FD8-162A3C281E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1828" y="770153"/>
            <a:ext cx="3010320" cy="211484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4F7F2721-8C79-466E-B420-24D804FE874F}"/>
                  </a:ext>
                </a:extLst>
              </p:cNvPr>
              <p:cNvSpPr txBox="1"/>
              <p:nvPr/>
            </p:nvSpPr>
            <p:spPr>
              <a:xfrm>
                <a:off x="1551040" y="1013956"/>
                <a:ext cx="1995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4F7F2721-8C79-466E-B420-24D804FE87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1040" y="1013956"/>
                <a:ext cx="1995948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657A3B87-7622-4E37-9619-7D70438908B1}"/>
                  </a:ext>
                </a:extLst>
              </p:cNvPr>
              <p:cNvSpPr txBox="1"/>
              <p:nvPr/>
            </p:nvSpPr>
            <p:spPr>
              <a:xfrm>
                <a:off x="1551040" y="2115971"/>
                <a:ext cx="1995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657A3B87-7622-4E37-9619-7D7043890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1040" y="2115971"/>
                <a:ext cx="199594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8F37554-AD8F-4103-9235-EE1FF294C293}"/>
                  </a:ext>
                </a:extLst>
              </p:cNvPr>
              <p:cNvSpPr txBox="1"/>
              <p:nvPr/>
            </p:nvSpPr>
            <p:spPr>
              <a:xfrm>
                <a:off x="3667638" y="756138"/>
                <a:ext cx="28902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𝑅𝑒𝐿𝑈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8F37554-AD8F-4103-9235-EE1FF294C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7638" y="756138"/>
                <a:ext cx="2890271" cy="369332"/>
              </a:xfrm>
              <a:prstGeom prst="rect">
                <a:avLst/>
              </a:prstGeom>
              <a:blipFill>
                <a:blip r:embed="rId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596BB49D-85FB-4E3E-B0E8-BE1C2783EBC9}"/>
                  </a:ext>
                </a:extLst>
              </p:cNvPr>
              <p:cNvSpPr txBox="1"/>
              <p:nvPr/>
            </p:nvSpPr>
            <p:spPr>
              <a:xfrm>
                <a:off x="3788291" y="2379994"/>
                <a:ext cx="28902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𝑅𝑒𝐿𝑈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596BB49D-85FB-4E3E-B0E8-BE1C2783EB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8291" y="2379994"/>
                <a:ext cx="2890271" cy="369332"/>
              </a:xfrm>
              <a:prstGeom prst="rect">
                <a:avLst/>
              </a:prstGeom>
              <a:blipFill>
                <a:blip r:embed="rId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文本框 1">
            <a:extLst>
              <a:ext uri="{FF2B5EF4-FFF2-40B4-BE49-F238E27FC236}">
                <a16:creationId xmlns:a16="http://schemas.microsoft.com/office/drawing/2014/main" id="{9D0A7A2B-369E-4044-AB6B-1E7088D71E69}"/>
              </a:ext>
            </a:extLst>
          </p:cNvPr>
          <p:cNvSpPr txBox="1"/>
          <p:nvPr/>
        </p:nvSpPr>
        <p:spPr>
          <a:xfrm>
            <a:off x="3207969" y="1522879"/>
            <a:ext cx="738664" cy="72144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lang="zh-CN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F27E3E30-2357-4870-8064-7BFFC352DBD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4328" y="2997049"/>
            <a:ext cx="4545802" cy="3636642"/>
          </a:xfrm>
          <a:prstGeom prst="rect">
            <a:avLst/>
          </a:prstGeom>
        </p:spPr>
      </p:pic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5F5D8A15-FF21-47DA-80A8-3556081793E5}"/>
              </a:ext>
            </a:extLst>
          </p:cNvPr>
          <p:cNvCxnSpPr/>
          <p:nvPr/>
        </p:nvCxnSpPr>
        <p:spPr>
          <a:xfrm>
            <a:off x="5899356" y="2884998"/>
            <a:ext cx="0" cy="3462745"/>
          </a:xfrm>
          <a:prstGeom prst="line">
            <a:avLst/>
          </a:prstGeom>
          <a:ln w="190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4511AE2-C265-4690-8E4F-4A8659476C7A}"/>
              </a:ext>
            </a:extLst>
          </p:cNvPr>
          <p:cNvCxnSpPr/>
          <p:nvPr/>
        </p:nvCxnSpPr>
        <p:spPr>
          <a:xfrm>
            <a:off x="5112773" y="2884997"/>
            <a:ext cx="0" cy="3462745"/>
          </a:xfrm>
          <a:prstGeom prst="line">
            <a:avLst/>
          </a:prstGeom>
          <a:ln w="190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7679A06-4A42-49B1-8105-9B6CF1E1241A}"/>
              </a:ext>
            </a:extLst>
          </p:cNvPr>
          <p:cNvCxnSpPr/>
          <p:nvPr/>
        </p:nvCxnSpPr>
        <p:spPr>
          <a:xfrm>
            <a:off x="4409767" y="2867812"/>
            <a:ext cx="0" cy="3462745"/>
          </a:xfrm>
          <a:prstGeom prst="line">
            <a:avLst/>
          </a:prstGeom>
          <a:ln w="190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55C01B11-8521-4E61-8953-8F9BE5D7C3B5}"/>
              </a:ext>
            </a:extLst>
          </p:cNvPr>
          <p:cNvCxnSpPr/>
          <p:nvPr/>
        </p:nvCxnSpPr>
        <p:spPr>
          <a:xfrm>
            <a:off x="3577301" y="2884996"/>
            <a:ext cx="0" cy="3462745"/>
          </a:xfrm>
          <a:prstGeom prst="line">
            <a:avLst/>
          </a:prstGeom>
          <a:ln w="190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530B23A6-C081-4689-AD67-867C82AD6265}"/>
              </a:ext>
            </a:extLst>
          </p:cNvPr>
          <p:cNvCxnSpPr/>
          <p:nvPr/>
        </p:nvCxnSpPr>
        <p:spPr>
          <a:xfrm>
            <a:off x="2893959" y="2884996"/>
            <a:ext cx="0" cy="3462745"/>
          </a:xfrm>
          <a:prstGeom prst="line">
            <a:avLst/>
          </a:prstGeom>
          <a:ln w="190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椭圆 14">
            <a:extLst>
              <a:ext uri="{FF2B5EF4-FFF2-40B4-BE49-F238E27FC236}">
                <a16:creationId xmlns:a16="http://schemas.microsoft.com/office/drawing/2014/main" id="{9F67CCAF-2745-4973-843B-B9A0B5812BC2}"/>
              </a:ext>
            </a:extLst>
          </p:cNvPr>
          <p:cNvSpPr>
            <a:spLocks noChangeAspect="1"/>
          </p:cNvSpPr>
          <p:nvPr/>
        </p:nvSpPr>
        <p:spPr>
          <a:xfrm>
            <a:off x="2575647" y="4671370"/>
            <a:ext cx="288000" cy="288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EC567B9E-0ECA-4EA3-8758-D88662FF0C27}"/>
              </a:ext>
            </a:extLst>
          </p:cNvPr>
          <p:cNvSpPr>
            <a:spLocks noChangeAspect="1"/>
          </p:cNvSpPr>
          <p:nvPr/>
        </p:nvSpPr>
        <p:spPr>
          <a:xfrm>
            <a:off x="3091630" y="5533943"/>
            <a:ext cx="288000" cy="288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71EF5368-8AAB-4EE5-B1F6-31C7FC8B6700}"/>
              </a:ext>
            </a:extLst>
          </p:cNvPr>
          <p:cNvSpPr>
            <a:spLocks noChangeAspect="1"/>
          </p:cNvSpPr>
          <p:nvPr/>
        </p:nvSpPr>
        <p:spPr>
          <a:xfrm>
            <a:off x="3879229" y="4003850"/>
            <a:ext cx="288000" cy="288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3</a:t>
            </a:r>
            <a:endParaRPr lang="zh-CN" altLang="en-US" dirty="0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A3043895-357F-4FA7-ABC9-A276522406D5}"/>
              </a:ext>
            </a:extLst>
          </p:cNvPr>
          <p:cNvSpPr>
            <a:spLocks noChangeAspect="1"/>
          </p:cNvSpPr>
          <p:nvPr/>
        </p:nvSpPr>
        <p:spPr>
          <a:xfrm>
            <a:off x="4639593" y="4003850"/>
            <a:ext cx="288000" cy="288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4</a:t>
            </a:r>
            <a:endParaRPr lang="zh-CN" altLang="en-US" dirty="0"/>
          </a:p>
        </p:txBody>
      </p:sp>
      <p:sp>
        <p:nvSpPr>
          <p:cNvPr id="25" name="椭圆 24">
            <a:extLst>
              <a:ext uri="{FF2B5EF4-FFF2-40B4-BE49-F238E27FC236}">
                <a16:creationId xmlns:a16="http://schemas.microsoft.com/office/drawing/2014/main" id="{38DC7DF2-4562-417F-BA7C-36BE487659D9}"/>
              </a:ext>
            </a:extLst>
          </p:cNvPr>
          <p:cNvSpPr>
            <a:spLocks noChangeAspect="1"/>
          </p:cNvSpPr>
          <p:nvPr/>
        </p:nvSpPr>
        <p:spPr>
          <a:xfrm>
            <a:off x="5409775" y="4003850"/>
            <a:ext cx="288000" cy="288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5</a:t>
            </a:r>
            <a:endParaRPr lang="zh-CN" altLang="en-US" dirty="0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490FECB2-4774-4DB3-8328-09594A58F92C}"/>
              </a:ext>
            </a:extLst>
          </p:cNvPr>
          <p:cNvSpPr>
            <a:spLocks noChangeAspect="1"/>
          </p:cNvSpPr>
          <p:nvPr/>
        </p:nvSpPr>
        <p:spPr>
          <a:xfrm>
            <a:off x="5956938" y="4003850"/>
            <a:ext cx="288000" cy="288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6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062782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2"/>
    </mc:Choice>
    <mc:Fallback xmlns="">
      <p:transition spd="slow" advTm="792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 err="1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ReLU</a:t>
            </a:r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 NN with a single hidden layer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9CCEB176-2AB3-4775-8FD8-162A3C281E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1828" y="770153"/>
            <a:ext cx="3010320" cy="211484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4F7F2721-8C79-466E-B420-24D804FE874F}"/>
                  </a:ext>
                </a:extLst>
              </p:cNvPr>
              <p:cNvSpPr txBox="1"/>
              <p:nvPr/>
            </p:nvSpPr>
            <p:spPr>
              <a:xfrm>
                <a:off x="1551040" y="1013956"/>
                <a:ext cx="1995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4F7F2721-8C79-466E-B420-24D804FE87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1040" y="1013956"/>
                <a:ext cx="1995948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657A3B87-7622-4E37-9619-7D70438908B1}"/>
                  </a:ext>
                </a:extLst>
              </p:cNvPr>
              <p:cNvSpPr txBox="1"/>
              <p:nvPr/>
            </p:nvSpPr>
            <p:spPr>
              <a:xfrm>
                <a:off x="1551040" y="2115971"/>
                <a:ext cx="1995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657A3B87-7622-4E37-9619-7D7043890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1040" y="2115971"/>
                <a:ext cx="199594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8F37554-AD8F-4103-9235-EE1FF294C293}"/>
                  </a:ext>
                </a:extLst>
              </p:cNvPr>
              <p:cNvSpPr txBox="1"/>
              <p:nvPr/>
            </p:nvSpPr>
            <p:spPr>
              <a:xfrm>
                <a:off x="3667638" y="756138"/>
                <a:ext cx="28902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𝑅𝑒𝐿𝑈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8F37554-AD8F-4103-9235-EE1FF294C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7638" y="756138"/>
                <a:ext cx="2890271" cy="369332"/>
              </a:xfrm>
              <a:prstGeom prst="rect">
                <a:avLst/>
              </a:prstGeom>
              <a:blipFill>
                <a:blip r:embed="rId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596BB49D-85FB-4E3E-B0E8-BE1C2783EBC9}"/>
                  </a:ext>
                </a:extLst>
              </p:cNvPr>
              <p:cNvSpPr txBox="1"/>
              <p:nvPr/>
            </p:nvSpPr>
            <p:spPr>
              <a:xfrm>
                <a:off x="3788291" y="2379994"/>
                <a:ext cx="28902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𝑅𝑒𝐿𝑈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596BB49D-85FB-4E3E-B0E8-BE1C2783EB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8291" y="2379994"/>
                <a:ext cx="2890271" cy="369332"/>
              </a:xfrm>
              <a:prstGeom prst="rect">
                <a:avLst/>
              </a:prstGeom>
              <a:blipFill>
                <a:blip r:embed="rId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文本框 1">
            <a:extLst>
              <a:ext uri="{FF2B5EF4-FFF2-40B4-BE49-F238E27FC236}">
                <a16:creationId xmlns:a16="http://schemas.microsoft.com/office/drawing/2014/main" id="{9D0A7A2B-369E-4044-AB6B-1E7088D71E69}"/>
              </a:ext>
            </a:extLst>
          </p:cNvPr>
          <p:cNvSpPr txBox="1"/>
          <p:nvPr/>
        </p:nvSpPr>
        <p:spPr>
          <a:xfrm>
            <a:off x="3207969" y="1522879"/>
            <a:ext cx="738664" cy="72144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lang="zh-CN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1" name="图片 20">
            <a:extLst>
              <a:ext uri="{FF2B5EF4-FFF2-40B4-BE49-F238E27FC236}">
                <a16:creationId xmlns:a16="http://schemas.microsoft.com/office/drawing/2014/main" id="{73F56DE4-05E5-449E-9A00-6690308A7E7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6657" y="2997049"/>
            <a:ext cx="4761905" cy="38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15608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2"/>
    </mc:Choice>
    <mc:Fallback xmlns="">
      <p:transition spd="slow" advTm="792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 err="1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ReLU</a:t>
            </a:r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 NN with a single hidden layer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9CCEB176-2AB3-4775-8FD8-162A3C281E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1054" y="1391321"/>
            <a:ext cx="3010320" cy="211484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4F7F2721-8C79-466E-B420-24D804FE874F}"/>
                  </a:ext>
                </a:extLst>
              </p:cNvPr>
              <p:cNvSpPr txBox="1"/>
              <p:nvPr/>
            </p:nvSpPr>
            <p:spPr>
              <a:xfrm>
                <a:off x="1010266" y="1635124"/>
                <a:ext cx="1995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4F7F2721-8C79-466E-B420-24D804FE87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266" y="1635124"/>
                <a:ext cx="1995948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657A3B87-7622-4E37-9619-7D70438908B1}"/>
                  </a:ext>
                </a:extLst>
              </p:cNvPr>
              <p:cNvSpPr txBox="1"/>
              <p:nvPr/>
            </p:nvSpPr>
            <p:spPr>
              <a:xfrm>
                <a:off x="1010266" y="2737139"/>
                <a:ext cx="1995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657A3B87-7622-4E37-9619-7D7043890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266" y="2737139"/>
                <a:ext cx="199594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8F37554-AD8F-4103-9235-EE1FF294C293}"/>
                  </a:ext>
                </a:extLst>
              </p:cNvPr>
              <p:cNvSpPr txBox="1"/>
              <p:nvPr/>
            </p:nvSpPr>
            <p:spPr>
              <a:xfrm>
                <a:off x="2533855" y="1014231"/>
                <a:ext cx="28902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𝑅𝑒𝐿𝑈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8F37554-AD8F-4103-9235-EE1FF294C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3855" y="1014231"/>
                <a:ext cx="2890271" cy="369332"/>
              </a:xfrm>
              <a:prstGeom prst="rect">
                <a:avLst/>
              </a:prstGeom>
              <a:blipFill>
                <a:blip r:embed="rId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596BB49D-85FB-4E3E-B0E8-BE1C2783EBC9}"/>
                  </a:ext>
                </a:extLst>
              </p:cNvPr>
              <p:cNvSpPr txBox="1"/>
              <p:nvPr/>
            </p:nvSpPr>
            <p:spPr>
              <a:xfrm>
                <a:off x="2533855" y="3513924"/>
                <a:ext cx="28902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𝑅𝑒𝐿𝑈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596BB49D-85FB-4E3E-B0E8-BE1C2783EB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3855" y="3513924"/>
                <a:ext cx="2890271" cy="369332"/>
              </a:xfrm>
              <a:prstGeom prst="rect">
                <a:avLst/>
              </a:prstGeom>
              <a:blipFill>
                <a:blip r:embed="rId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08AF2811-DC4E-468F-A6B6-91BC46461B92}"/>
                  </a:ext>
                </a:extLst>
              </p:cNvPr>
              <p:cNvSpPr txBox="1"/>
              <p:nvPr/>
            </p:nvSpPr>
            <p:spPr>
              <a:xfrm>
                <a:off x="4031433" y="2072211"/>
                <a:ext cx="4403416" cy="7645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nary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08AF2811-DC4E-468F-A6B6-91BC46461B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1433" y="2072211"/>
                <a:ext cx="4403416" cy="76456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文本框 25">
            <a:extLst>
              <a:ext uri="{FF2B5EF4-FFF2-40B4-BE49-F238E27FC236}">
                <a16:creationId xmlns:a16="http://schemas.microsoft.com/office/drawing/2014/main" id="{D29C3881-E42C-43B7-A4A4-B0303DF4EDFB}"/>
              </a:ext>
            </a:extLst>
          </p:cNvPr>
          <p:cNvSpPr txBox="1"/>
          <p:nvPr/>
        </p:nvSpPr>
        <p:spPr>
          <a:xfrm>
            <a:off x="619433" y="4277032"/>
            <a:ext cx="2605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Remarks: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0059F05C-B685-4B25-AA2D-B55F6B6A8ADF}"/>
                  </a:ext>
                </a:extLst>
              </p:cNvPr>
              <p:cNvSpPr txBox="1"/>
              <p:nvPr/>
            </p:nvSpPr>
            <p:spPr>
              <a:xfrm>
                <a:off x="840247" y="4796182"/>
                <a:ext cx="7428682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Domain decomposition/Partition: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𝑅𝑒𝐿𝑈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altLang="zh-CN" b="0" dirty="0">
                  <a:latin typeface="Times New Roman" panose="02020603050405020304" pitchFamily="18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Maximum number of subdomains: (n + 1) </a:t>
                </a: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target function in each subdomain is approximated by a linear function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0059F05C-B685-4B25-AA2D-B55F6B6A8A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247" y="4796182"/>
                <a:ext cx="7428682" cy="1477328"/>
              </a:xfrm>
              <a:prstGeom prst="rect">
                <a:avLst/>
              </a:prstGeom>
              <a:blipFill>
                <a:blip r:embed="rId9"/>
                <a:stretch>
                  <a:fillRect l="-575" t="-2479" b="-578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文本框 1">
            <a:extLst>
              <a:ext uri="{FF2B5EF4-FFF2-40B4-BE49-F238E27FC236}">
                <a16:creationId xmlns:a16="http://schemas.microsoft.com/office/drawing/2014/main" id="{9D0A7A2B-369E-4044-AB6B-1E7088D71E69}"/>
              </a:ext>
            </a:extLst>
          </p:cNvPr>
          <p:cNvSpPr txBox="1"/>
          <p:nvPr/>
        </p:nvSpPr>
        <p:spPr>
          <a:xfrm>
            <a:off x="2667195" y="2144047"/>
            <a:ext cx="738664" cy="72144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lang="zh-CN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4570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2"/>
    </mc:Choice>
    <mc:Fallback xmlns="">
      <p:transition spd="slow" advTm="792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Training NNs is difficult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9CCEB176-2AB3-4775-8FD8-162A3C281E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1054" y="1391321"/>
            <a:ext cx="3010320" cy="211484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4F7F2721-8C79-466E-B420-24D804FE874F}"/>
                  </a:ext>
                </a:extLst>
              </p:cNvPr>
              <p:cNvSpPr txBox="1"/>
              <p:nvPr/>
            </p:nvSpPr>
            <p:spPr>
              <a:xfrm>
                <a:off x="1010266" y="1635124"/>
                <a:ext cx="1995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4F7F2721-8C79-466E-B420-24D804FE87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266" y="1635124"/>
                <a:ext cx="1995948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657A3B87-7622-4E37-9619-7D70438908B1}"/>
                  </a:ext>
                </a:extLst>
              </p:cNvPr>
              <p:cNvSpPr txBox="1"/>
              <p:nvPr/>
            </p:nvSpPr>
            <p:spPr>
              <a:xfrm>
                <a:off x="1010266" y="2737139"/>
                <a:ext cx="1995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657A3B87-7622-4E37-9619-7D7043890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266" y="2737139"/>
                <a:ext cx="199594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8F37554-AD8F-4103-9235-EE1FF294C293}"/>
                  </a:ext>
                </a:extLst>
              </p:cNvPr>
              <p:cNvSpPr txBox="1"/>
              <p:nvPr/>
            </p:nvSpPr>
            <p:spPr>
              <a:xfrm>
                <a:off x="2533855" y="1014231"/>
                <a:ext cx="28902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𝑅𝑒𝐿𝑈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8F37554-AD8F-4103-9235-EE1FF294C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3855" y="1014231"/>
                <a:ext cx="2890271" cy="369332"/>
              </a:xfrm>
              <a:prstGeom prst="rect">
                <a:avLst/>
              </a:prstGeom>
              <a:blipFill>
                <a:blip r:embed="rId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596BB49D-85FB-4E3E-B0E8-BE1C2783EBC9}"/>
                  </a:ext>
                </a:extLst>
              </p:cNvPr>
              <p:cNvSpPr txBox="1"/>
              <p:nvPr/>
            </p:nvSpPr>
            <p:spPr>
              <a:xfrm>
                <a:off x="2533855" y="3513924"/>
                <a:ext cx="28902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𝑅𝑒𝐿𝑈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596BB49D-85FB-4E3E-B0E8-BE1C2783EB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3855" y="3513924"/>
                <a:ext cx="2890271" cy="369332"/>
              </a:xfrm>
              <a:prstGeom prst="rect">
                <a:avLst/>
              </a:prstGeom>
              <a:blipFill>
                <a:blip r:embed="rId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08AF2811-DC4E-468F-A6B6-91BC46461B92}"/>
                  </a:ext>
                </a:extLst>
              </p:cNvPr>
              <p:cNvSpPr txBox="1"/>
              <p:nvPr/>
            </p:nvSpPr>
            <p:spPr>
              <a:xfrm>
                <a:off x="4031433" y="2072211"/>
                <a:ext cx="4403416" cy="7645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nary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08AF2811-DC4E-468F-A6B6-91BC46461B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1433" y="2072211"/>
                <a:ext cx="4403416" cy="76456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文本框 1">
            <a:extLst>
              <a:ext uri="{FF2B5EF4-FFF2-40B4-BE49-F238E27FC236}">
                <a16:creationId xmlns:a16="http://schemas.microsoft.com/office/drawing/2014/main" id="{9D0A7A2B-369E-4044-AB6B-1E7088D71E69}"/>
              </a:ext>
            </a:extLst>
          </p:cNvPr>
          <p:cNvSpPr txBox="1"/>
          <p:nvPr/>
        </p:nvSpPr>
        <p:spPr>
          <a:xfrm>
            <a:off x="2667195" y="2144047"/>
            <a:ext cx="738664" cy="72144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lang="zh-CN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2E070371-D063-4BB7-A274-10835AB634B2}"/>
              </a:ext>
            </a:extLst>
          </p:cNvPr>
          <p:cNvSpPr txBox="1"/>
          <p:nvPr/>
        </p:nvSpPr>
        <p:spPr>
          <a:xfrm>
            <a:off x="509028" y="4258892"/>
            <a:ext cx="3588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 a neural networks: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027DE7DB-474D-4EF1-934E-C8B9B6970156}"/>
                  </a:ext>
                </a:extLst>
              </p:cNvPr>
              <p:cNvSpPr txBox="1"/>
              <p:nvPr/>
            </p:nvSpPr>
            <p:spPr>
              <a:xfrm>
                <a:off x="840247" y="4796182"/>
                <a:ext cx="7428682" cy="14776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𝑅𝑒𝐿𝑈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altLang="zh-CN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CN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CN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altLang="zh-CN" b="0" dirty="0">
                  <a:latin typeface="Times New Roman" panose="02020603050405020304" pitchFamily="18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altLang="zh-CN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altLang="zh-CN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altLang="zh-CN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target function in each subdomain is approximated by a linear function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027DE7DB-474D-4EF1-934E-C8B9B69701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247" y="4796182"/>
                <a:ext cx="7428682" cy="1477649"/>
              </a:xfrm>
              <a:prstGeom prst="rect">
                <a:avLst/>
              </a:prstGeom>
              <a:blipFill>
                <a:blip r:embed="rId9"/>
                <a:stretch>
                  <a:fillRect l="-575" t="-826" b="-909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1894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2"/>
    </mc:Choice>
    <mc:Fallback xmlns="">
      <p:transition spd="slow" advTm="792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 err="1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ReLU</a:t>
            </a:r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 NN with a single hidden layer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87DF2FDF-B190-4518-8309-00AEEB23F7CE}"/>
                  </a:ext>
                </a:extLst>
              </p:cNvPr>
              <p:cNvSpPr txBox="1"/>
              <p:nvPr/>
            </p:nvSpPr>
            <p:spPr>
              <a:xfrm>
                <a:off x="495300" y="822813"/>
                <a:ext cx="4076700" cy="12890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exp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⁡(−100</m:t>
                    </m:r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−0.1</m:t>
                            </m:r>
                          </m:e>
                        </m:d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Training data: 101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Testing data: 1000</a:t>
                </a: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87DF2FDF-B190-4518-8309-00AEEB23F7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300" y="822813"/>
                <a:ext cx="4076700" cy="1289071"/>
              </a:xfrm>
              <a:prstGeom prst="rect">
                <a:avLst/>
              </a:prstGeom>
              <a:blipFill>
                <a:blip r:embed="rId3"/>
                <a:stretch>
                  <a:fillRect l="-897" b="-71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图片 6">
            <a:extLst>
              <a:ext uri="{FF2B5EF4-FFF2-40B4-BE49-F238E27FC236}">
                <a16:creationId xmlns:a16="http://schemas.microsoft.com/office/drawing/2014/main" id="{78B7841F-FB0A-47F9-BBD1-919CAA7405C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4177" y="2626135"/>
            <a:ext cx="3829885" cy="30639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DCC369F-C087-4554-A255-6BCD34615FA0}"/>
                  </a:ext>
                </a:extLst>
              </p:cNvPr>
              <p:cNvSpPr txBox="1"/>
              <p:nvPr/>
            </p:nvSpPr>
            <p:spPr>
              <a:xfrm>
                <a:off x="4325185" y="886539"/>
                <a:ext cx="4076700" cy="12920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𝑊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=201</m:t>
                    </m:r>
                  </m:oMath>
                </a14:m>
                <a:endParaRPr lang="en-US" altLang="zh-CN" b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Xavier initialization</a:t>
                </a:r>
                <a:endParaRPr lang="en-US" altLang="zh-CN" b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50000 steps: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10</m:t>
                        </m:r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−5</m:t>
                        </m:r>
                      </m:sup>
                    </m:sSup>
                  </m:oMath>
                </a14:m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DCC369F-C087-4554-A255-6BCD34615F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5185" y="886539"/>
                <a:ext cx="4076700" cy="1292020"/>
              </a:xfrm>
              <a:prstGeom prst="rect">
                <a:avLst/>
              </a:prstGeom>
              <a:blipFill>
                <a:blip r:embed="rId5"/>
                <a:stretch>
                  <a:fillRect l="-1048" b="-660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图片 10">
            <a:extLst>
              <a:ext uri="{FF2B5EF4-FFF2-40B4-BE49-F238E27FC236}">
                <a16:creationId xmlns:a16="http://schemas.microsoft.com/office/drawing/2014/main" id="{7A38B60A-05D9-4F93-BA4A-7795B0639FB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300" y="2626135"/>
            <a:ext cx="3829885" cy="3063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9118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2"/>
    </mc:Choice>
    <mc:Fallback xmlns="">
      <p:transition spd="slow" advTm="792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 err="1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ReLU</a:t>
            </a:r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 NN with a single hidden layer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87DF2FDF-B190-4518-8309-00AEEB23F7CE}"/>
                  </a:ext>
                </a:extLst>
              </p:cNvPr>
              <p:cNvSpPr txBox="1"/>
              <p:nvPr/>
            </p:nvSpPr>
            <p:spPr>
              <a:xfrm>
                <a:off x="495300" y="822813"/>
                <a:ext cx="4076700" cy="12890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exp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⁡(−100</m:t>
                    </m:r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−0.1</m:t>
                            </m:r>
                          </m:e>
                        </m:d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Training data: 101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Testing data: 1000</a:t>
                </a: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87DF2FDF-B190-4518-8309-00AEEB23F7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300" y="822813"/>
                <a:ext cx="4076700" cy="1289071"/>
              </a:xfrm>
              <a:prstGeom prst="rect">
                <a:avLst/>
              </a:prstGeom>
              <a:blipFill>
                <a:blip r:embed="rId3"/>
                <a:stretch>
                  <a:fillRect l="-897" b="-71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DCC369F-C087-4554-A255-6BCD34615FA0}"/>
                  </a:ext>
                </a:extLst>
              </p:cNvPr>
              <p:cNvSpPr txBox="1"/>
              <p:nvPr/>
            </p:nvSpPr>
            <p:spPr>
              <a:xfrm>
                <a:off x="4325185" y="1238503"/>
                <a:ext cx="4076700" cy="4576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𝑊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=201</m:t>
                    </m:r>
                  </m:oMath>
                </a14:m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DCC369F-C087-4554-A255-6BCD34615F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5185" y="1238503"/>
                <a:ext cx="4076700" cy="457689"/>
              </a:xfrm>
              <a:prstGeom prst="rect">
                <a:avLst/>
              </a:prstGeom>
              <a:blipFill>
                <a:blip r:embed="rId4"/>
                <a:stretch>
                  <a:fillRect l="-1048" b="-17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图片 12">
            <a:extLst>
              <a:ext uri="{FF2B5EF4-FFF2-40B4-BE49-F238E27FC236}">
                <a16:creationId xmlns:a16="http://schemas.microsoft.com/office/drawing/2014/main" id="{92943A56-4459-4734-AA53-93BAFBCFFE9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875" y="2178559"/>
            <a:ext cx="2988171" cy="2390537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CBCE5BBE-1106-4234-B627-A608F379AD9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4783" y="2178558"/>
            <a:ext cx="2988173" cy="2390538"/>
          </a:xfrm>
          <a:prstGeom prst="rect">
            <a:avLst/>
          </a:prstGeom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4D27B34C-FA2E-48EC-88C5-BACF7405E97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5754" y="2178556"/>
            <a:ext cx="2988171" cy="2390537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8C44FCCC-751B-4E63-B3CD-653F6A8E9B4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5643" y="4471838"/>
            <a:ext cx="2844701" cy="2275761"/>
          </a:xfrm>
          <a:prstGeom prst="rect">
            <a:avLst/>
          </a:prstGeom>
        </p:spPr>
      </p:pic>
      <p:pic>
        <p:nvPicPr>
          <p:cNvPr id="24" name="图片 23">
            <a:extLst>
              <a:ext uri="{FF2B5EF4-FFF2-40B4-BE49-F238E27FC236}">
                <a16:creationId xmlns:a16="http://schemas.microsoft.com/office/drawing/2014/main" id="{8A59E8C7-23B8-4211-A2A7-A5069172B6A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5585" y="4481616"/>
            <a:ext cx="2809101" cy="2247281"/>
          </a:xfrm>
          <a:prstGeom prst="rect">
            <a:avLst/>
          </a:prstGeom>
        </p:spPr>
      </p:pic>
      <p:sp>
        <p:nvSpPr>
          <p:cNvPr id="25" name="文本框 24">
            <a:extLst>
              <a:ext uri="{FF2B5EF4-FFF2-40B4-BE49-F238E27FC236}">
                <a16:creationId xmlns:a16="http://schemas.microsoft.com/office/drawing/2014/main" id="{18CECE62-77C6-4763-BC01-68C1B7007050}"/>
              </a:ext>
            </a:extLst>
          </p:cNvPr>
          <p:cNvSpPr txBox="1"/>
          <p:nvPr/>
        </p:nvSpPr>
        <p:spPr>
          <a:xfrm>
            <a:off x="722560" y="2647137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step: 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FC39987-FBAF-47E3-AC16-81B9C28F52A2}"/>
              </a:ext>
            </a:extLst>
          </p:cNvPr>
          <p:cNvSpPr txBox="1"/>
          <p:nvPr/>
        </p:nvSpPr>
        <p:spPr>
          <a:xfrm>
            <a:off x="3604467" y="2680085"/>
            <a:ext cx="15485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step: 100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F38EC8EC-BD3F-4F6E-9F85-007185C59791}"/>
              </a:ext>
            </a:extLst>
          </p:cNvPr>
          <p:cNvSpPr txBox="1"/>
          <p:nvPr/>
        </p:nvSpPr>
        <p:spPr>
          <a:xfrm>
            <a:off x="6626500" y="2689864"/>
            <a:ext cx="15485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step: 200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3F803FDF-4101-42CE-B068-39DF90F7A83D}"/>
              </a:ext>
            </a:extLst>
          </p:cNvPr>
          <p:cNvSpPr txBox="1"/>
          <p:nvPr/>
        </p:nvSpPr>
        <p:spPr>
          <a:xfrm>
            <a:off x="2250504" y="4866796"/>
            <a:ext cx="15485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step: 300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EB7446A8-902F-46A7-8FBE-B799AE7A51B4}"/>
              </a:ext>
            </a:extLst>
          </p:cNvPr>
          <p:cNvSpPr txBox="1"/>
          <p:nvPr/>
        </p:nvSpPr>
        <p:spPr>
          <a:xfrm>
            <a:off x="5344939" y="4866796"/>
            <a:ext cx="15485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step: 2000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6425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2"/>
    </mc:Choice>
    <mc:Fallback xmlns="">
      <p:transition spd="slow" advTm="792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 err="1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ReLU</a:t>
            </a:r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 NN with a single hidden layer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87DF2FDF-B190-4518-8309-00AEEB23F7CE}"/>
                  </a:ext>
                </a:extLst>
              </p:cNvPr>
              <p:cNvSpPr txBox="1"/>
              <p:nvPr/>
            </p:nvSpPr>
            <p:spPr>
              <a:xfrm>
                <a:off x="495300" y="822813"/>
                <a:ext cx="4076700" cy="12890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exp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⁡(−100</m:t>
                    </m:r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−0.5</m:t>
                            </m:r>
                          </m:e>
                        </m:d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Training data: 101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Testing data: 1000</a:t>
                </a: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87DF2FDF-B190-4518-8309-00AEEB23F7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300" y="822813"/>
                <a:ext cx="4076700" cy="1289071"/>
              </a:xfrm>
              <a:prstGeom prst="rect">
                <a:avLst/>
              </a:prstGeom>
              <a:blipFill>
                <a:blip r:embed="rId3"/>
                <a:stretch>
                  <a:fillRect l="-897" b="-71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DCC369F-C087-4554-A255-6BCD34615FA0}"/>
                  </a:ext>
                </a:extLst>
              </p:cNvPr>
              <p:cNvSpPr txBox="1"/>
              <p:nvPr/>
            </p:nvSpPr>
            <p:spPr>
              <a:xfrm>
                <a:off x="4256359" y="889873"/>
                <a:ext cx="407670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𝑊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=201</m:t>
                    </m:r>
                  </m:oMath>
                </a14:m>
                <a:endParaRPr lang="en-US" altLang="zh-CN" b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zh-CN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Xavier initialization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50000 steps: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10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DCC369F-C087-4554-A255-6BCD34615F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6359" y="889873"/>
                <a:ext cx="4076700" cy="1288686"/>
              </a:xfrm>
              <a:prstGeom prst="rect">
                <a:avLst/>
              </a:prstGeom>
              <a:blipFill>
                <a:blip r:embed="rId4"/>
                <a:stretch>
                  <a:fillRect l="-897" b="-71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图片 8">
            <a:extLst>
              <a:ext uri="{FF2B5EF4-FFF2-40B4-BE49-F238E27FC236}">
                <a16:creationId xmlns:a16="http://schemas.microsoft.com/office/drawing/2014/main" id="{46BB498F-1508-4723-BD7C-9B0147CFF96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707" y="2687479"/>
            <a:ext cx="3829885" cy="306390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F7B3A414-35E8-4331-AB17-404950D98E6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2687479"/>
            <a:ext cx="3829885" cy="3063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910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2"/>
    </mc:Choice>
    <mc:Fallback xmlns="">
      <p:transition spd="slow" advTm="792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图片 18">
            <a:extLst>
              <a:ext uri="{FF2B5EF4-FFF2-40B4-BE49-F238E27FC236}">
                <a16:creationId xmlns:a16="http://schemas.microsoft.com/office/drawing/2014/main" id="{7F4B798F-5673-4BC2-8C26-B151F196DC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8721" y="4580749"/>
            <a:ext cx="2818319" cy="2254655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07F32D0B-1115-48D2-930C-A41DBCDEF9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6959" y="4538696"/>
            <a:ext cx="2899130" cy="2319303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06BCF545-0E88-4CC9-8B6C-6A8F4C22838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2685" y="2195020"/>
            <a:ext cx="3031410" cy="2425128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60D1F075-B1F7-4FED-85A5-5071D17372E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2765" y="2184885"/>
            <a:ext cx="3044080" cy="243526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FC61103D-C707-499F-8908-7CC99B502BE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55" y="2137741"/>
            <a:ext cx="3103009" cy="2482407"/>
          </a:xfrm>
          <a:prstGeom prst="rect">
            <a:avLst/>
          </a:prstGeom>
        </p:spPr>
      </p:pic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 err="1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ReLU</a:t>
            </a:r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 NN with a single hidden layer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87DF2FDF-B190-4518-8309-00AEEB23F7CE}"/>
                  </a:ext>
                </a:extLst>
              </p:cNvPr>
              <p:cNvSpPr txBox="1"/>
              <p:nvPr/>
            </p:nvSpPr>
            <p:spPr>
              <a:xfrm>
                <a:off x="495300" y="822813"/>
                <a:ext cx="4076700" cy="12890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exp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⁡(−100</m:t>
                    </m:r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−0.5</m:t>
                            </m:r>
                          </m:e>
                        </m:d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Training data: 101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Testing data: 1000</a:t>
                </a: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87DF2FDF-B190-4518-8309-00AEEB23F7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300" y="822813"/>
                <a:ext cx="4076700" cy="1289071"/>
              </a:xfrm>
              <a:prstGeom prst="rect">
                <a:avLst/>
              </a:prstGeom>
              <a:blipFill>
                <a:blip r:embed="rId8"/>
                <a:stretch>
                  <a:fillRect l="-897" b="-71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DCC369F-C087-4554-A255-6BCD34615FA0}"/>
                  </a:ext>
                </a:extLst>
              </p:cNvPr>
              <p:cNvSpPr txBox="1"/>
              <p:nvPr/>
            </p:nvSpPr>
            <p:spPr>
              <a:xfrm>
                <a:off x="4325185" y="1238503"/>
                <a:ext cx="4076700" cy="4576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𝑊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=201</m:t>
                    </m:r>
                  </m:oMath>
                </a14:m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DCC369F-C087-4554-A255-6BCD34615F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5185" y="1238503"/>
                <a:ext cx="4076700" cy="457689"/>
              </a:xfrm>
              <a:prstGeom prst="rect">
                <a:avLst/>
              </a:prstGeom>
              <a:blipFill>
                <a:blip r:embed="rId9"/>
                <a:stretch>
                  <a:fillRect l="-1048" b="-17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文本框 24">
            <a:extLst>
              <a:ext uri="{FF2B5EF4-FFF2-40B4-BE49-F238E27FC236}">
                <a16:creationId xmlns:a16="http://schemas.microsoft.com/office/drawing/2014/main" id="{18CECE62-77C6-4763-BC01-68C1B7007050}"/>
              </a:ext>
            </a:extLst>
          </p:cNvPr>
          <p:cNvSpPr txBox="1"/>
          <p:nvPr/>
        </p:nvSpPr>
        <p:spPr>
          <a:xfrm>
            <a:off x="722560" y="2647137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step: 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FC39987-FBAF-47E3-AC16-81B9C28F52A2}"/>
              </a:ext>
            </a:extLst>
          </p:cNvPr>
          <p:cNvSpPr txBox="1"/>
          <p:nvPr/>
        </p:nvSpPr>
        <p:spPr>
          <a:xfrm>
            <a:off x="3604467" y="2680085"/>
            <a:ext cx="15485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step: 100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F38EC8EC-BD3F-4F6E-9F85-007185C59791}"/>
              </a:ext>
            </a:extLst>
          </p:cNvPr>
          <p:cNvSpPr txBox="1"/>
          <p:nvPr/>
        </p:nvSpPr>
        <p:spPr>
          <a:xfrm>
            <a:off x="6626500" y="2689864"/>
            <a:ext cx="15485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step: 200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3F803FDF-4101-42CE-B068-39DF90F7A83D}"/>
              </a:ext>
            </a:extLst>
          </p:cNvPr>
          <p:cNvSpPr txBox="1"/>
          <p:nvPr/>
        </p:nvSpPr>
        <p:spPr>
          <a:xfrm>
            <a:off x="2250504" y="4866796"/>
            <a:ext cx="15485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step: 300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EB7446A8-902F-46A7-8FBE-B799AE7A51B4}"/>
              </a:ext>
            </a:extLst>
          </p:cNvPr>
          <p:cNvSpPr txBox="1"/>
          <p:nvPr/>
        </p:nvSpPr>
        <p:spPr>
          <a:xfrm>
            <a:off x="5344939" y="4866796"/>
            <a:ext cx="15485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step: 50000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7749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2"/>
    </mc:Choice>
    <mc:Fallback xmlns="">
      <p:transition spd="slow" advTm="792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 err="1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ReLU</a:t>
            </a:r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 NN with a single hidden layer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87DF2FDF-B190-4518-8309-00AEEB23F7CE}"/>
                  </a:ext>
                </a:extLst>
              </p:cNvPr>
              <p:cNvSpPr txBox="1"/>
              <p:nvPr/>
            </p:nvSpPr>
            <p:spPr>
              <a:xfrm>
                <a:off x="495300" y="822813"/>
                <a:ext cx="4076700" cy="12890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exp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⁡(−100</m:t>
                    </m:r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−0.5</m:t>
                            </m:r>
                          </m:e>
                        </m:d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Training data: 101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Testing data: 1000</a:t>
                </a: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87DF2FDF-B190-4518-8309-00AEEB23F7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300" y="822813"/>
                <a:ext cx="4076700" cy="1289071"/>
              </a:xfrm>
              <a:prstGeom prst="rect">
                <a:avLst/>
              </a:prstGeom>
              <a:blipFill>
                <a:blip r:embed="rId3"/>
                <a:stretch>
                  <a:fillRect l="-897" b="-71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DCC369F-C087-4554-A255-6BCD34615FA0}"/>
                  </a:ext>
                </a:extLst>
              </p:cNvPr>
              <p:cNvSpPr txBox="1"/>
              <p:nvPr/>
            </p:nvSpPr>
            <p:spPr>
              <a:xfrm>
                <a:off x="4325185" y="1238503"/>
                <a:ext cx="4076700" cy="4576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𝑊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=201</m:t>
                    </m:r>
                  </m:oMath>
                </a14:m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DCC369F-C087-4554-A255-6BCD34615F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5185" y="1238503"/>
                <a:ext cx="4076700" cy="457689"/>
              </a:xfrm>
              <a:prstGeom prst="rect">
                <a:avLst/>
              </a:prstGeom>
              <a:blipFill>
                <a:blip r:embed="rId4"/>
                <a:stretch>
                  <a:fillRect l="-1048" b="-17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组合 1">
            <a:extLst>
              <a:ext uri="{FF2B5EF4-FFF2-40B4-BE49-F238E27FC236}">
                <a16:creationId xmlns:a16="http://schemas.microsoft.com/office/drawing/2014/main" id="{7EC369B1-3D56-48BE-BB33-80CC765105B0}"/>
              </a:ext>
            </a:extLst>
          </p:cNvPr>
          <p:cNvGrpSpPr/>
          <p:nvPr/>
        </p:nvGrpSpPr>
        <p:grpSpPr>
          <a:xfrm>
            <a:off x="342863" y="2801614"/>
            <a:ext cx="3757189" cy="2911431"/>
            <a:chOff x="4688721" y="4580749"/>
            <a:chExt cx="2818319" cy="2254655"/>
          </a:xfrm>
        </p:grpSpPr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7F4B798F-5673-4BC2-8C26-B151F196DC7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88721" y="4580749"/>
              <a:ext cx="2818319" cy="2254655"/>
            </a:xfrm>
            <a:prstGeom prst="rect">
              <a:avLst/>
            </a:prstGeom>
          </p:spPr>
        </p:pic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EB7446A8-902F-46A7-8FBE-B799AE7A51B4}"/>
                </a:ext>
              </a:extLst>
            </p:cNvPr>
            <p:cNvSpPr txBox="1"/>
            <p:nvPr/>
          </p:nvSpPr>
          <p:spPr>
            <a:xfrm>
              <a:off x="5344939" y="4866796"/>
              <a:ext cx="154855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step: 50000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4" name="图片 3">
            <a:extLst>
              <a:ext uri="{FF2B5EF4-FFF2-40B4-BE49-F238E27FC236}">
                <a16:creationId xmlns:a16="http://schemas.microsoft.com/office/drawing/2014/main" id="{119A9145-C4C5-4E90-9E88-E88DA53FA5D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2978" y="2801614"/>
            <a:ext cx="3520199" cy="2816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05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2"/>
    </mc:Choice>
    <mc:Fallback xmlns="">
      <p:transition spd="slow" advTm="792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 err="1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ReLU</a:t>
            </a:r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 NN with a single hidden layer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87DF2FDF-B190-4518-8309-00AEEB23F7CE}"/>
                  </a:ext>
                </a:extLst>
              </p:cNvPr>
              <p:cNvSpPr txBox="1"/>
              <p:nvPr/>
            </p:nvSpPr>
            <p:spPr>
              <a:xfrm>
                <a:off x="495300" y="822813"/>
                <a:ext cx="4076700" cy="12890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exp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⁡(−100</m:t>
                    </m:r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−0.5</m:t>
                            </m:r>
                          </m:e>
                        </m:d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Training data: 101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Testing data: 1000</a:t>
                </a: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87DF2FDF-B190-4518-8309-00AEEB23F7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300" y="822813"/>
                <a:ext cx="4076700" cy="1289071"/>
              </a:xfrm>
              <a:prstGeom prst="rect">
                <a:avLst/>
              </a:prstGeom>
              <a:blipFill>
                <a:blip r:embed="rId3"/>
                <a:stretch>
                  <a:fillRect l="-897" b="-71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DCC369F-C087-4554-A255-6BCD34615FA0}"/>
                  </a:ext>
                </a:extLst>
              </p:cNvPr>
              <p:cNvSpPr txBox="1"/>
              <p:nvPr/>
            </p:nvSpPr>
            <p:spPr>
              <a:xfrm>
                <a:off x="4325185" y="886539"/>
                <a:ext cx="4076700" cy="12920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𝑊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=201</m:t>
                    </m:r>
                  </m:oMath>
                </a14:m>
                <a:endParaRPr lang="en-US" altLang="zh-CN" b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𝑏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=−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𝑤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en-US" altLang="zh-CN" b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50000 steps: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10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5</m:t>
                        </m:r>
                      </m:sup>
                    </m:sSup>
                  </m:oMath>
                </a14:m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DCC369F-C087-4554-A255-6BCD34615F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5185" y="886539"/>
                <a:ext cx="4076700" cy="1292020"/>
              </a:xfrm>
              <a:prstGeom prst="rect">
                <a:avLst/>
              </a:prstGeom>
              <a:blipFill>
                <a:blip r:embed="rId4"/>
                <a:stretch>
                  <a:fillRect l="-1048" b="-660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图片 2">
            <a:extLst>
              <a:ext uri="{FF2B5EF4-FFF2-40B4-BE49-F238E27FC236}">
                <a16:creationId xmlns:a16="http://schemas.microsoft.com/office/drawing/2014/main" id="{43AEA169-2974-4F2C-84C4-3A359C3F0EB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1029" y="2576052"/>
            <a:ext cx="3770856" cy="3016684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89048955-FA59-4899-B1AF-2E65DD87C82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300" y="2599773"/>
            <a:ext cx="3770856" cy="3016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1332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2"/>
    </mc:Choice>
    <mc:Fallback xmlns="">
      <p:transition spd="slow" advTm="792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图片 17">
            <a:extLst>
              <a:ext uri="{FF2B5EF4-FFF2-40B4-BE49-F238E27FC236}">
                <a16:creationId xmlns:a16="http://schemas.microsoft.com/office/drawing/2014/main" id="{7793B49C-B948-48DA-A1DF-00D601D82E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2121" y="4518867"/>
            <a:ext cx="2863653" cy="2290922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6DDF56BC-7F13-4459-8350-BE3EBCED94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6164" y="4490979"/>
            <a:ext cx="2821294" cy="2257035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442E35CC-C406-4B07-BDE3-34AF788A188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620" y="2228920"/>
            <a:ext cx="3000200" cy="240016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264289B3-D28A-427E-9B55-3CB07DED047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0201" y="2228920"/>
            <a:ext cx="3000201" cy="2400161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A1254BDB-F973-48E9-9AEA-7887A02FD14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28920"/>
            <a:ext cx="3000202" cy="2400161"/>
          </a:xfrm>
          <a:prstGeom prst="rect">
            <a:avLst/>
          </a:prstGeom>
        </p:spPr>
      </p:pic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 err="1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ReLU</a:t>
            </a:r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 NN with a single hidden layer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87DF2FDF-B190-4518-8309-00AEEB23F7CE}"/>
                  </a:ext>
                </a:extLst>
              </p:cNvPr>
              <p:cNvSpPr txBox="1"/>
              <p:nvPr/>
            </p:nvSpPr>
            <p:spPr>
              <a:xfrm>
                <a:off x="495300" y="822813"/>
                <a:ext cx="4076700" cy="12890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exp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⁡(−100</m:t>
                    </m:r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−0.5</m:t>
                            </m:r>
                          </m:e>
                        </m:d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Training data: 101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Testing data: 1000</a:t>
                </a: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87DF2FDF-B190-4518-8309-00AEEB23F7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300" y="822813"/>
                <a:ext cx="4076700" cy="1289071"/>
              </a:xfrm>
              <a:prstGeom prst="rect">
                <a:avLst/>
              </a:prstGeom>
              <a:blipFill>
                <a:blip r:embed="rId8"/>
                <a:stretch>
                  <a:fillRect l="-897" b="-71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DCC369F-C087-4554-A255-6BCD34615FA0}"/>
                  </a:ext>
                </a:extLst>
              </p:cNvPr>
              <p:cNvSpPr txBox="1"/>
              <p:nvPr/>
            </p:nvSpPr>
            <p:spPr>
              <a:xfrm>
                <a:off x="4325185" y="1238503"/>
                <a:ext cx="4076700" cy="4576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𝑊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=201</m:t>
                    </m:r>
                  </m:oMath>
                </a14:m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DCC369F-C087-4554-A255-6BCD34615F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5185" y="1238503"/>
                <a:ext cx="4076700" cy="457689"/>
              </a:xfrm>
              <a:prstGeom prst="rect">
                <a:avLst/>
              </a:prstGeom>
              <a:blipFill>
                <a:blip r:embed="rId9"/>
                <a:stretch>
                  <a:fillRect l="-1048" b="-17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文本框 24">
            <a:extLst>
              <a:ext uri="{FF2B5EF4-FFF2-40B4-BE49-F238E27FC236}">
                <a16:creationId xmlns:a16="http://schemas.microsoft.com/office/drawing/2014/main" id="{18CECE62-77C6-4763-BC01-68C1B7007050}"/>
              </a:ext>
            </a:extLst>
          </p:cNvPr>
          <p:cNvSpPr txBox="1"/>
          <p:nvPr/>
        </p:nvSpPr>
        <p:spPr>
          <a:xfrm>
            <a:off x="722560" y="2647137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step: 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FC39987-FBAF-47E3-AC16-81B9C28F52A2}"/>
              </a:ext>
            </a:extLst>
          </p:cNvPr>
          <p:cNvSpPr txBox="1"/>
          <p:nvPr/>
        </p:nvSpPr>
        <p:spPr>
          <a:xfrm>
            <a:off x="3604467" y="2680085"/>
            <a:ext cx="15485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step: 100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F38EC8EC-BD3F-4F6E-9F85-007185C59791}"/>
              </a:ext>
            </a:extLst>
          </p:cNvPr>
          <p:cNvSpPr txBox="1"/>
          <p:nvPr/>
        </p:nvSpPr>
        <p:spPr>
          <a:xfrm>
            <a:off x="6626500" y="2689864"/>
            <a:ext cx="15485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step: 200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3F803FDF-4101-42CE-B068-39DF90F7A83D}"/>
              </a:ext>
            </a:extLst>
          </p:cNvPr>
          <p:cNvSpPr txBox="1"/>
          <p:nvPr/>
        </p:nvSpPr>
        <p:spPr>
          <a:xfrm>
            <a:off x="2250504" y="4866796"/>
            <a:ext cx="15485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step: 300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EB7446A8-902F-46A7-8FBE-B799AE7A51B4}"/>
              </a:ext>
            </a:extLst>
          </p:cNvPr>
          <p:cNvSpPr txBox="1"/>
          <p:nvPr/>
        </p:nvSpPr>
        <p:spPr>
          <a:xfrm>
            <a:off x="5344939" y="4866796"/>
            <a:ext cx="15485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step: 50000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90702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2"/>
    </mc:Choice>
    <mc:Fallback xmlns="">
      <p:transition spd="slow" advTm="792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 err="1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ReLU</a:t>
            </a:r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 NN with a single hidden layer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87DF2FDF-B190-4518-8309-00AEEB23F7CE}"/>
                  </a:ext>
                </a:extLst>
              </p:cNvPr>
              <p:cNvSpPr txBox="1"/>
              <p:nvPr/>
            </p:nvSpPr>
            <p:spPr>
              <a:xfrm>
                <a:off x="495300" y="822813"/>
                <a:ext cx="4076700" cy="12890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exp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⁡(−100</m:t>
                    </m:r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−0.5</m:t>
                            </m:r>
                          </m:e>
                        </m:d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Training data: 101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Testing data: 1000</a:t>
                </a: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87DF2FDF-B190-4518-8309-00AEEB23F7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300" y="822813"/>
                <a:ext cx="4076700" cy="1289071"/>
              </a:xfrm>
              <a:prstGeom prst="rect">
                <a:avLst/>
              </a:prstGeom>
              <a:blipFill>
                <a:blip r:embed="rId3"/>
                <a:stretch>
                  <a:fillRect l="-897" b="-71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DCC369F-C087-4554-A255-6BCD34615FA0}"/>
                  </a:ext>
                </a:extLst>
              </p:cNvPr>
              <p:cNvSpPr txBox="1"/>
              <p:nvPr/>
            </p:nvSpPr>
            <p:spPr>
              <a:xfrm>
                <a:off x="4325185" y="1238503"/>
                <a:ext cx="4076700" cy="4576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𝑊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=201</m:t>
                    </m:r>
                  </m:oMath>
                </a14:m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DCC369F-C087-4554-A255-6BCD34615F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5185" y="1238503"/>
                <a:ext cx="4076700" cy="457689"/>
              </a:xfrm>
              <a:prstGeom prst="rect">
                <a:avLst/>
              </a:prstGeom>
              <a:blipFill>
                <a:blip r:embed="rId4"/>
                <a:stretch>
                  <a:fillRect l="-1048" b="-17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图片 8">
            <a:extLst>
              <a:ext uri="{FF2B5EF4-FFF2-40B4-BE49-F238E27FC236}">
                <a16:creationId xmlns:a16="http://schemas.microsoft.com/office/drawing/2014/main" id="{E20EC861-A2D2-404E-AE95-3D1DE3DAD44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283" y="2682750"/>
            <a:ext cx="3722614" cy="2978091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D5070669-B7C6-4BD8-B096-A356A4EDACC8}"/>
              </a:ext>
            </a:extLst>
          </p:cNvPr>
          <p:cNvSpPr txBox="1"/>
          <p:nvPr/>
        </p:nvSpPr>
        <p:spPr>
          <a:xfrm>
            <a:off x="985093" y="3059668"/>
            <a:ext cx="15485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step: 50000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B7C164A-3E10-4E63-B091-D945001BF02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2682750"/>
            <a:ext cx="3722614" cy="2978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93684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2"/>
    </mc:Choice>
    <mc:Fallback xmlns="">
      <p:transition spd="slow" advTm="792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87EB7682-BD29-4BEB-92E2-8823C47A99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9945" y="2734112"/>
            <a:ext cx="3451306" cy="3152844"/>
          </a:xfrm>
          <a:prstGeom prst="rect">
            <a:avLst/>
          </a:prstGeom>
        </p:spPr>
      </p:pic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 err="1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ReLU</a:t>
            </a:r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 NN with a single hidden layer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87DF2FDF-B190-4518-8309-00AEEB23F7CE}"/>
                  </a:ext>
                </a:extLst>
              </p:cNvPr>
              <p:cNvSpPr txBox="1"/>
              <p:nvPr/>
            </p:nvSpPr>
            <p:spPr>
              <a:xfrm>
                <a:off x="495300" y="822813"/>
                <a:ext cx="4076700" cy="12890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exp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⁡(−100</m:t>
                    </m:r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−0.5</m:t>
                            </m:r>
                          </m:e>
                        </m:d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Training data: 101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Testing data: 1000</a:t>
                </a: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87DF2FDF-B190-4518-8309-00AEEB23F7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300" y="822813"/>
                <a:ext cx="4076700" cy="1289071"/>
              </a:xfrm>
              <a:prstGeom prst="rect">
                <a:avLst/>
              </a:prstGeom>
              <a:blipFill>
                <a:blip r:embed="rId4"/>
                <a:stretch>
                  <a:fillRect l="-897" b="-71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DCC369F-C087-4554-A255-6BCD34615FA0}"/>
                  </a:ext>
                </a:extLst>
              </p:cNvPr>
              <p:cNvSpPr txBox="1"/>
              <p:nvPr/>
            </p:nvSpPr>
            <p:spPr>
              <a:xfrm>
                <a:off x="4325185" y="1029087"/>
                <a:ext cx="4076700" cy="8735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𝑊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=201</m:t>
                    </m:r>
                  </m:oMath>
                </a14:m>
                <a:endParaRPr lang="en-US" altLang="zh-CN" b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𝑏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=−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𝑤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𝑐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𝑐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=0.5</m:t>
                    </m:r>
                  </m:oMath>
                </a14:m>
                <a:endParaRPr lang="en-US" altLang="zh-CN" b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DCC369F-C087-4554-A255-6BCD34615F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5185" y="1029087"/>
                <a:ext cx="4076700" cy="873572"/>
              </a:xfrm>
              <a:prstGeom prst="rect">
                <a:avLst/>
              </a:prstGeom>
              <a:blipFill>
                <a:blip r:embed="rId5"/>
                <a:stretch>
                  <a:fillRect l="-1048" b="-83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图片 3">
            <a:extLst>
              <a:ext uri="{FF2B5EF4-FFF2-40B4-BE49-F238E27FC236}">
                <a16:creationId xmlns:a16="http://schemas.microsoft.com/office/drawing/2014/main" id="{F7AA4D4F-DEEF-4195-85BB-AAA8B736DE4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300" y="2930012"/>
            <a:ext cx="3451306" cy="276104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FDEA27AC-0CDF-4423-963B-D0C01B9A980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7881" y="2930011"/>
            <a:ext cx="3451307" cy="2761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1475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2"/>
    </mc:Choice>
    <mc:Fallback xmlns="">
      <p:transition spd="slow" advTm="792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图片 18">
            <a:extLst>
              <a:ext uri="{FF2B5EF4-FFF2-40B4-BE49-F238E27FC236}">
                <a16:creationId xmlns:a16="http://schemas.microsoft.com/office/drawing/2014/main" id="{C09E6D95-E02C-4EDD-AF68-9FBDFD209B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1583" y="4760148"/>
            <a:ext cx="2622315" cy="2097852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39F88B01-B83C-4297-8F9C-96A06A61DD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4106" y="4793137"/>
            <a:ext cx="2581079" cy="2064863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1134CAAA-4CDE-4844-9D89-209F2A23684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57716" y="2401310"/>
            <a:ext cx="3075457" cy="246036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7C4DAC7C-A61F-48C7-8405-BD4EECC623A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1815" y="2403871"/>
            <a:ext cx="3075457" cy="2460365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3A47DC0C-CCBC-498A-9D8E-EDCA4BD55E4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05151"/>
            <a:ext cx="3075456" cy="2460365"/>
          </a:xfrm>
          <a:prstGeom prst="rect">
            <a:avLst/>
          </a:prstGeom>
        </p:spPr>
      </p:pic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 err="1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ReLU</a:t>
            </a:r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 NN with a single hidden layer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87DF2FDF-B190-4518-8309-00AEEB23F7CE}"/>
                  </a:ext>
                </a:extLst>
              </p:cNvPr>
              <p:cNvSpPr txBox="1"/>
              <p:nvPr/>
            </p:nvSpPr>
            <p:spPr>
              <a:xfrm>
                <a:off x="495300" y="822813"/>
                <a:ext cx="4076700" cy="12890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exp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⁡(−100</m:t>
                    </m:r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−0.5</m:t>
                            </m:r>
                          </m:e>
                        </m:d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Training data: 101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Testing data: 1000</a:t>
                </a: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87DF2FDF-B190-4518-8309-00AEEB23F7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300" y="822813"/>
                <a:ext cx="4076700" cy="1289071"/>
              </a:xfrm>
              <a:prstGeom prst="rect">
                <a:avLst/>
              </a:prstGeom>
              <a:blipFill>
                <a:blip r:embed="rId8"/>
                <a:stretch>
                  <a:fillRect l="-897" b="-71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DCC369F-C087-4554-A255-6BCD34615FA0}"/>
                  </a:ext>
                </a:extLst>
              </p:cNvPr>
              <p:cNvSpPr txBox="1"/>
              <p:nvPr/>
            </p:nvSpPr>
            <p:spPr>
              <a:xfrm>
                <a:off x="4325185" y="1238503"/>
                <a:ext cx="4076700" cy="4576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𝑤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=201</m:t>
                    </m:r>
                  </m:oMath>
                </a14:m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DCC369F-C087-4554-A255-6BCD34615F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5185" y="1238503"/>
                <a:ext cx="4076700" cy="457689"/>
              </a:xfrm>
              <a:prstGeom prst="rect">
                <a:avLst/>
              </a:prstGeom>
              <a:blipFill>
                <a:blip r:embed="rId9"/>
                <a:stretch>
                  <a:fillRect l="-1048" b="-17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文本框 24">
            <a:extLst>
              <a:ext uri="{FF2B5EF4-FFF2-40B4-BE49-F238E27FC236}">
                <a16:creationId xmlns:a16="http://schemas.microsoft.com/office/drawing/2014/main" id="{18CECE62-77C6-4763-BC01-68C1B7007050}"/>
              </a:ext>
            </a:extLst>
          </p:cNvPr>
          <p:cNvSpPr txBox="1"/>
          <p:nvPr/>
        </p:nvSpPr>
        <p:spPr>
          <a:xfrm>
            <a:off x="722560" y="2647137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step: 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FC39987-FBAF-47E3-AC16-81B9C28F52A2}"/>
              </a:ext>
            </a:extLst>
          </p:cNvPr>
          <p:cNvSpPr txBox="1"/>
          <p:nvPr/>
        </p:nvSpPr>
        <p:spPr>
          <a:xfrm>
            <a:off x="3604467" y="2680085"/>
            <a:ext cx="15485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step: 100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F38EC8EC-BD3F-4F6E-9F85-007185C59791}"/>
              </a:ext>
            </a:extLst>
          </p:cNvPr>
          <p:cNvSpPr txBox="1"/>
          <p:nvPr/>
        </p:nvSpPr>
        <p:spPr>
          <a:xfrm>
            <a:off x="6626500" y="2689864"/>
            <a:ext cx="15485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step: 200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3F803FDF-4101-42CE-B068-39DF90F7A83D}"/>
              </a:ext>
            </a:extLst>
          </p:cNvPr>
          <p:cNvSpPr txBox="1"/>
          <p:nvPr/>
        </p:nvSpPr>
        <p:spPr>
          <a:xfrm>
            <a:off x="2250504" y="4866796"/>
            <a:ext cx="15485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step: 300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EB7446A8-902F-46A7-8FBE-B799AE7A51B4}"/>
              </a:ext>
            </a:extLst>
          </p:cNvPr>
          <p:cNvSpPr txBox="1"/>
          <p:nvPr/>
        </p:nvSpPr>
        <p:spPr>
          <a:xfrm>
            <a:off x="5344939" y="4866796"/>
            <a:ext cx="15485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step: 50000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28873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2"/>
    </mc:Choice>
    <mc:Fallback xmlns="">
      <p:transition spd="slow" advTm="792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>
            <a:extLst>
              <a:ext uri="{FF2B5EF4-FFF2-40B4-BE49-F238E27FC236}">
                <a16:creationId xmlns:a16="http://schemas.microsoft.com/office/drawing/2014/main" id="{77C713F7-7E9A-4FDE-A86D-081B6BE431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314" y="2682751"/>
            <a:ext cx="3553723" cy="2842978"/>
          </a:xfrm>
          <a:prstGeom prst="rect">
            <a:avLst/>
          </a:prstGeom>
        </p:spPr>
      </p:pic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 err="1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ReLU</a:t>
            </a:r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 NN with a single hidden layer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87DF2FDF-B190-4518-8309-00AEEB23F7CE}"/>
                  </a:ext>
                </a:extLst>
              </p:cNvPr>
              <p:cNvSpPr txBox="1"/>
              <p:nvPr/>
            </p:nvSpPr>
            <p:spPr>
              <a:xfrm>
                <a:off x="495300" y="822813"/>
                <a:ext cx="4076700" cy="12890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exp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⁡(−100</m:t>
                    </m:r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−0.5</m:t>
                            </m:r>
                          </m:e>
                        </m:d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Training data: 101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Testing data: 1000</a:t>
                </a: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87DF2FDF-B190-4518-8309-00AEEB23F7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300" y="822813"/>
                <a:ext cx="4076700" cy="1289071"/>
              </a:xfrm>
              <a:prstGeom prst="rect">
                <a:avLst/>
              </a:prstGeom>
              <a:blipFill>
                <a:blip r:embed="rId4"/>
                <a:stretch>
                  <a:fillRect l="-897" b="-71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DCC369F-C087-4554-A255-6BCD34615FA0}"/>
                  </a:ext>
                </a:extLst>
              </p:cNvPr>
              <p:cNvSpPr txBox="1"/>
              <p:nvPr/>
            </p:nvSpPr>
            <p:spPr>
              <a:xfrm>
                <a:off x="4325185" y="1238503"/>
                <a:ext cx="4076700" cy="4576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𝑤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=201</m:t>
                    </m:r>
                  </m:oMath>
                </a14:m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DCC369F-C087-4554-A255-6BCD34615F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5185" y="1238503"/>
                <a:ext cx="4076700" cy="457689"/>
              </a:xfrm>
              <a:prstGeom prst="rect">
                <a:avLst/>
              </a:prstGeom>
              <a:blipFill>
                <a:blip r:embed="rId5"/>
                <a:stretch>
                  <a:fillRect l="-1048" b="-17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本框 10">
            <a:extLst>
              <a:ext uri="{FF2B5EF4-FFF2-40B4-BE49-F238E27FC236}">
                <a16:creationId xmlns:a16="http://schemas.microsoft.com/office/drawing/2014/main" id="{D5070669-B7C6-4BD8-B096-A356A4EDACC8}"/>
              </a:ext>
            </a:extLst>
          </p:cNvPr>
          <p:cNvSpPr txBox="1"/>
          <p:nvPr/>
        </p:nvSpPr>
        <p:spPr>
          <a:xfrm>
            <a:off x="985093" y="3059668"/>
            <a:ext cx="15485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step: 50000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762DCED3-8349-4F8D-A716-4A5C1316D22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3675" y="2776519"/>
            <a:ext cx="3553723" cy="2842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945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2"/>
    </mc:Choice>
    <mc:Fallback xmlns="">
      <p:transition spd="slow" advTm="792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 err="1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ReLU</a:t>
            </a:r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 NN with a single hidden layer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87DF2FDF-B190-4518-8309-00AEEB23F7CE}"/>
                  </a:ext>
                </a:extLst>
              </p:cNvPr>
              <p:cNvSpPr txBox="1"/>
              <p:nvPr/>
            </p:nvSpPr>
            <p:spPr>
              <a:xfrm>
                <a:off x="495300" y="822813"/>
                <a:ext cx="4076700" cy="12890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exp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⁡(−100</m:t>
                    </m:r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−0.5</m:t>
                            </m:r>
                          </m:e>
                        </m:d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Training data: 101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Testing data: 1000</a:t>
                </a: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87DF2FDF-B190-4518-8309-00AEEB23F7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300" y="822813"/>
                <a:ext cx="4076700" cy="1289071"/>
              </a:xfrm>
              <a:prstGeom prst="rect">
                <a:avLst/>
              </a:prstGeom>
              <a:blipFill>
                <a:blip r:embed="rId3"/>
                <a:stretch>
                  <a:fillRect l="-897" b="-71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DCC369F-C087-4554-A255-6BCD34615FA0}"/>
                  </a:ext>
                </a:extLst>
              </p:cNvPr>
              <p:cNvSpPr txBox="1"/>
              <p:nvPr/>
            </p:nvSpPr>
            <p:spPr>
              <a:xfrm>
                <a:off x="4233078" y="1106180"/>
                <a:ext cx="4076700" cy="8735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𝑊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=201</m:t>
                    </m:r>
                  </m:oMath>
                </a14:m>
                <a:endParaRPr lang="en-US" altLang="zh-CN" b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𝑤</m:t>
                    </m:r>
                    <m:sSub>
                      <m:sSubPr>
                        <m:ctrlPr>
                          <a:rPr lang="en-US" altLang="zh-CN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𝑐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𝑏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</m:t>
                    </m:r>
                  </m:oMath>
                </a14:m>
                <a:endParaRPr lang="en-US" altLang="zh-CN" b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DCC369F-C087-4554-A255-6BCD34615F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3078" y="1106180"/>
                <a:ext cx="4076700" cy="873572"/>
              </a:xfrm>
              <a:prstGeom prst="rect">
                <a:avLst/>
              </a:prstGeom>
              <a:blipFill>
                <a:blip r:embed="rId4"/>
                <a:stretch>
                  <a:fillRect l="-897" b="-763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图片 4">
            <a:extLst>
              <a:ext uri="{FF2B5EF4-FFF2-40B4-BE49-F238E27FC236}">
                <a16:creationId xmlns:a16="http://schemas.microsoft.com/office/drawing/2014/main" id="{F7B3A414-35E8-4331-AB17-404950D98E6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979174"/>
            <a:ext cx="3022815" cy="2418252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E50DB74C-17E0-48F7-8268-B8D18482B59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0592" y="2979174"/>
            <a:ext cx="3022816" cy="2418252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A3E5EDBB-DB93-43B3-844C-78086815D52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1185" y="2979174"/>
            <a:ext cx="3022814" cy="241825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A8824113-EB11-4D16-B093-BB92832A5F9D}"/>
                  </a:ext>
                </a:extLst>
              </p:cNvPr>
              <p:cNvSpPr txBox="1"/>
              <p:nvPr/>
            </p:nvSpPr>
            <p:spPr>
              <a:xfrm>
                <a:off x="3268822" y="2389918"/>
                <a:ext cx="29103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𝒘</m:t>
                      </m:r>
                      <m:sSub>
                        <m:sSubPr>
                          <m:ctrlPr>
                            <a:rPr lang="en-US" altLang="zh-CN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sub>
                      </m:sSub>
                      <m:r>
                        <a:rPr lang="en-US" altLang="zh-CN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US" altLang="zh-CN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zh-CN" alt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A8824113-EB11-4D16-B093-BB92832A5F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8822" y="2389918"/>
                <a:ext cx="2910348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722E450B-4469-4C77-B663-ADE07C29D161}"/>
                  </a:ext>
                </a:extLst>
              </p:cNvPr>
              <p:cNvSpPr txBox="1"/>
              <p:nvPr/>
            </p:nvSpPr>
            <p:spPr>
              <a:xfrm>
                <a:off x="150244" y="5432684"/>
                <a:ext cx="29103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sub>
                      </m:sSub>
                      <m:r>
                        <a:rPr lang="en-US" altLang="zh-CN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zh-CN" alt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722E450B-4469-4C77-B663-ADE07C29D1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244" y="5432684"/>
                <a:ext cx="2910348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1223D949-7091-467A-BA08-C488E7E2D3F1}"/>
                  </a:ext>
                </a:extLst>
              </p:cNvPr>
              <p:cNvSpPr txBox="1"/>
              <p:nvPr/>
            </p:nvSpPr>
            <p:spPr>
              <a:xfrm>
                <a:off x="3173060" y="5432684"/>
                <a:ext cx="29103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sub>
                      </m:sSub>
                      <m:r>
                        <a:rPr lang="en-US" altLang="zh-CN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𝑼</m:t>
                      </m:r>
                      <m:r>
                        <a:rPr lang="en-US" altLang="zh-CN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[−</m:t>
                      </m:r>
                      <m:r>
                        <a:rPr lang="en-US" altLang="zh-CN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altLang="zh-CN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zh-CN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altLang="zh-CN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zh-CN" alt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1223D949-7091-467A-BA08-C488E7E2D3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3060" y="5432684"/>
                <a:ext cx="2910348" cy="369332"/>
              </a:xfrm>
              <a:prstGeom prst="rect">
                <a:avLst/>
              </a:prstGeom>
              <a:blipFill>
                <a:blip r:embed="rId10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C354AC09-BC6A-463E-A998-B87F0E1D206E}"/>
                  </a:ext>
                </a:extLst>
              </p:cNvPr>
              <p:cNvSpPr txBox="1"/>
              <p:nvPr/>
            </p:nvSpPr>
            <p:spPr>
              <a:xfrm>
                <a:off x="6271428" y="5397426"/>
                <a:ext cx="29103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sub>
                      </m:sSub>
                      <m:r>
                        <a:rPr lang="en-US" altLang="zh-CN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altLang="zh-CN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altLang="zh-CN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𝟓</m:t>
                      </m:r>
                    </m:oMath>
                  </m:oMathPara>
                </a14:m>
                <a:endParaRPr lang="zh-CN" alt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C354AC09-BC6A-463E-A998-B87F0E1D20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1428" y="5397426"/>
                <a:ext cx="2910348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图片 3">
            <a:extLst>
              <a:ext uri="{FF2B5EF4-FFF2-40B4-BE49-F238E27FC236}">
                <a16:creationId xmlns:a16="http://schemas.microsoft.com/office/drawing/2014/main" id="{61E7B888-6119-4519-8E37-17ECDCFB91F9}"/>
              </a:ext>
            </a:extLst>
          </p:cNvPr>
          <p:cNvPicPr>
            <a:picLocks noChangeAspect="1"/>
          </p:cNvPicPr>
          <p:nvPr/>
        </p:nvPicPr>
        <p:blipFill rotWithShape="1"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771" r="19355"/>
          <a:stretch/>
        </p:blipFill>
        <p:spPr>
          <a:xfrm>
            <a:off x="4021709" y="3258969"/>
            <a:ext cx="1404574" cy="1437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9000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2"/>
    </mc:Choice>
    <mc:Fallback xmlns="">
      <p:transition spd="slow" advTm="792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 err="1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ReLU</a:t>
            </a:r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 NN with 2 hidden layers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87DF2FDF-B190-4518-8309-00AEEB23F7CE}"/>
                  </a:ext>
                </a:extLst>
              </p:cNvPr>
              <p:cNvSpPr txBox="1"/>
              <p:nvPr/>
            </p:nvSpPr>
            <p:spPr>
              <a:xfrm>
                <a:off x="495300" y="822813"/>
                <a:ext cx="4076700" cy="12890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exp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⁡(−100</m:t>
                    </m:r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−0.5</m:t>
                            </m:r>
                          </m:e>
                        </m:d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Training data: 101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Testing data: 1000</a:t>
                </a: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87DF2FDF-B190-4518-8309-00AEEB23F7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300" y="822813"/>
                <a:ext cx="4076700" cy="1289071"/>
              </a:xfrm>
              <a:prstGeom prst="rect">
                <a:avLst/>
              </a:prstGeom>
              <a:blipFill>
                <a:blip r:embed="rId3"/>
                <a:stretch>
                  <a:fillRect l="-897" b="-71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DCC369F-C087-4554-A255-6BCD34615FA0}"/>
                  </a:ext>
                </a:extLst>
              </p:cNvPr>
              <p:cNvSpPr txBox="1"/>
              <p:nvPr/>
            </p:nvSpPr>
            <p:spPr>
              <a:xfrm>
                <a:off x="4325185" y="1030562"/>
                <a:ext cx="4076700" cy="8735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𝑊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20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∗2</m:t>
                    </m:r>
                  </m:oMath>
                </a14:m>
                <a:endParaRPr lang="en-US" altLang="zh-CN" b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Xavier initialization</a:t>
                </a:r>
                <a:endParaRPr lang="en-US" altLang="zh-CN" b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DCC369F-C087-4554-A255-6BCD34615F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5185" y="1030562"/>
                <a:ext cx="4076700" cy="873572"/>
              </a:xfrm>
              <a:prstGeom prst="rect">
                <a:avLst/>
              </a:prstGeom>
              <a:blipFill>
                <a:blip r:embed="rId4"/>
                <a:stretch>
                  <a:fillRect l="-1048" b="-104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图片 2">
            <a:extLst>
              <a:ext uri="{FF2B5EF4-FFF2-40B4-BE49-F238E27FC236}">
                <a16:creationId xmlns:a16="http://schemas.microsoft.com/office/drawing/2014/main" id="{006F356B-5F99-4AF4-920A-54DC1B5A16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2921429"/>
            <a:ext cx="3892198" cy="3113758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7826F67F-90B2-4EF9-B4F9-89082ED75E4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299" y="2921429"/>
            <a:ext cx="3892197" cy="3113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0526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2"/>
    </mc:Choice>
    <mc:Fallback xmlns="">
      <p:transition spd="slow" advTm="792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 err="1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ReLU</a:t>
            </a:r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 NN with 2 hidden layers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87DF2FDF-B190-4518-8309-00AEEB23F7CE}"/>
                  </a:ext>
                </a:extLst>
              </p:cNvPr>
              <p:cNvSpPr txBox="1"/>
              <p:nvPr/>
            </p:nvSpPr>
            <p:spPr>
              <a:xfrm>
                <a:off x="495300" y="822813"/>
                <a:ext cx="4076700" cy="12890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exp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⁡(−100</m:t>
                    </m:r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−0.5</m:t>
                            </m:r>
                          </m:e>
                        </m:d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Training data: 101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Testing data: 1000</a:t>
                </a: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87DF2FDF-B190-4518-8309-00AEEB23F7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300" y="822813"/>
                <a:ext cx="4076700" cy="1289071"/>
              </a:xfrm>
              <a:prstGeom prst="rect">
                <a:avLst/>
              </a:prstGeom>
              <a:blipFill>
                <a:blip r:embed="rId3"/>
                <a:stretch>
                  <a:fillRect l="-897" b="-71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DCC369F-C087-4554-A255-6BCD34615FA0}"/>
                  </a:ext>
                </a:extLst>
              </p:cNvPr>
              <p:cNvSpPr txBox="1"/>
              <p:nvPr/>
            </p:nvSpPr>
            <p:spPr>
              <a:xfrm>
                <a:off x="4325185" y="1030562"/>
                <a:ext cx="4076700" cy="8735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𝑊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20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∗2</m:t>
                    </m:r>
                  </m:oMath>
                </a14:m>
                <a:endParaRPr lang="en-US" altLang="zh-CN" b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Xavier initialization</a:t>
                </a:r>
                <a:endParaRPr lang="en-US" altLang="zh-CN" b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DCC369F-C087-4554-A255-6BCD34615F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5185" y="1030562"/>
                <a:ext cx="4076700" cy="873572"/>
              </a:xfrm>
              <a:prstGeom prst="rect">
                <a:avLst/>
              </a:prstGeom>
              <a:blipFill>
                <a:blip r:embed="rId4"/>
                <a:stretch>
                  <a:fillRect l="-1048" b="-104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图片 2">
            <a:extLst>
              <a:ext uri="{FF2B5EF4-FFF2-40B4-BE49-F238E27FC236}">
                <a16:creationId xmlns:a16="http://schemas.microsoft.com/office/drawing/2014/main" id="{006F356B-5F99-4AF4-920A-54DC1B5A16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3842" y="3113721"/>
            <a:ext cx="3829885" cy="306390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C699CB80-E273-45E6-AC74-8DF7FA18D17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300" y="3113721"/>
            <a:ext cx="3829885" cy="3063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625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2"/>
    </mc:Choice>
    <mc:Fallback xmlns="">
      <p:transition spd="slow" advTm="792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From 1D to </a:t>
            </a:r>
            <a:r>
              <a:rPr lang="en-US" sz="2400" b="1" dirty="0" err="1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nD</a:t>
            </a:r>
            <a:endParaRPr lang="en-US" sz="2400" b="1" dirty="0">
              <a:solidFill>
                <a:srgbClr val="C00000"/>
              </a:solidFill>
              <a:latin typeface="Times New Roman" panose="02020603050405020304" pitchFamily="18" charset="0"/>
              <a:ea typeface="Microsoft YaHei UI" panose="020B0503020204020204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24" name="图片 23">
            <a:extLst>
              <a:ext uri="{FF2B5EF4-FFF2-40B4-BE49-F238E27FC236}">
                <a16:creationId xmlns:a16="http://schemas.microsoft.com/office/drawing/2014/main" id="{EF3EF6AF-80DD-43A0-BD3E-89E4F1372F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625" y="1464533"/>
            <a:ext cx="3517428" cy="281394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5DB3370E-D88C-4966-96FE-39FD5773EF53}"/>
                  </a:ext>
                </a:extLst>
              </p:cNvPr>
              <p:cNvSpPr txBox="1"/>
              <p:nvPr/>
            </p:nvSpPr>
            <p:spPr>
              <a:xfrm>
                <a:off x="3116826" y="819898"/>
                <a:ext cx="29103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𝒘</m:t>
                      </m:r>
                      <m:sSub>
                        <m:sSubPr>
                          <m:ctrlPr>
                            <a:rPr lang="en-US" altLang="zh-CN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sub>
                      </m:sSub>
                      <m:r>
                        <a:rPr lang="en-US" altLang="zh-CN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US" altLang="zh-CN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zh-CN" alt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5DB3370E-D88C-4966-96FE-39FD5773EF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6826" y="819898"/>
                <a:ext cx="2910348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7" name="图片 26">
            <a:extLst>
              <a:ext uri="{FF2B5EF4-FFF2-40B4-BE49-F238E27FC236}">
                <a16:creationId xmlns:a16="http://schemas.microsoft.com/office/drawing/2014/main" id="{8B2A3941-578C-4559-BD98-7563AE8311A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8336" y="1595394"/>
            <a:ext cx="4505393" cy="2356544"/>
          </a:xfrm>
          <a:prstGeom prst="rect">
            <a:avLst/>
          </a:prstGeom>
        </p:spPr>
      </p:pic>
      <p:pic>
        <p:nvPicPr>
          <p:cNvPr id="29" name="图片 28">
            <a:extLst>
              <a:ext uri="{FF2B5EF4-FFF2-40B4-BE49-F238E27FC236}">
                <a16:creationId xmlns:a16="http://schemas.microsoft.com/office/drawing/2014/main" id="{E5CA66DC-8A2D-4680-B14A-C8E170AA5BD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0684" y="4189984"/>
            <a:ext cx="2910348" cy="2580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245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2"/>
    </mc:Choice>
    <mc:Fallback xmlns="">
      <p:transition spd="slow" advTm="792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On Universal Approximation Theorem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3701F89-49DE-4D1E-BC4A-13474DDEC6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2219" y="1149197"/>
            <a:ext cx="6384170" cy="16465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57269918-C012-4EB2-91C4-D5DCF4C68C62}"/>
                  </a:ext>
                </a:extLst>
              </p:cNvPr>
              <p:cNvSpPr txBox="1"/>
              <p:nvPr/>
            </p:nvSpPr>
            <p:spPr>
              <a:xfrm>
                <a:off x="747251" y="3138878"/>
                <a:ext cx="6440129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𝑤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altLang="zh-CN" b="0" dirty="0"/>
                  <a:t>: </a:t>
                </a:r>
                <a:r>
                  <a:rPr lang="en-US" altLang="zh-CN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Adaptive partition</a:t>
                </a: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endParaRPr lang="en-US" altLang="zh-CN" dirty="0"/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Different activation functions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57269918-C012-4EB2-91C4-D5DCF4C68C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251" y="3138878"/>
                <a:ext cx="6440129" cy="923330"/>
              </a:xfrm>
              <a:prstGeom prst="rect">
                <a:avLst/>
              </a:prstGeom>
              <a:blipFill>
                <a:blip r:embed="rId4"/>
                <a:stretch>
                  <a:fillRect l="-663" t="-4636" b="-993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图片 10">
            <a:extLst>
              <a:ext uri="{FF2B5EF4-FFF2-40B4-BE49-F238E27FC236}">
                <a16:creationId xmlns:a16="http://schemas.microsoft.com/office/drawing/2014/main" id="{88AD06AB-47B0-4CC8-8B89-963ABD203D1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6948" y="4127821"/>
            <a:ext cx="4810103" cy="2417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07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2"/>
    </mc:Choice>
    <mc:Fallback xmlns="">
      <p:transition spd="slow" advTm="792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 err="1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ReLU</a:t>
            </a:r>
            <a:r>
              <a:rPr 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 NN with a single hidden layer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9CCEB176-2AB3-4775-8FD8-162A3C281E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1054" y="1391321"/>
            <a:ext cx="3010320" cy="211484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4F7F2721-8C79-466E-B420-24D804FE874F}"/>
                  </a:ext>
                </a:extLst>
              </p:cNvPr>
              <p:cNvSpPr txBox="1"/>
              <p:nvPr/>
            </p:nvSpPr>
            <p:spPr>
              <a:xfrm>
                <a:off x="1010266" y="1635124"/>
                <a:ext cx="1995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4F7F2721-8C79-466E-B420-24D804FE87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266" y="1635124"/>
                <a:ext cx="1995948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657A3B87-7622-4E37-9619-7D70438908B1}"/>
                  </a:ext>
                </a:extLst>
              </p:cNvPr>
              <p:cNvSpPr txBox="1"/>
              <p:nvPr/>
            </p:nvSpPr>
            <p:spPr>
              <a:xfrm>
                <a:off x="1010266" y="2737139"/>
                <a:ext cx="1995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657A3B87-7622-4E37-9619-7D7043890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266" y="2737139"/>
                <a:ext cx="199594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8F37554-AD8F-4103-9235-EE1FF294C293}"/>
                  </a:ext>
                </a:extLst>
              </p:cNvPr>
              <p:cNvSpPr txBox="1"/>
              <p:nvPr/>
            </p:nvSpPr>
            <p:spPr>
              <a:xfrm>
                <a:off x="2533855" y="1014231"/>
                <a:ext cx="28902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𝑅𝑒𝐿𝑈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8F37554-AD8F-4103-9235-EE1FF294C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3855" y="1014231"/>
                <a:ext cx="2890271" cy="369332"/>
              </a:xfrm>
              <a:prstGeom prst="rect">
                <a:avLst/>
              </a:prstGeom>
              <a:blipFill>
                <a:blip r:embed="rId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596BB49D-85FB-4E3E-B0E8-BE1C2783EBC9}"/>
                  </a:ext>
                </a:extLst>
              </p:cNvPr>
              <p:cNvSpPr txBox="1"/>
              <p:nvPr/>
            </p:nvSpPr>
            <p:spPr>
              <a:xfrm>
                <a:off x="2533855" y="3513924"/>
                <a:ext cx="28902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𝑅𝑒𝐿𝑈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596BB49D-85FB-4E3E-B0E8-BE1C2783EB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3855" y="3513924"/>
                <a:ext cx="2890271" cy="369332"/>
              </a:xfrm>
              <a:prstGeom prst="rect">
                <a:avLst/>
              </a:prstGeom>
              <a:blipFill>
                <a:blip r:embed="rId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08AF2811-DC4E-468F-A6B6-91BC46461B92}"/>
                  </a:ext>
                </a:extLst>
              </p:cNvPr>
              <p:cNvSpPr txBox="1"/>
              <p:nvPr/>
            </p:nvSpPr>
            <p:spPr>
              <a:xfrm>
                <a:off x="4031433" y="2072211"/>
                <a:ext cx="4403416" cy="7645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nary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08AF2811-DC4E-468F-A6B6-91BC46461B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1433" y="2072211"/>
                <a:ext cx="4403416" cy="76456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文本框 1">
            <a:extLst>
              <a:ext uri="{FF2B5EF4-FFF2-40B4-BE49-F238E27FC236}">
                <a16:creationId xmlns:a16="http://schemas.microsoft.com/office/drawing/2014/main" id="{9D0A7A2B-369E-4044-AB6B-1E7088D71E69}"/>
              </a:ext>
            </a:extLst>
          </p:cNvPr>
          <p:cNvSpPr txBox="1"/>
          <p:nvPr/>
        </p:nvSpPr>
        <p:spPr>
          <a:xfrm>
            <a:off x="2667195" y="2144047"/>
            <a:ext cx="738664" cy="72144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lang="zh-CN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8E3AFF5F-666B-4D5B-ACFD-ABE9C6B32D6F}"/>
                  </a:ext>
                </a:extLst>
              </p:cNvPr>
              <p:cNvSpPr txBox="1"/>
              <p:nvPr/>
            </p:nvSpPr>
            <p:spPr>
              <a:xfrm>
                <a:off x="672491" y="4851011"/>
                <a:ext cx="767776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+…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8E3AFF5F-666B-4D5B-ACFD-ABE9C6B32D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491" y="4851011"/>
                <a:ext cx="7677765" cy="369332"/>
              </a:xfrm>
              <a:prstGeom prst="rect">
                <a:avLst/>
              </a:prstGeom>
              <a:blipFill>
                <a:blip r:embed="rId9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本框 10">
            <a:extLst>
              <a:ext uri="{FF2B5EF4-FFF2-40B4-BE49-F238E27FC236}">
                <a16:creationId xmlns:a16="http://schemas.microsoft.com/office/drawing/2014/main" id="{8F0132D6-CFE1-47C0-8FB8-0ADA911F913A}"/>
              </a:ext>
            </a:extLst>
          </p:cNvPr>
          <p:cNvSpPr txBox="1"/>
          <p:nvPr/>
        </p:nvSpPr>
        <p:spPr>
          <a:xfrm>
            <a:off x="509028" y="4258892"/>
            <a:ext cx="3588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Convergence rate: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45E3FED-3723-4485-A415-DCA3D67A9E8E}"/>
              </a:ext>
            </a:extLst>
          </p:cNvPr>
          <p:cNvSpPr txBox="1"/>
          <p:nvPr/>
        </p:nvSpPr>
        <p:spPr>
          <a:xfrm>
            <a:off x="509028" y="5282013"/>
            <a:ext cx="3588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Taylor expansion: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20D932C0-0CBC-4FB6-B061-FADD2B8A090E}"/>
                  </a:ext>
                </a:extLst>
              </p:cNvPr>
              <p:cNvSpPr txBox="1"/>
              <p:nvPr/>
            </p:nvSpPr>
            <p:spPr>
              <a:xfrm>
                <a:off x="831439" y="5672957"/>
                <a:ext cx="7677765" cy="8879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altLang="zh-CN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en-US" altLang="zh-CN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altLang="zh-CN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′′</m:t>
                          </m:r>
                        </m:sup>
                      </m:sSup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Δ</m:t>
                      </m:r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zh-CN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+…</m:t>
                      </m:r>
                    </m:oMath>
                  </m:oMathPara>
                </a14:m>
                <a:endParaRPr lang="en-US" altLang="zh-CN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CN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altLang="zh-CN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CN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en-US" altLang="zh-CN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altLang="zh-CN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CN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en-US" altLang="zh-CN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zh-CN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sSup>
                        <m:sSupPr>
                          <m:ctrlP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CN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20D932C0-0CBC-4FB6-B061-FADD2B8A09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439" y="5672957"/>
                <a:ext cx="7677765" cy="887935"/>
              </a:xfrm>
              <a:prstGeom prst="rect">
                <a:avLst/>
              </a:prstGeom>
              <a:blipFill>
                <a:blip r:embed="rId10"/>
                <a:stretch>
                  <a:fillRect b="-551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01613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2"/>
    </mc:Choice>
    <mc:Fallback xmlns="">
      <p:transition spd="slow" advTm="792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984233" y="3075057"/>
            <a:ext cx="71755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Thank you for your attention!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8ADC31F1-D89B-4C21-B37C-7E760FAC0C1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1759" y="6263149"/>
            <a:ext cx="822241" cy="594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601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926"/>
    </mc:Choice>
    <mc:Fallback xmlns="">
      <p:transition spd="slow" advTm="1926"/>
    </mc:Fallback>
  </mc:AlternateContent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14249</TotalTime>
  <Words>1532</Words>
  <Application>Microsoft Office PowerPoint</Application>
  <PresentationFormat>全屏显示(4:3)</PresentationFormat>
  <Paragraphs>401</Paragraphs>
  <Slides>37</Slides>
  <Notes>37</Notes>
  <HiddenSlides>0</HiddenSlides>
  <MMClips>0</MMClips>
  <ScaleCrop>false</ScaleCrop>
  <HeadingPairs>
    <vt:vector size="8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37</vt:i4>
      </vt:variant>
    </vt:vector>
  </HeadingPairs>
  <TitlesOfParts>
    <vt:vector size="47" baseType="lpstr">
      <vt:lpstr>Microsoft YaHei UI</vt:lpstr>
      <vt:lpstr>华文楷体</vt:lpstr>
      <vt:lpstr>Arial</vt:lpstr>
      <vt:lpstr>Calibri</vt:lpstr>
      <vt:lpstr>Calibri Light</vt:lpstr>
      <vt:lpstr>Cambria Math</vt:lpstr>
      <vt:lpstr>Times New Roman</vt:lpstr>
      <vt:lpstr>Wingdings</vt:lpstr>
      <vt:lpstr>Office 主题​​</vt:lpstr>
      <vt:lpstr>Equation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xhmeng</dc:creator>
  <cp:lastModifiedBy>Xuhui Meng</cp:lastModifiedBy>
  <cp:revision>1253</cp:revision>
  <dcterms:created xsi:type="dcterms:W3CDTF">2017-09-04T15:34:47Z</dcterms:created>
  <dcterms:modified xsi:type="dcterms:W3CDTF">2026-03-17T05:24:35Z</dcterms:modified>
</cp:coreProperties>
</file>