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6"/>
  </p:notesMasterIdLst>
  <p:sldIdLst>
    <p:sldId id="326" r:id="rId2"/>
    <p:sldId id="580" r:id="rId3"/>
    <p:sldId id="256" r:id="rId4"/>
    <p:sldId id="298" r:id="rId5"/>
    <p:sldId id="299" r:id="rId6"/>
    <p:sldId id="300" r:id="rId7"/>
    <p:sldId id="321" r:id="rId8"/>
    <p:sldId id="317" r:id="rId9"/>
    <p:sldId id="322" r:id="rId10"/>
    <p:sldId id="302" r:id="rId11"/>
    <p:sldId id="307" r:id="rId12"/>
    <p:sldId id="319" r:id="rId13"/>
    <p:sldId id="318" r:id="rId14"/>
    <p:sldId id="312" r:id="rId15"/>
    <p:sldId id="315" r:id="rId16"/>
    <p:sldId id="323" r:id="rId17"/>
    <p:sldId id="305" r:id="rId18"/>
    <p:sldId id="306" r:id="rId19"/>
    <p:sldId id="324" r:id="rId20"/>
    <p:sldId id="310" r:id="rId21"/>
    <p:sldId id="325" r:id="rId22"/>
    <p:sldId id="320" r:id="rId23"/>
    <p:sldId id="304" r:id="rId24"/>
    <p:sldId id="309" r:id="rId2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FD"/>
    <a:srgbClr val="3338FD"/>
    <a:srgbClr val="0000FF"/>
    <a:srgbClr val="0000CC"/>
    <a:srgbClr val="CC1704"/>
    <a:srgbClr val="000099"/>
    <a:srgbClr val="003399"/>
    <a:srgbClr val="6732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82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4CD06-CDB8-463C-82C0-327730F8ACA7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96392-4F4E-4DC5-B4DA-6DF644E23D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79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4355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2334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796392-4F4E-4DC5-B4DA-6DF644E23DB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4355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169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476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676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759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199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921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205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14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64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776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8D91E-FFF0-45B5-AFE0-22E101FDFDBC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574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13" Type="http://schemas.openxmlformats.org/officeDocument/2006/relationships/image" Target="../media/image17.png"/><Relationship Id="rId3" Type="http://schemas.openxmlformats.org/officeDocument/2006/relationships/image" Target="../media/image11.wmf"/><Relationship Id="rId7" Type="http://schemas.openxmlformats.org/officeDocument/2006/relationships/image" Target="../media/image13.wmf"/><Relationship Id="rId12" Type="http://schemas.openxmlformats.org/officeDocument/2006/relationships/image" Target="../media/image16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3.bin"/><Relationship Id="rId11" Type="http://schemas.openxmlformats.org/officeDocument/2006/relationships/oleObject" Target="../embeddings/oleObject5.bin"/><Relationship Id="rId5" Type="http://schemas.openxmlformats.org/officeDocument/2006/relationships/image" Target="../media/image12.wmf"/><Relationship Id="rId10" Type="http://schemas.openxmlformats.org/officeDocument/2006/relationships/image" Target="../media/image15.png"/><Relationship Id="rId4" Type="http://schemas.openxmlformats.org/officeDocument/2006/relationships/oleObject" Target="../embeddings/oleObject2.bin"/><Relationship Id="rId9" Type="http://schemas.openxmlformats.org/officeDocument/2006/relationships/image" Target="../media/image14.w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.bin"/><Relationship Id="rId13" Type="http://schemas.openxmlformats.org/officeDocument/2006/relationships/image" Target="../media/image19.wmf"/><Relationship Id="rId3" Type="http://schemas.openxmlformats.org/officeDocument/2006/relationships/image" Target="../media/image11.wmf"/><Relationship Id="rId7" Type="http://schemas.openxmlformats.org/officeDocument/2006/relationships/image" Target="../media/image13.wmf"/><Relationship Id="rId12" Type="http://schemas.openxmlformats.org/officeDocument/2006/relationships/oleObject" Target="../embeddings/oleObject11.bin"/><Relationship Id="rId2" Type="http://schemas.openxmlformats.org/officeDocument/2006/relationships/oleObject" Target="../embeddings/oleObject6.bin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8.bin"/><Relationship Id="rId11" Type="http://schemas.openxmlformats.org/officeDocument/2006/relationships/image" Target="../media/image18.wmf"/><Relationship Id="rId5" Type="http://schemas.openxmlformats.org/officeDocument/2006/relationships/image" Target="../media/image12.wmf"/><Relationship Id="rId15" Type="http://schemas.openxmlformats.org/officeDocument/2006/relationships/image" Target="../media/image20.wmf"/><Relationship Id="rId10" Type="http://schemas.openxmlformats.org/officeDocument/2006/relationships/oleObject" Target="../embeddings/oleObject10.bin"/><Relationship Id="rId4" Type="http://schemas.openxmlformats.org/officeDocument/2006/relationships/oleObject" Target="../embeddings/oleObject7.bin"/><Relationship Id="rId9" Type="http://schemas.openxmlformats.org/officeDocument/2006/relationships/image" Target="../media/image14.wmf"/><Relationship Id="rId14" Type="http://schemas.openxmlformats.org/officeDocument/2006/relationships/oleObject" Target="../embeddings/oleObject12.bin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.bin"/><Relationship Id="rId13" Type="http://schemas.openxmlformats.org/officeDocument/2006/relationships/image" Target="../media/image23.wmf"/><Relationship Id="rId3" Type="http://schemas.openxmlformats.org/officeDocument/2006/relationships/image" Target="../media/image11.wmf"/><Relationship Id="rId7" Type="http://schemas.openxmlformats.org/officeDocument/2006/relationships/image" Target="../media/image13.wmf"/><Relationship Id="rId12" Type="http://schemas.openxmlformats.org/officeDocument/2006/relationships/oleObject" Target="../embeddings/oleObject18.bin"/><Relationship Id="rId2" Type="http://schemas.openxmlformats.org/officeDocument/2006/relationships/oleObject" Target="../embeddings/oleObject13.bin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5.bin"/><Relationship Id="rId11" Type="http://schemas.openxmlformats.org/officeDocument/2006/relationships/image" Target="../media/image22.wmf"/><Relationship Id="rId5" Type="http://schemas.openxmlformats.org/officeDocument/2006/relationships/image" Target="../media/image12.wmf"/><Relationship Id="rId15" Type="http://schemas.openxmlformats.org/officeDocument/2006/relationships/image" Target="../media/image20.wmf"/><Relationship Id="rId10" Type="http://schemas.openxmlformats.org/officeDocument/2006/relationships/oleObject" Target="../embeddings/oleObject17.bin"/><Relationship Id="rId4" Type="http://schemas.openxmlformats.org/officeDocument/2006/relationships/oleObject" Target="../embeddings/oleObject14.bin"/><Relationship Id="rId9" Type="http://schemas.openxmlformats.org/officeDocument/2006/relationships/image" Target="../media/image14.wmf"/><Relationship Id="rId14" Type="http://schemas.openxmlformats.org/officeDocument/2006/relationships/oleObject" Target="../embeddings/oleObject19.bin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2.bin"/><Relationship Id="rId13" Type="http://schemas.openxmlformats.org/officeDocument/2006/relationships/image" Target="../media/image30.wmf"/><Relationship Id="rId18" Type="http://schemas.openxmlformats.org/officeDocument/2006/relationships/oleObject" Target="../embeddings/oleObject27.bin"/><Relationship Id="rId3" Type="http://schemas.openxmlformats.org/officeDocument/2006/relationships/image" Target="../media/image26.png"/><Relationship Id="rId7" Type="http://schemas.openxmlformats.org/officeDocument/2006/relationships/image" Target="../media/image27.wmf"/><Relationship Id="rId12" Type="http://schemas.openxmlformats.org/officeDocument/2006/relationships/oleObject" Target="../embeddings/oleObject24.bin"/><Relationship Id="rId17" Type="http://schemas.openxmlformats.org/officeDocument/2006/relationships/image" Target="../media/image32.wmf"/><Relationship Id="rId2" Type="http://schemas.openxmlformats.org/officeDocument/2006/relationships/image" Target="../media/image25.png"/><Relationship Id="rId16" Type="http://schemas.openxmlformats.org/officeDocument/2006/relationships/oleObject" Target="../embeddings/oleObject26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21.bin"/><Relationship Id="rId11" Type="http://schemas.openxmlformats.org/officeDocument/2006/relationships/image" Target="../media/image29.wmf"/><Relationship Id="rId5" Type="http://schemas.openxmlformats.org/officeDocument/2006/relationships/image" Target="../media/image20.wmf"/><Relationship Id="rId15" Type="http://schemas.openxmlformats.org/officeDocument/2006/relationships/image" Target="../media/image31.wmf"/><Relationship Id="rId10" Type="http://schemas.openxmlformats.org/officeDocument/2006/relationships/oleObject" Target="../embeddings/oleObject23.bin"/><Relationship Id="rId19" Type="http://schemas.openxmlformats.org/officeDocument/2006/relationships/image" Target="../media/image33.wmf"/><Relationship Id="rId4" Type="http://schemas.openxmlformats.org/officeDocument/2006/relationships/oleObject" Target="../embeddings/oleObject20.bin"/><Relationship Id="rId9" Type="http://schemas.openxmlformats.org/officeDocument/2006/relationships/image" Target="../media/image28.wmf"/><Relationship Id="rId14" Type="http://schemas.openxmlformats.org/officeDocument/2006/relationships/oleObject" Target="../embeddings/oleObject25.bin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1.bin"/><Relationship Id="rId13" Type="http://schemas.openxmlformats.org/officeDocument/2006/relationships/image" Target="../media/image38.wmf"/><Relationship Id="rId18" Type="http://schemas.openxmlformats.org/officeDocument/2006/relationships/image" Target="../media/image40.wmf"/><Relationship Id="rId3" Type="http://schemas.openxmlformats.org/officeDocument/2006/relationships/image" Target="../media/image20.wmf"/><Relationship Id="rId7" Type="http://schemas.openxmlformats.org/officeDocument/2006/relationships/image" Target="../media/image35.wmf"/><Relationship Id="rId12" Type="http://schemas.openxmlformats.org/officeDocument/2006/relationships/oleObject" Target="../embeddings/oleObject33.bin"/><Relationship Id="rId17" Type="http://schemas.openxmlformats.org/officeDocument/2006/relationships/oleObject" Target="../embeddings/oleObject35.bin"/><Relationship Id="rId2" Type="http://schemas.openxmlformats.org/officeDocument/2006/relationships/oleObject" Target="../embeddings/oleObject28.bin"/><Relationship Id="rId16" Type="http://schemas.openxmlformats.org/officeDocument/2006/relationships/image" Target="../media/image39.wmf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30.bin"/><Relationship Id="rId11" Type="http://schemas.openxmlformats.org/officeDocument/2006/relationships/image" Target="../media/image37.wmf"/><Relationship Id="rId5" Type="http://schemas.openxmlformats.org/officeDocument/2006/relationships/image" Target="../media/image34.wmf"/><Relationship Id="rId15" Type="http://schemas.openxmlformats.org/officeDocument/2006/relationships/oleObject" Target="../embeddings/oleObject34.bin"/><Relationship Id="rId10" Type="http://schemas.openxmlformats.org/officeDocument/2006/relationships/oleObject" Target="../embeddings/oleObject32.bin"/><Relationship Id="rId19" Type="http://schemas.openxmlformats.org/officeDocument/2006/relationships/image" Target="../media/image41.png"/><Relationship Id="rId4" Type="http://schemas.openxmlformats.org/officeDocument/2006/relationships/oleObject" Target="../embeddings/oleObject29.bin"/><Relationship Id="rId9" Type="http://schemas.openxmlformats.org/officeDocument/2006/relationships/image" Target="../media/image36.wmf"/><Relationship Id="rId1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0452A146-20B8-4FD8-A214-319B3897D56E}"/>
              </a:ext>
            </a:extLst>
          </p:cNvPr>
          <p:cNvSpPr txBox="1"/>
          <p:nvPr/>
        </p:nvSpPr>
        <p:spPr>
          <a:xfrm>
            <a:off x="375658" y="246221"/>
            <a:ext cx="83926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Scientific Machine Learning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382D0D78-D0B9-403E-B5AC-66E83F5AC8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207" y="155558"/>
            <a:ext cx="973866" cy="70454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72604B1-DFD6-4A0E-BA4B-23A06DBE536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25" r="82409"/>
          <a:stretch/>
        </p:blipFill>
        <p:spPr>
          <a:xfrm>
            <a:off x="992586" y="37675"/>
            <a:ext cx="893400" cy="940311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6B7CEB32-1021-4218-A4D5-F1083BF5322E}"/>
              </a:ext>
            </a:extLst>
          </p:cNvPr>
          <p:cNvSpPr txBox="1"/>
          <p:nvPr/>
        </p:nvSpPr>
        <p:spPr>
          <a:xfrm>
            <a:off x="280217" y="1608299"/>
            <a:ext cx="85835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Lecture 13: Parallel Computing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6BF80A-5EF6-4539-ACB8-DA297CF81EAA}"/>
              </a:ext>
            </a:extLst>
          </p:cNvPr>
          <p:cNvSpPr txBox="1"/>
          <p:nvPr/>
        </p:nvSpPr>
        <p:spPr>
          <a:xfrm>
            <a:off x="629265" y="3125937"/>
            <a:ext cx="7885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孟旭辉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6126DFE-D15F-47B5-9240-27C4587C9024}"/>
              </a:ext>
            </a:extLst>
          </p:cNvPr>
          <p:cNvSpPr txBox="1"/>
          <p:nvPr/>
        </p:nvSpPr>
        <p:spPr>
          <a:xfrm>
            <a:off x="629265" y="3648390"/>
            <a:ext cx="7885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数学与统计学院数学与应用学科交叉创新研究院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B9D2569-83C5-47AE-B0C1-B755D485CBD5}"/>
              </a:ext>
            </a:extLst>
          </p:cNvPr>
          <p:cNvSpPr txBox="1"/>
          <p:nvPr/>
        </p:nvSpPr>
        <p:spPr>
          <a:xfrm>
            <a:off x="629265" y="4213821"/>
            <a:ext cx="78854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办公室：东</a:t>
            </a:r>
            <a:r>
              <a:rPr lang="en-US" altLang="zh-CN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32</a:t>
            </a:r>
            <a:r>
              <a:rPr lang="zh-CN" altLang="en-US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楼</a:t>
            </a:r>
            <a:r>
              <a:rPr lang="en-US" altLang="zh-CN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111</a:t>
            </a:r>
            <a:r>
              <a:rPr lang="zh-CN" altLang="en-US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室</a:t>
            </a:r>
            <a:endParaRPr lang="en-US" altLang="zh-CN" b="1" dirty="0">
              <a:solidFill>
                <a:srgbClr val="0000FF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algn="ctr"/>
            <a:endParaRPr lang="en-US" altLang="zh-CN" b="1" dirty="0">
              <a:solidFill>
                <a:srgbClr val="0000FF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algn="ctr"/>
            <a:r>
              <a:rPr lang="en-US" altLang="zh-CN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Email</a:t>
            </a:r>
            <a:r>
              <a:rPr lang="zh-CN" altLang="en-US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</a:t>
            </a:r>
            <a:r>
              <a:rPr lang="en-US" altLang="zh-CN" b="1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xuhui_meng@hust.edu.cn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1361427-37D8-46C8-9C84-F47E163DF02A}"/>
              </a:ext>
            </a:extLst>
          </p:cNvPr>
          <p:cNvSpPr/>
          <p:nvPr/>
        </p:nvSpPr>
        <p:spPr>
          <a:xfrm>
            <a:off x="2497488" y="5505133"/>
            <a:ext cx="41490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https://github.com/XuhuiM/SciML-Course</a:t>
            </a:r>
          </a:p>
        </p:txBody>
      </p:sp>
    </p:spTree>
    <p:extLst>
      <p:ext uri="{BB962C8B-B14F-4D97-AF65-F5344CB8AC3E}">
        <p14:creationId xmlns:p14="http://schemas.microsoft.com/office/powerpoint/2010/main" val="159326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659"/>
    </mc:Choice>
    <mc:Fallback xmlns="">
      <p:transition spd="slow" advTm="12659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Microsoft YaHei UI" panose="020B0503020204020204" pitchFamily="34" charset="-122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0" y="1326982"/>
            <a:ext cx="9311148" cy="37423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25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 computing</a:t>
            </a:r>
          </a:p>
          <a:p>
            <a:pPr marL="285750" indent="-285750">
              <a:lnSpc>
                <a:spcPct val="125000"/>
              </a:lnSpc>
              <a:buFont typeface="Wingdings" panose="05000000000000000000" pitchFamily="2" charset="2"/>
              <a:buChar char="Ø"/>
            </a:pP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25000"/>
              </a:lnSpc>
              <a:buFont typeface="Wingdings" panose="05000000000000000000" pitchFamily="2" charset="2"/>
              <a:buChar char="Ø"/>
            </a:pP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25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Numerical experiments</a:t>
            </a:r>
          </a:p>
          <a:p>
            <a:pPr marL="285750" indent="-285750">
              <a:lnSpc>
                <a:spcPct val="125000"/>
              </a:lnSpc>
              <a:buFont typeface="Wingdings" panose="05000000000000000000" pitchFamily="2" charset="2"/>
              <a:buChar char="Ø"/>
            </a:pP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25000"/>
              </a:lnSpc>
              <a:buFont typeface="Wingdings" panose="05000000000000000000" pitchFamily="2" charset="2"/>
              <a:buChar char="Ø"/>
            </a:pP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25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17600B9-8112-4CB0-8EB8-9B2C83ACC30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3866" y="6373190"/>
            <a:ext cx="670134" cy="484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100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5067"/>
    </mc:Choice>
    <mc:Fallback xmlns="">
      <p:transition spd="slow" advTm="65067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489526" y="1660456"/>
            <a:ext cx="8303491" cy="796417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err="1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Horovod</a:t>
            </a:r>
            <a:r>
              <a:rPr lang="en-US" sz="28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: Distributed training framework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2641598" y="4031796"/>
            <a:ext cx="3999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Xuhui</a:t>
            </a:r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en-US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Meng</a:t>
            </a:r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, </a:t>
            </a:r>
            <a:r>
              <a:rPr lang="en-US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Khemraj</a:t>
            </a:r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Shukla 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1560945" y="5283406"/>
            <a:ext cx="6022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Division of Applied Mathematics, Brown University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2572327" y="6103648"/>
            <a:ext cx="3999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September 27</a:t>
            </a:r>
            <a:r>
              <a:rPr lang="en-US" baseline="30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th</a:t>
            </a:r>
            <a:r>
              <a:rPr lang="en-US" baseline="-25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, </a:t>
            </a:r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2019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4111" y="5781964"/>
            <a:ext cx="1076036" cy="107603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44C9AC7-69A4-4355-BABB-7774384A1D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1624" y="3243792"/>
            <a:ext cx="1322862" cy="1808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082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659"/>
    </mc:Choice>
    <mc:Fallback xmlns="">
      <p:transition spd="slow" advTm="12659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193963" y="1052945"/>
            <a:ext cx="856210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00FF"/>
              </a:buClr>
              <a:buFont typeface="Wingdings" panose="05000000000000000000" pitchFamily="2" charset="2"/>
              <a:buChar char="Ø"/>
            </a:pPr>
            <a:r>
              <a:rPr 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What’s </a:t>
            </a:r>
            <a:r>
              <a:rPr lang="en-US" sz="24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Horovod</a:t>
            </a:r>
            <a:r>
              <a:rPr 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?</a:t>
            </a:r>
            <a:br>
              <a:rPr 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</a:b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Clr>
                <a:srgbClr val="0000FF"/>
              </a:buClr>
              <a:buFont typeface="Wingdings" panose="05000000000000000000" pitchFamily="2" charset="2"/>
              <a:buChar char="Ø"/>
            </a:pPr>
            <a:r>
              <a:rPr 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How to use?</a:t>
            </a:r>
            <a:br>
              <a:rPr 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</a:b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Clr>
                <a:srgbClr val="0000FF"/>
              </a:buClr>
              <a:buFont typeface="Wingdings" panose="05000000000000000000" pitchFamily="2" charset="2"/>
              <a:buChar char="Ø"/>
            </a:pP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Clr>
                <a:srgbClr val="0000FF"/>
              </a:buClr>
              <a:buFont typeface="Wingdings" panose="05000000000000000000" pitchFamily="2" charset="2"/>
              <a:buChar char="Ø"/>
            </a:pP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Clr>
                <a:srgbClr val="0000FF"/>
              </a:buClr>
              <a:buFont typeface="Wingdings" panose="05000000000000000000" pitchFamily="2" charset="2"/>
              <a:buChar char="Ø"/>
            </a:pPr>
            <a:r>
              <a:rPr 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Examples for function approximation/PINN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17236" y="2761105"/>
            <a:ext cx="35190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00FF"/>
              </a:buClr>
              <a:buFont typeface="+mj-lt"/>
              <a:buAutoNum type="arabicPeriod"/>
            </a:pPr>
            <a:r>
              <a:rPr 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Data parallelism</a:t>
            </a:r>
          </a:p>
          <a:p>
            <a:pPr marL="342900" indent="-342900">
              <a:buClr>
                <a:srgbClr val="0000FF"/>
              </a:buClr>
              <a:buFont typeface="+mj-lt"/>
              <a:buAutoNum type="arabicPeriod"/>
            </a:pPr>
            <a:endParaRPr lang="en-US" sz="20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342900" indent="-342900">
              <a:buClr>
                <a:srgbClr val="0000FF"/>
              </a:buClr>
              <a:buFont typeface="+mj-lt"/>
              <a:buAutoNum type="arabicPeriod"/>
            </a:pPr>
            <a:r>
              <a:rPr 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Ensemble training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517236" y="4977096"/>
            <a:ext cx="35190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00FF"/>
              </a:buClr>
              <a:buFont typeface="+mj-lt"/>
              <a:buAutoNum type="arabicPeriod"/>
            </a:pPr>
            <a:r>
              <a:rPr 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Data parallelism</a:t>
            </a:r>
          </a:p>
          <a:p>
            <a:pPr marL="342900" indent="-342900">
              <a:buClr>
                <a:srgbClr val="0000FF"/>
              </a:buClr>
              <a:buFont typeface="+mj-lt"/>
              <a:buAutoNum type="arabicPeriod"/>
            </a:pPr>
            <a:endParaRPr lang="en-US" sz="20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342900" indent="-342900">
              <a:buClr>
                <a:srgbClr val="0000FF"/>
              </a:buClr>
              <a:buFont typeface="+mj-lt"/>
              <a:buAutoNum type="arabicPeriod"/>
            </a:pPr>
            <a:r>
              <a:rPr 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Ensemble training</a:t>
            </a: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4111" y="5781964"/>
            <a:ext cx="1076036" cy="1076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879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rgbClr val="0000FF"/>
              </a:buClr>
            </a:pP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What’s </a:t>
            </a:r>
            <a:r>
              <a:rPr lang="en-US" sz="2400" b="1" dirty="0" err="1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Horovod</a:t>
            </a: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?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876300"/>
            <a:ext cx="7620000" cy="510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181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rgbClr val="0000FF"/>
              </a:buClr>
            </a:pP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What’s </a:t>
            </a:r>
            <a:r>
              <a:rPr lang="en-US" sz="2400" b="1" dirty="0" err="1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Horovod</a:t>
            </a: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?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272" y="3853385"/>
            <a:ext cx="2941783" cy="294178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3954913"/>
            <a:ext cx="3742921" cy="284025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4563" y="936843"/>
            <a:ext cx="4234873" cy="2837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206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rgbClr val="0000FF"/>
              </a:buClr>
            </a:pP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What’s </a:t>
            </a:r>
            <a:r>
              <a:rPr lang="en-US" sz="2400" b="1" dirty="0" err="1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Horovod</a:t>
            </a: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?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4111" y="5781964"/>
            <a:ext cx="1076036" cy="1076036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412" y="1025913"/>
            <a:ext cx="8639175" cy="448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235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rgbClr val="0000FF"/>
              </a:buClr>
            </a:pP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Data parallelism &amp; Ensemble training</a:t>
            </a:r>
          </a:p>
        </p:txBody>
      </p:sp>
      <p:sp>
        <p:nvSpPr>
          <p:cNvPr id="3" name="圆角矩形 2"/>
          <p:cNvSpPr/>
          <p:nvPr/>
        </p:nvSpPr>
        <p:spPr>
          <a:xfrm>
            <a:off x="951348" y="1782618"/>
            <a:ext cx="7102763" cy="8035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文本框 3"/>
          <p:cNvSpPr txBox="1"/>
          <p:nvPr/>
        </p:nvSpPr>
        <p:spPr>
          <a:xfrm>
            <a:off x="923638" y="1193118"/>
            <a:ext cx="71304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Dataset 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951348" y="1999734"/>
            <a:ext cx="960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GPU 1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2017005" y="1995177"/>
            <a:ext cx="960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GPU 2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5559134" y="1999734"/>
            <a:ext cx="14385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GPU (n-1)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7054293" y="2000979"/>
            <a:ext cx="960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GPU n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3997033" y="1931965"/>
            <a:ext cx="960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……</a:t>
            </a:r>
          </a:p>
        </p:txBody>
      </p:sp>
      <p:sp>
        <p:nvSpPr>
          <p:cNvPr id="21" name="矩形 20"/>
          <p:cNvSpPr/>
          <p:nvPr/>
        </p:nvSpPr>
        <p:spPr>
          <a:xfrm>
            <a:off x="162023" y="852999"/>
            <a:ext cx="27827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Data parallelism </a:t>
            </a:r>
            <a:endParaRPr lang="en-US" sz="2400" dirty="0"/>
          </a:p>
        </p:txBody>
      </p:sp>
      <p:sp>
        <p:nvSpPr>
          <p:cNvPr id="22" name="矩形 21"/>
          <p:cNvSpPr/>
          <p:nvPr/>
        </p:nvSpPr>
        <p:spPr>
          <a:xfrm>
            <a:off x="162023" y="3982099"/>
            <a:ext cx="298350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Ensemble training</a:t>
            </a:r>
            <a:endParaRPr lang="en-US" sz="2400" dirty="0"/>
          </a:p>
        </p:txBody>
      </p:sp>
      <p:sp>
        <p:nvSpPr>
          <p:cNvPr id="23" name="圆角矩形 22"/>
          <p:cNvSpPr/>
          <p:nvPr/>
        </p:nvSpPr>
        <p:spPr>
          <a:xfrm>
            <a:off x="1031017" y="4773850"/>
            <a:ext cx="7102763" cy="803564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文本框 23"/>
          <p:cNvSpPr txBox="1"/>
          <p:nvPr/>
        </p:nvSpPr>
        <p:spPr>
          <a:xfrm>
            <a:off x="1003307" y="4184265"/>
            <a:ext cx="71304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DNNs</a:t>
            </a:r>
          </a:p>
        </p:txBody>
      </p:sp>
      <p:sp>
        <p:nvSpPr>
          <p:cNvPr id="33" name="文本框 32"/>
          <p:cNvSpPr txBox="1"/>
          <p:nvPr/>
        </p:nvSpPr>
        <p:spPr>
          <a:xfrm>
            <a:off x="4091710" y="4990966"/>
            <a:ext cx="960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……</a:t>
            </a:r>
          </a:p>
        </p:txBody>
      </p:sp>
      <p:sp>
        <p:nvSpPr>
          <p:cNvPr id="35" name="圆角矩形 34"/>
          <p:cNvSpPr/>
          <p:nvPr/>
        </p:nvSpPr>
        <p:spPr>
          <a:xfrm>
            <a:off x="951348" y="2958965"/>
            <a:ext cx="7102763" cy="8035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文本框 35"/>
          <p:cNvSpPr txBox="1"/>
          <p:nvPr/>
        </p:nvSpPr>
        <p:spPr>
          <a:xfrm>
            <a:off x="951348" y="3176081"/>
            <a:ext cx="960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DNN</a:t>
            </a:r>
          </a:p>
        </p:txBody>
      </p:sp>
      <p:sp>
        <p:nvSpPr>
          <p:cNvPr id="37" name="文本框 36"/>
          <p:cNvSpPr txBox="1"/>
          <p:nvPr/>
        </p:nvSpPr>
        <p:spPr>
          <a:xfrm>
            <a:off x="2017005" y="3171524"/>
            <a:ext cx="960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DNN</a:t>
            </a:r>
          </a:p>
        </p:txBody>
      </p:sp>
      <p:sp>
        <p:nvSpPr>
          <p:cNvPr id="38" name="文本框 37"/>
          <p:cNvSpPr txBox="1"/>
          <p:nvPr/>
        </p:nvSpPr>
        <p:spPr>
          <a:xfrm>
            <a:off x="5559134" y="3176081"/>
            <a:ext cx="14385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DNN</a:t>
            </a:r>
          </a:p>
        </p:txBody>
      </p:sp>
      <p:sp>
        <p:nvSpPr>
          <p:cNvPr id="39" name="文本框 38"/>
          <p:cNvSpPr txBox="1"/>
          <p:nvPr/>
        </p:nvSpPr>
        <p:spPr>
          <a:xfrm>
            <a:off x="7054293" y="3177326"/>
            <a:ext cx="960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DNN</a:t>
            </a:r>
          </a:p>
        </p:txBody>
      </p:sp>
      <p:sp>
        <p:nvSpPr>
          <p:cNvPr id="40" name="文本框 39"/>
          <p:cNvSpPr txBox="1"/>
          <p:nvPr/>
        </p:nvSpPr>
        <p:spPr>
          <a:xfrm>
            <a:off x="4022439" y="3111397"/>
            <a:ext cx="960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……</a:t>
            </a:r>
          </a:p>
        </p:txBody>
      </p:sp>
      <p:cxnSp>
        <p:nvCxnSpPr>
          <p:cNvPr id="9" name="直接连接符 8"/>
          <p:cNvCxnSpPr/>
          <p:nvPr/>
        </p:nvCxnSpPr>
        <p:spPr>
          <a:xfrm>
            <a:off x="2004291" y="1579418"/>
            <a:ext cx="0" cy="2359152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6941141" y="1588654"/>
            <a:ext cx="0" cy="2355273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3024922" y="1579418"/>
            <a:ext cx="0" cy="2359152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>
            <a:off x="5634187" y="1579418"/>
            <a:ext cx="0" cy="2359152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圆角矩形 51"/>
          <p:cNvSpPr/>
          <p:nvPr/>
        </p:nvSpPr>
        <p:spPr>
          <a:xfrm>
            <a:off x="1017163" y="5793041"/>
            <a:ext cx="7102763" cy="803564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文本框 56"/>
          <p:cNvSpPr txBox="1"/>
          <p:nvPr/>
        </p:nvSpPr>
        <p:spPr>
          <a:xfrm>
            <a:off x="1119295" y="5010787"/>
            <a:ext cx="960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DNN 1</a:t>
            </a:r>
          </a:p>
        </p:txBody>
      </p:sp>
      <p:sp>
        <p:nvSpPr>
          <p:cNvPr id="58" name="文本框 57"/>
          <p:cNvSpPr txBox="1"/>
          <p:nvPr/>
        </p:nvSpPr>
        <p:spPr>
          <a:xfrm>
            <a:off x="2158384" y="5006230"/>
            <a:ext cx="960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DNN 2</a:t>
            </a:r>
          </a:p>
        </p:txBody>
      </p:sp>
      <p:sp>
        <p:nvSpPr>
          <p:cNvPr id="59" name="文本框 58"/>
          <p:cNvSpPr txBox="1"/>
          <p:nvPr/>
        </p:nvSpPr>
        <p:spPr>
          <a:xfrm>
            <a:off x="5676015" y="5006351"/>
            <a:ext cx="14385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DNN (n-1)</a:t>
            </a:r>
          </a:p>
        </p:txBody>
      </p:sp>
      <p:sp>
        <p:nvSpPr>
          <p:cNvPr id="60" name="文本框 59"/>
          <p:cNvSpPr txBox="1"/>
          <p:nvPr/>
        </p:nvSpPr>
        <p:spPr>
          <a:xfrm>
            <a:off x="7114599" y="5011257"/>
            <a:ext cx="960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DNN n</a:t>
            </a:r>
          </a:p>
        </p:txBody>
      </p:sp>
      <p:sp>
        <p:nvSpPr>
          <p:cNvPr id="61" name="文本框 60"/>
          <p:cNvSpPr txBox="1"/>
          <p:nvPr/>
        </p:nvSpPr>
        <p:spPr>
          <a:xfrm>
            <a:off x="4091710" y="5926094"/>
            <a:ext cx="960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……</a:t>
            </a:r>
          </a:p>
        </p:txBody>
      </p:sp>
      <p:cxnSp>
        <p:nvCxnSpPr>
          <p:cNvPr id="25" name="直接连接符 24"/>
          <p:cNvCxnSpPr/>
          <p:nvPr/>
        </p:nvCxnSpPr>
        <p:spPr>
          <a:xfrm>
            <a:off x="2070106" y="4488878"/>
            <a:ext cx="0" cy="2359152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>
            <a:off x="7006956" y="4488878"/>
            <a:ext cx="0" cy="2359152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/>
          <p:cNvCxnSpPr/>
          <p:nvPr/>
        </p:nvCxnSpPr>
        <p:spPr>
          <a:xfrm>
            <a:off x="3090737" y="4488877"/>
            <a:ext cx="0" cy="2359152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>
            <a:off x="5690762" y="4488878"/>
            <a:ext cx="0" cy="2359152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1072000" y="6007539"/>
            <a:ext cx="960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GPU 1</a:t>
            </a:r>
          </a:p>
        </p:txBody>
      </p:sp>
      <p:sp>
        <p:nvSpPr>
          <p:cNvPr id="30" name="文本框 29"/>
          <p:cNvSpPr txBox="1"/>
          <p:nvPr/>
        </p:nvSpPr>
        <p:spPr>
          <a:xfrm>
            <a:off x="2073581" y="6003565"/>
            <a:ext cx="960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GPU 2</a:t>
            </a:r>
          </a:p>
        </p:txBody>
      </p:sp>
      <p:sp>
        <p:nvSpPr>
          <p:cNvPr id="31" name="文本框 30"/>
          <p:cNvSpPr txBox="1"/>
          <p:nvPr/>
        </p:nvSpPr>
        <p:spPr>
          <a:xfrm>
            <a:off x="5615709" y="6000297"/>
            <a:ext cx="14385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GPU (n-1)</a:t>
            </a:r>
          </a:p>
        </p:txBody>
      </p:sp>
      <p:sp>
        <p:nvSpPr>
          <p:cNvPr id="32" name="文本框 31"/>
          <p:cNvSpPr txBox="1"/>
          <p:nvPr/>
        </p:nvSpPr>
        <p:spPr>
          <a:xfrm>
            <a:off x="7093531" y="6000297"/>
            <a:ext cx="960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GPU n</a:t>
            </a:r>
          </a:p>
        </p:txBody>
      </p:sp>
    </p:spTree>
    <p:extLst>
      <p:ext uri="{BB962C8B-B14F-4D97-AF65-F5344CB8AC3E}">
        <p14:creationId xmlns:p14="http://schemas.microsoft.com/office/powerpoint/2010/main" val="2712201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193963" y="1052945"/>
            <a:ext cx="856210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00FF"/>
              </a:buClr>
              <a:buFont typeface="Wingdings" panose="05000000000000000000" pitchFamily="2" charset="2"/>
              <a:buChar char="Ø"/>
            </a:pPr>
            <a:r>
              <a:rPr 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What’s </a:t>
            </a:r>
            <a:r>
              <a:rPr lang="en-US" sz="24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Horovod</a:t>
            </a:r>
            <a:r>
              <a:rPr 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?</a:t>
            </a:r>
            <a:br>
              <a:rPr 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</a:b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Clr>
                <a:srgbClr val="0000FF"/>
              </a:buClr>
              <a:buFont typeface="Wingdings" panose="05000000000000000000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How to use?</a:t>
            </a:r>
            <a:br>
              <a:rPr 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</a:b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Clr>
                <a:srgbClr val="0000FF"/>
              </a:buClr>
              <a:buFont typeface="Wingdings" panose="05000000000000000000" pitchFamily="2" charset="2"/>
              <a:buChar char="Ø"/>
            </a:pP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Clr>
                <a:srgbClr val="0000FF"/>
              </a:buClr>
              <a:buFont typeface="Wingdings" panose="05000000000000000000" pitchFamily="2" charset="2"/>
              <a:buChar char="Ø"/>
            </a:pP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Clr>
                <a:srgbClr val="0000FF"/>
              </a:buClr>
              <a:buFont typeface="Wingdings" panose="05000000000000000000" pitchFamily="2" charset="2"/>
              <a:buChar char="Ø"/>
            </a:pPr>
            <a:r>
              <a:rPr 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Examples for function approximation/PINN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17236" y="2761105"/>
            <a:ext cx="35190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00FF"/>
              </a:buClr>
              <a:buFont typeface="+mj-lt"/>
              <a:buAutoNum type="arabicPeriod"/>
            </a:pPr>
            <a:r>
              <a:rPr 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Data parallelism</a:t>
            </a:r>
          </a:p>
          <a:p>
            <a:pPr marL="342900" indent="-342900">
              <a:buClr>
                <a:srgbClr val="0000FF"/>
              </a:buClr>
              <a:buFont typeface="+mj-lt"/>
              <a:buAutoNum type="arabicPeriod"/>
            </a:pPr>
            <a:endParaRPr lang="en-US" sz="20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342900" indent="-342900">
              <a:buClr>
                <a:srgbClr val="0000FF"/>
              </a:buClr>
              <a:buFont typeface="+mj-lt"/>
              <a:buAutoNum type="arabicPeriod"/>
            </a:pPr>
            <a:r>
              <a:rPr 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Ensemble training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517236" y="4977096"/>
            <a:ext cx="35190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00FF"/>
              </a:buClr>
              <a:buFont typeface="+mj-lt"/>
              <a:buAutoNum type="arabicPeriod"/>
            </a:pPr>
            <a:r>
              <a:rPr 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Data parallelism</a:t>
            </a:r>
          </a:p>
          <a:p>
            <a:pPr marL="342900" indent="-342900">
              <a:buClr>
                <a:srgbClr val="0000FF"/>
              </a:buClr>
              <a:buFont typeface="+mj-lt"/>
              <a:buAutoNum type="arabicPeriod"/>
            </a:pPr>
            <a:endParaRPr lang="en-US" sz="20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342900" indent="-342900">
              <a:buClr>
                <a:srgbClr val="0000FF"/>
              </a:buClr>
              <a:buFont typeface="+mj-lt"/>
              <a:buAutoNum type="arabicPeriod"/>
            </a:pPr>
            <a:r>
              <a:rPr 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Ensemble training</a:t>
            </a: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4111" y="5781964"/>
            <a:ext cx="1076036" cy="1076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383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rgbClr val="0000FF"/>
              </a:buClr>
            </a:pP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How to use </a:t>
            </a:r>
            <a:r>
              <a:rPr lang="en-US" sz="2400" b="1" dirty="0" err="1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Horovod</a:t>
            </a: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– Data parallelism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09" y="1359460"/>
            <a:ext cx="4815453" cy="4399412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7961" y="1173018"/>
            <a:ext cx="48827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3333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1.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Run multiple copies of the training 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 scripts, and each copy: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5495636" y="1781151"/>
            <a:ext cx="2743200" cy="1157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Reads a chunk of data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Train the model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Compute the gradients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147962" y="3249390"/>
            <a:ext cx="48180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3338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2. 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Average the gradients from all the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 copies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5147962" y="4211743"/>
            <a:ext cx="48180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3338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3. 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Update the model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5147962" y="4987208"/>
            <a:ext cx="48180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3338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4. 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Repeat 1-3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1619671" y="5885140"/>
            <a:ext cx="3528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Microsoft Himalaya" panose="01010100010101010101" pitchFamily="2" charset="0"/>
              </a:rPr>
              <a:t>Same initializations!</a:t>
            </a:r>
          </a:p>
        </p:txBody>
      </p:sp>
    </p:spTree>
    <p:extLst>
      <p:ext uri="{BB962C8B-B14F-4D97-AF65-F5344CB8AC3E}">
        <p14:creationId xmlns:p14="http://schemas.microsoft.com/office/powerpoint/2010/main" val="755012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rgbClr val="0000FF"/>
              </a:buClr>
            </a:pP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Show me the code: Data parallelism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46185" y="820790"/>
            <a:ext cx="4793670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import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tensorflow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as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tf</a:t>
            </a:r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import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horovod.tensorflow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as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</a:t>
            </a:r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hvd.init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 </a:t>
            </a:r>
            <a:r>
              <a:rPr lang="en-US" sz="1600" dirty="0">
                <a:solidFill>
                  <a:srgbClr val="3338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#initialize the environment</a:t>
            </a:r>
          </a:p>
          <a:p>
            <a:endParaRPr lang="en-US" sz="1600" dirty="0">
              <a:solidFill>
                <a:srgbClr val="3338FD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solidFill>
                  <a:srgbClr val="3338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#pin one GPU to each </a:t>
            </a:r>
            <a:r>
              <a:rPr lang="en-US" sz="1600" dirty="0" err="1">
                <a:solidFill>
                  <a:srgbClr val="3338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tensorflow</a:t>
            </a:r>
            <a:r>
              <a:rPr lang="en-US" sz="1600" dirty="0">
                <a:solidFill>
                  <a:srgbClr val="3338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process</a:t>
            </a:r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config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tf.ConfigProto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 </a:t>
            </a:r>
          </a:p>
          <a:p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config.gpu_options.visible_device_list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str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hvd.local_rank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())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if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hvd.rank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 == 0: </a:t>
            </a:r>
            <a:r>
              <a:rPr lang="en-US" sz="1600" dirty="0">
                <a:solidFill>
                  <a:srgbClr val="3333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#read data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read_chunk_0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else: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read_chunk_n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…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solidFill>
                  <a:srgbClr val="3338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# Build model...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loss = ...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opt 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tf.train.AdamOptimizer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learning_rate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*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hvd.size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())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solidFill>
                  <a:srgbClr val="3338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# Add </a:t>
            </a:r>
            <a:r>
              <a:rPr lang="en-US" sz="1600" dirty="0" err="1">
                <a:solidFill>
                  <a:srgbClr val="3338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Horovod</a:t>
            </a:r>
            <a:r>
              <a:rPr lang="en-US" sz="1600" dirty="0">
                <a:solidFill>
                  <a:srgbClr val="3338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Distributed Optimizer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opt 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hvd.DistributedOptimizer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(opt)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train 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opt.minimize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(loss)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4668985" y="820790"/>
            <a:ext cx="479367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init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tf.global_variables_initializer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</a:t>
            </a:r>
          </a:p>
          <a:p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sess.run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init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)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solidFill>
                  <a:srgbClr val="3333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#broadcast the initialization to all processes</a:t>
            </a:r>
          </a:p>
          <a:p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bcast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hvd.broadcast_global_variables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(0)</a:t>
            </a:r>
          </a:p>
          <a:p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sess.run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bcast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)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while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train_step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&lt;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step_max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: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sess.run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([train, loss],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feed_dict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=…) </a:t>
            </a: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4111" y="5781964"/>
            <a:ext cx="1076036" cy="1076036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4906821" y="3809207"/>
            <a:ext cx="43179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horovodrun</a:t>
            </a:r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/</a:t>
            </a:r>
            <a:r>
              <a:rPr lang="en-US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mpirun</a:t>
            </a:r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–np </a:t>
            </a:r>
            <a:r>
              <a:rPr lang="en-US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NP</a:t>
            </a:r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–H </a:t>
            </a:r>
            <a:r>
              <a:rPr lang="en-US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localhost:NP</a:t>
            </a:r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</a:p>
          <a:p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python *.</a:t>
            </a:r>
            <a:r>
              <a:rPr lang="en-US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py</a:t>
            </a:r>
            <a:endParaRPr 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4906821" y="4874278"/>
            <a:ext cx="51331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mpirun</a:t>
            </a:r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–np </a:t>
            </a:r>
            <a:r>
              <a:rPr lang="en-US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NP</a:t>
            </a:r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–H </a:t>
            </a:r>
          </a:p>
          <a:p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server 1:np…server n: np …</a:t>
            </a:r>
          </a:p>
          <a:p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python *.</a:t>
            </a:r>
            <a:r>
              <a:rPr lang="en-US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py</a:t>
            </a:r>
            <a:endParaRPr 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14197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rgbClr val="0000FF"/>
              </a:buClr>
            </a:pP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Show me the code: Data parallelism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46185" y="820790"/>
            <a:ext cx="4793670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import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tensorflow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as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tf</a:t>
            </a:r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import </a:t>
            </a:r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horovod.tensorflow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as </a:t>
            </a:r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</a:t>
            </a:r>
            <a:endParaRPr lang="en-US" sz="1600" dirty="0">
              <a:solidFill>
                <a:srgbClr val="00B050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hvd.init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</a:t>
            </a:r>
          </a:p>
          <a:p>
            <a:endParaRPr lang="en-US" sz="1600" dirty="0">
              <a:solidFill>
                <a:srgbClr val="3338FD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config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tf.ConfigProto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 </a:t>
            </a:r>
          </a:p>
          <a:p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config.gpu_options.visible_device_list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</a:p>
          <a:p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= </a:t>
            </a:r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str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</a:t>
            </a:r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hvd.local_rank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())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if </a:t>
            </a:r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hvd.rank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 == 0:</a:t>
            </a:r>
          </a:p>
          <a:p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read_chunk_0</a:t>
            </a:r>
          </a:p>
          <a:p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else:</a:t>
            </a:r>
          </a:p>
          <a:p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</a:t>
            </a:r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read_chunk_n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…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loss = ...</a:t>
            </a:r>
          </a:p>
          <a:p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opt = </a:t>
            </a:r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tf.train.AdamOptimizer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</a:t>
            </a:r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learning_rate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* </a:t>
            </a:r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hvd.size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())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opt = </a:t>
            </a:r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hvd.DistributedOptimizer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(opt)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train 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opt.minimize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(loss)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4668985" y="820790"/>
            <a:ext cx="479367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init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tf.global_variables_initializer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</a:t>
            </a:r>
          </a:p>
          <a:p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sess.run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init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)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bcast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= </a:t>
            </a:r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hvd.broadcast_global_variables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(0)</a:t>
            </a:r>
          </a:p>
          <a:p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sess.run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</a:t>
            </a:r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bcast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)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while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train_step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&lt;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step_max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: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sess.run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([train, loss],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feed_dict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=…) </a:t>
            </a: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4111" y="5781964"/>
            <a:ext cx="1076036" cy="1076036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3556000" y="1016000"/>
            <a:ext cx="498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3333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1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955965" y="1513287"/>
            <a:ext cx="498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3333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3699163" y="2667449"/>
            <a:ext cx="498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3333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3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2673928" y="3625272"/>
            <a:ext cx="498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3333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4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4548910" y="4932217"/>
            <a:ext cx="498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3333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5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4548910" y="5643417"/>
            <a:ext cx="498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3333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6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4299528" y="1851730"/>
            <a:ext cx="498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3333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143369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rgbClr val="0000FF"/>
              </a:buClr>
            </a:pP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How to use </a:t>
            </a:r>
            <a:r>
              <a:rPr lang="en-US" sz="2400" b="1" dirty="0" err="1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Horovod</a:t>
            </a: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– Ensemble training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09" y="1359460"/>
            <a:ext cx="4815453" cy="4399412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7961" y="1173018"/>
            <a:ext cx="48827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3333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1.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Run multiple copies of the training 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 scripts, and each copy: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5495636" y="1781151"/>
            <a:ext cx="2743200" cy="1157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Reads a chunk of data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Train the model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Compute the gradients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5212616" y="3203223"/>
            <a:ext cx="48180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3338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2. 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Update the model using its 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 own gradient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5212616" y="3883488"/>
            <a:ext cx="48180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3338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3. 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Repeat 1-2</a:t>
            </a:r>
          </a:p>
        </p:txBody>
      </p:sp>
      <p:sp>
        <p:nvSpPr>
          <p:cNvPr id="5" name="乘号 4"/>
          <p:cNvSpPr/>
          <p:nvPr/>
        </p:nvSpPr>
        <p:spPr>
          <a:xfrm>
            <a:off x="762002" y="3495561"/>
            <a:ext cx="397163" cy="387927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乘号 12"/>
          <p:cNvSpPr/>
          <p:nvPr/>
        </p:nvSpPr>
        <p:spPr>
          <a:xfrm>
            <a:off x="762002" y="1610456"/>
            <a:ext cx="397163" cy="387927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乘号 13"/>
          <p:cNvSpPr/>
          <p:nvPr/>
        </p:nvSpPr>
        <p:spPr>
          <a:xfrm>
            <a:off x="2403108" y="1971876"/>
            <a:ext cx="397163" cy="387927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乘号 14"/>
          <p:cNvSpPr/>
          <p:nvPr/>
        </p:nvSpPr>
        <p:spPr>
          <a:xfrm>
            <a:off x="4236527" y="1998383"/>
            <a:ext cx="397163" cy="387927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090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rgbClr val="0000FF"/>
              </a:buClr>
            </a:pP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Show me the code: Ensemble training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46185" y="820790"/>
            <a:ext cx="4793670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import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tensorflow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as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tf</a:t>
            </a:r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import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horovod.tensorflow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as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</a:t>
            </a:r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hvd.init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 </a:t>
            </a:r>
            <a:r>
              <a:rPr lang="en-US" sz="1600" dirty="0">
                <a:solidFill>
                  <a:srgbClr val="3338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#initialize the environment</a:t>
            </a:r>
          </a:p>
          <a:p>
            <a:endParaRPr lang="en-US" sz="1600" dirty="0">
              <a:solidFill>
                <a:srgbClr val="3338FD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solidFill>
                  <a:srgbClr val="3338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#pin one GPU to each </a:t>
            </a:r>
            <a:r>
              <a:rPr lang="en-US" sz="1600" dirty="0" err="1">
                <a:solidFill>
                  <a:srgbClr val="3338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tensorflow</a:t>
            </a:r>
            <a:r>
              <a:rPr lang="en-US" sz="1600" dirty="0">
                <a:solidFill>
                  <a:srgbClr val="3338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process</a:t>
            </a:r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config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tf.ConfigProto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 </a:t>
            </a:r>
          </a:p>
          <a:p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config.gpu_options.visible_device_list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str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hvd.local_rank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())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if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hvd.rank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 == 0: </a:t>
            </a:r>
            <a:r>
              <a:rPr lang="en-US" sz="1600" dirty="0">
                <a:solidFill>
                  <a:srgbClr val="3333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#read data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read_chunk_0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else: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read_chunk_n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…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solidFill>
                  <a:srgbClr val="3338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# Build model...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loss = ...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opt 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tf.train.AdamOptimizer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learning_rate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)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# Add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Horovod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Distributed Optimizer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#opt 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hvd.DistributedOptimizer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(opt)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train 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opt.minimize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(loss)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4668985" y="820790"/>
            <a:ext cx="479367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init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tf.global_variables_initializer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</a:t>
            </a:r>
          </a:p>
          <a:p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sess.run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init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)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solidFill>
                  <a:srgbClr val="3333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#broadcast the initialization to all processes</a:t>
            </a:r>
          </a:p>
          <a:p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bcast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hvd.broadcast_global_variables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(0)</a:t>
            </a:r>
          </a:p>
          <a:p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sess.run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bcast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)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while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train_step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&lt;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step_max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: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sess.run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([train, loss],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feed_dict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=…) </a:t>
            </a: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4111" y="5781964"/>
            <a:ext cx="1076036" cy="1076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642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rgbClr val="0000FF"/>
              </a:buClr>
            </a:pP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Show me the code: Ensemble training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46185" y="820790"/>
            <a:ext cx="479367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import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tensorflow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as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tf</a:t>
            </a:r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import </a:t>
            </a:r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horovod.tensorflow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as </a:t>
            </a:r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</a:t>
            </a:r>
            <a:endParaRPr lang="en-US" sz="1600" dirty="0">
              <a:solidFill>
                <a:srgbClr val="00B050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hvd.init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</a:t>
            </a:r>
          </a:p>
          <a:p>
            <a:endParaRPr lang="en-US" sz="1600" dirty="0">
              <a:solidFill>
                <a:srgbClr val="3338FD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config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tf.ConfigProto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 </a:t>
            </a:r>
          </a:p>
          <a:p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config.gpu_options.visible_device_list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</a:p>
          <a:p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= </a:t>
            </a:r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str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</a:t>
            </a:r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hvd.local_rank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())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if </a:t>
            </a:r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hvd.rank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 == 0:</a:t>
            </a:r>
          </a:p>
          <a:p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read_chunk_0</a:t>
            </a:r>
          </a:p>
          <a:p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else:</a:t>
            </a:r>
          </a:p>
          <a:p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</a:t>
            </a:r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read_chunk_n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…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loss = ...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opt 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tf.train.AdamOptimizer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learning_rate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)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#opt 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hvd.DistributedOptimizer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(opt)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train 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opt.minimize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(loss)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4668985" y="820790"/>
            <a:ext cx="479367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init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=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tf.global_variables_initializer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()</a:t>
            </a:r>
          </a:p>
          <a:p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sess.run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init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)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bcast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= </a:t>
            </a:r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hvd.broadcast_global_variables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(0)</a:t>
            </a:r>
          </a:p>
          <a:p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sess.run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</a:t>
            </a:r>
            <a:r>
              <a:rPr lang="en-US" sz="1600" dirty="0" err="1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bcast</a:t>
            </a:r>
            <a:r>
              <a:rPr lang="en-US" sz="1600" dirty="0">
                <a:solidFill>
                  <a:srgbClr val="00B05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)</a:t>
            </a:r>
          </a:p>
          <a:p>
            <a:endParaRPr lang="en-US" sz="16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while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train_step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&lt;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step_max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:</a:t>
            </a:r>
          </a:p>
          <a:p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sess.run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([train, loss], </a:t>
            </a:r>
            <a:r>
              <a:rPr lang="en-US" sz="16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feed_dict</a:t>
            </a:r>
            <a:r>
              <a:rPr lang="en-US" sz="16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=…) </a:t>
            </a: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4111" y="5781964"/>
            <a:ext cx="1076036" cy="1076036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3556000" y="1016000"/>
            <a:ext cx="498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3333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1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955965" y="1513287"/>
            <a:ext cx="498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3333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3699163" y="2667449"/>
            <a:ext cx="498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3333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3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2673928" y="3625272"/>
            <a:ext cx="498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3333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4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4299528" y="1851730"/>
            <a:ext cx="498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3333FD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311025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193963" y="1052945"/>
            <a:ext cx="856210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00FF"/>
              </a:buClr>
              <a:buFont typeface="Wingdings" panose="05000000000000000000" pitchFamily="2" charset="2"/>
              <a:buChar char="Ø"/>
            </a:pPr>
            <a:r>
              <a:rPr 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What’s </a:t>
            </a:r>
            <a:r>
              <a:rPr lang="en-US" sz="24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Horovod</a:t>
            </a:r>
            <a:r>
              <a:rPr 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?</a:t>
            </a:r>
            <a:br>
              <a:rPr 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</a:b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Clr>
                <a:srgbClr val="0000FF"/>
              </a:buClr>
              <a:buFont typeface="Wingdings" panose="05000000000000000000" pitchFamily="2" charset="2"/>
              <a:buChar char="Ø"/>
            </a:pPr>
            <a:r>
              <a:rPr 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How to use?</a:t>
            </a:r>
            <a:br>
              <a:rPr 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</a:b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Clr>
                <a:srgbClr val="0000FF"/>
              </a:buClr>
              <a:buFont typeface="Wingdings" panose="05000000000000000000" pitchFamily="2" charset="2"/>
              <a:buChar char="Ø"/>
            </a:pP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Clr>
                <a:srgbClr val="0000FF"/>
              </a:buClr>
              <a:buFont typeface="Wingdings" panose="05000000000000000000" pitchFamily="2" charset="2"/>
              <a:buChar char="Ø"/>
            </a:pP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285750" indent="-285750">
              <a:buClr>
                <a:srgbClr val="0000FF"/>
              </a:buClr>
              <a:buFont typeface="Wingdings" panose="05000000000000000000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Examples for function approximation/PINN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17236" y="2761105"/>
            <a:ext cx="35190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00FF"/>
              </a:buClr>
              <a:buFont typeface="+mj-lt"/>
              <a:buAutoNum type="arabicPeriod"/>
            </a:pPr>
            <a:r>
              <a:rPr 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Data parallelism</a:t>
            </a:r>
          </a:p>
          <a:p>
            <a:pPr marL="342900" indent="-342900">
              <a:buClr>
                <a:srgbClr val="0000FF"/>
              </a:buClr>
              <a:buFont typeface="+mj-lt"/>
              <a:buAutoNum type="arabicPeriod"/>
            </a:pPr>
            <a:endParaRPr lang="en-US" sz="20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342900" indent="-342900">
              <a:buClr>
                <a:srgbClr val="0000FF"/>
              </a:buClr>
              <a:buFont typeface="+mj-lt"/>
              <a:buAutoNum type="arabicPeriod"/>
            </a:pPr>
            <a:r>
              <a:rPr 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Ensemble training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517236" y="4958623"/>
            <a:ext cx="35190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00FF"/>
              </a:buClr>
              <a:buFont typeface="+mj-lt"/>
              <a:buAutoNum type="arabicPeriod"/>
            </a:pPr>
            <a:r>
              <a:rPr 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Data parallelism</a:t>
            </a:r>
          </a:p>
          <a:p>
            <a:pPr marL="342900" indent="-342900">
              <a:buClr>
                <a:srgbClr val="0000FF"/>
              </a:buClr>
              <a:buFont typeface="+mj-lt"/>
              <a:buAutoNum type="arabicPeriod"/>
            </a:pPr>
            <a:endParaRPr lang="en-US" sz="20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marL="342900" indent="-342900">
              <a:buClr>
                <a:srgbClr val="0000FF"/>
              </a:buClr>
              <a:buFont typeface="+mj-lt"/>
              <a:buAutoNum type="arabicPeriod"/>
            </a:pPr>
            <a:r>
              <a:rPr 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Ensemble training</a:t>
            </a: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4111" y="5781964"/>
            <a:ext cx="1076036" cy="1076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64669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rgbClr val="0000FF"/>
              </a:buClr>
            </a:pP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Example 1: Function approximation </a:t>
            </a:r>
            <a:r>
              <a:rPr lang="en-US" sz="16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(Data parallelism)</a:t>
            </a:r>
          </a:p>
        </p:txBody>
      </p:sp>
      <p:graphicFrame>
        <p:nvGraphicFramePr>
          <p:cNvPr id="2" name="对象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3455401"/>
              </p:ext>
            </p:extLst>
          </p:nvPr>
        </p:nvGraphicFramePr>
        <p:xfrm>
          <a:off x="644047" y="1265499"/>
          <a:ext cx="4340516" cy="5017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197080" imgH="253800" progId="Equation.DSMT4">
                  <p:embed/>
                </p:oleObj>
              </mc:Choice>
              <mc:Fallback>
                <p:oleObj name="Equation" r:id="rId2" imgW="2197080" imgH="2538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44047" y="1265499"/>
                        <a:ext cx="4340516" cy="5017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0" name="组合 39"/>
          <p:cNvGrpSpPr/>
          <p:nvPr/>
        </p:nvGrpSpPr>
        <p:grpSpPr>
          <a:xfrm>
            <a:off x="5338907" y="958391"/>
            <a:ext cx="2788360" cy="1681018"/>
            <a:chOff x="5338907" y="958391"/>
            <a:chExt cx="2788360" cy="1681018"/>
          </a:xfrm>
        </p:grpSpPr>
        <p:grpSp>
          <p:nvGrpSpPr>
            <p:cNvPr id="28" name="组合 27"/>
            <p:cNvGrpSpPr/>
            <p:nvPr/>
          </p:nvGrpSpPr>
          <p:grpSpPr>
            <a:xfrm>
              <a:off x="5338907" y="958391"/>
              <a:ext cx="1293092" cy="1681018"/>
              <a:chOff x="1930399" y="1921164"/>
              <a:chExt cx="1293092" cy="168101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1930399" y="1921164"/>
                <a:ext cx="1293092" cy="1681018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5875">
                <a:solidFill>
                  <a:schemeClr val="accent5">
                    <a:lumMod val="20000"/>
                    <a:lumOff val="8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圆角矩形 4"/>
              <p:cNvSpPr/>
              <p:nvPr/>
            </p:nvSpPr>
            <p:spPr>
              <a:xfrm>
                <a:off x="2262033" y="2196666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圆角矩形 8"/>
              <p:cNvSpPr/>
              <p:nvPr/>
            </p:nvSpPr>
            <p:spPr>
              <a:xfrm>
                <a:off x="1965783" y="2595418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圆角矩形 9"/>
              <p:cNvSpPr/>
              <p:nvPr/>
            </p:nvSpPr>
            <p:spPr>
              <a:xfrm>
                <a:off x="2599911" y="2602345"/>
                <a:ext cx="577849" cy="152400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圆角矩形 10"/>
              <p:cNvSpPr/>
              <p:nvPr/>
            </p:nvSpPr>
            <p:spPr>
              <a:xfrm>
                <a:off x="2256254" y="2954047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文本框 5"/>
              <p:cNvSpPr txBox="1"/>
              <p:nvPr/>
            </p:nvSpPr>
            <p:spPr>
              <a:xfrm>
                <a:off x="2101272" y="3224547"/>
                <a:ext cx="9513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latin typeface="Microsoft YaHei UI" panose="020B0503020204020204" pitchFamily="34" charset="-122"/>
                    <a:ea typeface="Microsoft YaHei UI" panose="020B0503020204020204" pitchFamily="34" charset="-122"/>
                  </a:rPr>
                  <a:t>GPU 1</a:t>
                </a:r>
              </a:p>
            </p:txBody>
          </p:sp>
          <p:cxnSp>
            <p:nvCxnSpPr>
              <p:cNvPr id="13" name="直接箭头连接符 12"/>
              <p:cNvCxnSpPr>
                <a:stCxn id="11" idx="0"/>
              </p:cNvCxnSpPr>
              <p:nvPr/>
            </p:nvCxnSpPr>
            <p:spPr>
              <a:xfrm flipH="1" flipV="1">
                <a:off x="2224228" y="2761673"/>
                <a:ext cx="320951" cy="19237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直接箭头连接符 13"/>
              <p:cNvCxnSpPr>
                <a:stCxn id="11" idx="0"/>
                <a:endCxn id="10" idx="2"/>
              </p:cNvCxnSpPr>
              <p:nvPr/>
            </p:nvCxnSpPr>
            <p:spPr>
              <a:xfrm flipV="1">
                <a:off x="2545179" y="2754745"/>
                <a:ext cx="343657" cy="199302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接箭头连接符 16"/>
              <p:cNvCxnSpPr>
                <a:stCxn id="9" idx="0"/>
                <a:endCxn id="5" idx="2"/>
              </p:cNvCxnSpPr>
              <p:nvPr/>
            </p:nvCxnSpPr>
            <p:spPr>
              <a:xfrm flipV="1">
                <a:off x="2254708" y="2362921"/>
                <a:ext cx="296250" cy="232497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/>
              <p:cNvCxnSpPr>
                <a:stCxn id="10" idx="0"/>
                <a:endCxn id="5" idx="2"/>
              </p:cNvCxnSpPr>
              <p:nvPr/>
            </p:nvCxnSpPr>
            <p:spPr>
              <a:xfrm flipH="1" flipV="1">
                <a:off x="2550958" y="2362921"/>
                <a:ext cx="337878" cy="23942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" name="组合 28"/>
            <p:cNvGrpSpPr/>
            <p:nvPr/>
          </p:nvGrpSpPr>
          <p:grpSpPr>
            <a:xfrm>
              <a:off x="6834175" y="958391"/>
              <a:ext cx="1293092" cy="1681018"/>
              <a:chOff x="1930399" y="1921164"/>
              <a:chExt cx="1293092" cy="1681018"/>
            </a:xfrm>
          </p:grpSpPr>
          <p:sp>
            <p:nvSpPr>
              <p:cNvPr id="30" name="圆角矩形 29"/>
              <p:cNvSpPr/>
              <p:nvPr/>
            </p:nvSpPr>
            <p:spPr>
              <a:xfrm>
                <a:off x="1930399" y="1921164"/>
                <a:ext cx="1293092" cy="1681018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5875">
                <a:solidFill>
                  <a:schemeClr val="accent5">
                    <a:lumMod val="20000"/>
                    <a:lumOff val="8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圆角矩形 30"/>
              <p:cNvSpPr/>
              <p:nvPr/>
            </p:nvSpPr>
            <p:spPr>
              <a:xfrm>
                <a:off x="2262033" y="2196666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圆角矩形 31"/>
              <p:cNvSpPr/>
              <p:nvPr/>
            </p:nvSpPr>
            <p:spPr>
              <a:xfrm>
                <a:off x="1965783" y="2595418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圆角矩形 32"/>
              <p:cNvSpPr/>
              <p:nvPr/>
            </p:nvSpPr>
            <p:spPr>
              <a:xfrm>
                <a:off x="2599911" y="2602345"/>
                <a:ext cx="577849" cy="152400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圆角矩形 33"/>
              <p:cNvSpPr/>
              <p:nvPr/>
            </p:nvSpPr>
            <p:spPr>
              <a:xfrm>
                <a:off x="2256254" y="2954047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2128287" y="3223181"/>
                <a:ext cx="9513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latin typeface="Microsoft YaHei UI" panose="020B0503020204020204" pitchFamily="34" charset="-122"/>
                    <a:ea typeface="Microsoft YaHei UI" panose="020B0503020204020204" pitchFamily="34" charset="-122"/>
                  </a:rPr>
                  <a:t>GPU 2</a:t>
                </a:r>
              </a:p>
            </p:txBody>
          </p:sp>
          <p:cxnSp>
            <p:nvCxnSpPr>
              <p:cNvPr id="36" name="直接箭头连接符 35"/>
              <p:cNvCxnSpPr>
                <a:stCxn id="34" idx="0"/>
              </p:cNvCxnSpPr>
              <p:nvPr/>
            </p:nvCxnSpPr>
            <p:spPr>
              <a:xfrm flipH="1" flipV="1">
                <a:off x="2224228" y="2761673"/>
                <a:ext cx="320951" cy="19237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接箭头连接符 36"/>
              <p:cNvCxnSpPr>
                <a:stCxn id="34" idx="0"/>
                <a:endCxn id="33" idx="2"/>
              </p:cNvCxnSpPr>
              <p:nvPr/>
            </p:nvCxnSpPr>
            <p:spPr>
              <a:xfrm flipV="1">
                <a:off x="2545179" y="2754745"/>
                <a:ext cx="343657" cy="199302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直接箭头连接符 37"/>
              <p:cNvCxnSpPr>
                <a:stCxn id="32" idx="0"/>
                <a:endCxn id="31" idx="2"/>
              </p:cNvCxnSpPr>
              <p:nvPr/>
            </p:nvCxnSpPr>
            <p:spPr>
              <a:xfrm flipV="1">
                <a:off x="2254708" y="2362921"/>
                <a:ext cx="296250" cy="232497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接箭头连接符 38"/>
              <p:cNvCxnSpPr>
                <a:stCxn id="33" idx="0"/>
                <a:endCxn id="31" idx="2"/>
              </p:cNvCxnSpPr>
              <p:nvPr/>
            </p:nvCxnSpPr>
            <p:spPr>
              <a:xfrm flipH="1" flipV="1">
                <a:off x="2550958" y="2362921"/>
                <a:ext cx="337878" cy="23942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5" name="组合 44"/>
          <p:cNvGrpSpPr/>
          <p:nvPr/>
        </p:nvGrpSpPr>
        <p:grpSpPr>
          <a:xfrm>
            <a:off x="583373" y="1881407"/>
            <a:ext cx="3084208" cy="748333"/>
            <a:chOff x="649416" y="2075742"/>
            <a:chExt cx="3084208" cy="748333"/>
          </a:xfrm>
        </p:grpSpPr>
        <p:sp>
          <p:nvSpPr>
            <p:cNvPr id="41" name="文本框 40"/>
            <p:cNvSpPr txBox="1"/>
            <p:nvPr/>
          </p:nvSpPr>
          <p:spPr>
            <a:xfrm>
              <a:off x="649416" y="2075742"/>
              <a:ext cx="951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GPU 1</a:t>
              </a:r>
            </a:p>
          </p:txBody>
        </p:sp>
        <p:graphicFrame>
          <p:nvGraphicFramePr>
            <p:cNvPr id="42" name="对象 4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11977118"/>
                </p:ext>
              </p:extLst>
            </p:nvPr>
          </p:nvGraphicFramePr>
          <p:xfrm>
            <a:off x="1598437" y="2097689"/>
            <a:ext cx="2135187" cy="325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333440" imgH="203040" progId="Equation.DSMT4">
                    <p:embed/>
                  </p:oleObj>
                </mc:Choice>
                <mc:Fallback>
                  <p:oleObj name="Equation" r:id="rId4" imgW="1333440" imgH="20304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1598437" y="2097689"/>
                          <a:ext cx="2135187" cy="3254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3" name="文本框 42"/>
            <p:cNvSpPr txBox="1"/>
            <p:nvPr/>
          </p:nvSpPr>
          <p:spPr>
            <a:xfrm>
              <a:off x="649416" y="2454743"/>
              <a:ext cx="951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GPU 2</a:t>
              </a:r>
            </a:p>
          </p:txBody>
        </p:sp>
        <p:graphicFrame>
          <p:nvGraphicFramePr>
            <p:cNvPr id="44" name="对象 43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6691002"/>
                </p:ext>
              </p:extLst>
            </p:nvPr>
          </p:nvGraphicFramePr>
          <p:xfrm>
            <a:off x="1598437" y="2454743"/>
            <a:ext cx="1973263" cy="3254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231560" imgH="203040" progId="Equation.DSMT4">
                    <p:embed/>
                  </p:oleObj>
                </mc:Choice>
                <mc:Fallback>
                  <p:oleObj name="Equation" r:id="rId6" imgW="1231560" imgH="203040" progId="Equation.DSMT4">
                    <p:embed/>
                    <p:pic>
                      <p:nvPicPr>
                        <p:cNvPr id="42" name="对象 41"/>
                        <p:cNvPicPr/>
                        <p:nvPr/>
                      </p:nvPicPr>
                      <p:blipFill>
                        <a:blip r:embed="rId7"/>
                        <a:stretch>
                          <a:fillRect/>
                        </a:stretch>
                      </p:blipFill>
                      <p:spPr>
                        <a:xfrm>
                          <a:off x="1598437" y="2454743"/>
                          <a:ext cx="1973263" cy="3254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46" name="对象 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4934458"/>
              </p:ext>
            </p:extLst>
          </p:nvPr>
        </p:nvGraphicFramePr>
        <p:xfrm>
          <a:off x="4016472" y="2112099"/>
          <a:ext cx="600130" cy="2333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57200" imgH="177480" progId="Equation.DSMT4">
                  <p:embed/>
                </p:oleObj>
              </mc:Choice>
              <mc:Fallback>
                <p:oleObj name="Equation" r:id="rId8" imgW="457200" imgH="177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16472" y="2112099"/>
                        <a:ext cx="600130" cy="2333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7" name="图片 46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164" y="3545377"/>
            <a:ext cx="3851563" cy="3081251"/>
          </a:xfrm>
          <a:prstGeom prst="rect">
            <a:avLst/>
          </a:prstGeom>
        </p:spPr>
      </p:pic>
      <p:graphicFrame>
        <p:nvGraphicFramePr>
          <p:cNvPr id="48" name="对象 4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7155861"/>
              </p:ext>
            </p:extLst>
          </p:nvPr>
        </p:nvGraphicFramePr>
        <p:xfrm>
          <a:off x="3035300" y="2900363"/>
          <a:ext cx="2541588" cy="387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587240" imgH="241200" progId="Equation.DSMT4">
                  <p:embed/>
                </p:oleObj>
              </mc:Choice>
              <mc:Fallback>
                <p:oleObj name="Equation" r:id="rId11" imgW="1587240" imgH="241200" progId="Equation.DSMT4">
                  <p:embed/>
                  <p:pic>
                    <p:nvPicPr>
                      <p:cNvPr id="42" name="对象 41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3035300" y="2900363"/>
                        <a:ext cx="2541588" cy="387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9" name="图片 48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6044" y="3544373"/>
            <a:ext cx="3851910" cy="3081528"/>
          </a:xfrm>
          <a:prstGeom prst="rect">
            <a:avLst/>
          </a:prstGeom>
        </p:spPr>
      </p:pic>
      <p:sp>
        <p:nvSpPr>
          <p:cNvPr id="50" name="文本框 49"/>
          <p:cNvSpPr txBox="1"/>
          <p:nvPr/>
        </p:nvSpPr>
        <p:spPr>
          <a:xfrm>
            <a:off x="5338907" y="4945764"/>
            <a:ext cx="3350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y_pred</a:t>
            </a:r>
            <a:r>
              <a:rPr lang="en-US" sz="12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(GPU 1) – </a:t>
            </a:r>
            <a:r>
              <a:rPr lang="en-US" sz="1200" b="1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y_pred</a:t>
            </a:r>
            <a:r>
              <a:rPr lang="en-US" sz="12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(GPU 2)</a:t>
            </a:r>
          </a:p>
        </p:txBody>
      </p:sp>
    </p:spTree>
    <p:extLst>
      <p:ext uri="{BB962C8B-B14F-4D97-AF65-F5344CB8AC3E}">
        <p14:creationId xmlns:p14="http://schemas.microsoft.com/office/powerpoint/2010/main" val="3657277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rgbClr val="0000FF"/>
              </a:buClr>
            </a:pP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Example 2: Function approximation </a:t>
            </a:r>
            <a:r>
              <a:rPr lang="en-US" sz="16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(Ensemble training)</a:t>
            </a:r>
          </a:p>
        </p:txBody>
      </p:sp>
      <p:graphicFrame>
        <p:nvGraphicFramePr>
          <p:cNvPr id="3" name="对象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27358598"/>
              </p:ext>
            </p:extLst>
          </p:nvPr>
        </p:nvGraphicFramePr>
        <p:xfrm>
          <a:off x="644047" y="1265499"/>
          <a:ext cx="4340516" cy="5017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197080" imgH="253800" progId="Equation.DSMT4">
                  <p:embed/>
                </p:oleObj>
              </mc:Choice>
              <mc:Fallback>
                <p:oleObj name="Equation" r:id="rId2" imgW="2197080" imgH="253800" progId="Equation.DSMT4">
                  <p:embed/>
                  <p:pic>
                    <p:nvPicPr>
                      <p:cNvPr id="2" name="对象 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44047" y="1265499"/>
                        <a:ext cx="4340516" cy="5017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5338907" y="958391"/>
            <a:ext cx="2788360" cy="1681018"/>
            <a:chOff x="5338907" y="958391"/>
            <a:chExt cx="2788360" cy="1681018"/>
          </a:xfrm>
        </p:grpSpPr>
        <p:grpSp>
          <p:nvGrpSpPr>
            <p:cNvPr id="5" name="组合 4"/>
            <p:cNvGrpSpPr/>
            <p:nvPr/>
          </p:nvGrpSpPr>
          <p:grpSpPr>
            <a:xfrm>
              <a:off x="5338907" y="958391"/>
              <a:ext cx="1293092" cy="1681018"/>
              <a:chOff x="1930399" y="1921164"/>
              <a:chExt cx="1293092" cy="1681018"/>
            </a:xfrm>
          </p:grpSpPr>
          <p:sp>
            <p:nvSpPr>
              <p:cNvPr id="18" name="圆角矩形 17"/>
              <p:cNvSpPr/>
              <p:nvPr/>
            </p:nvSpPr>
            <p:spPr>
              <a:xfrm>
                <a:off x="1930399" y="1921164"/>
                <a:ext cx="1293092" cy="1681018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5875">
                <a:solidFill>
                  <a:schemeClr val="accent5">
                    <a:lumMod val="20000"/>
                    <a:lumOff val="8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圆角矩形 18"/>
              <p:cNvSpPr/>
              <p:nvPr/>
            </p:nvSpPr>
            <p:spPr>
              <a:xfrm>
                <a:off x="2262033" y="2196666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圆角矩形 19"/>
              <p:cNvSpPr/>
              <p:nvPr/>
            </p:nvSpPr>
            <p:spPr>
              <a:xfrm>
                <a:off x="1965783" y="2595418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圆角矩形 20"/>
              <p:cNvSpPr/>
              <p:nvPr/>
            </p:nvSpPr>
            <p:spPr>
              <a:xfrm>
                <a:off x="2599911" y="2602345"/>
                <a:ext cx="577849" cy="152400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圆角矩形 21"/>
              <p:cNvSpPr/>
              <p:nvPr/>
            </p:nvSpPr>
            <p:spPr>
              <a:xfrm>
                <a:off x="2256254" y="2954047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101272" y="3224547"/>
                <a:ext cx="9513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latin typeface="Microsoft YaHei UI" panose="020B0503020204020204" pitchFamily="34" charset="-122"/>
                    <a:ea typeface="Microsoft YaHei UI" panose="020B0503020204020204" pitchFamily="34" charset="-122"/>
                  </a:rPr>
                  <a:t>GPU 1</a:t>
                </a:r>
              </a:p>
            </p:txBody>
          </p:sp>
          <p:cxnSp>
            <p:nvCxnSpPr>
              <p:cNvPr id="24" name="直接箭头连接符 23"/>
              <p:cNvCxnSpPr>
                <a:stCxn id="22" idx="0"/>
              </p:cNvCxnSpPr>
              <p:nvPr/>
            </p:nvCxnSpPr>
            <p:spPr>
              <a:xfrm flipH="1" flipV="1">
                <a:off x="2224228" y="2761673"/>
                <a:ext cx="320951" cy="19237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接箭头连接符 24"/>
              <p:cNvCxnSpPr>
                <a:stCxn id="22" idx="0"/>
                <a:endCxn id="21" idx="2"/>
              </p:cNvCxnSpPr>
              <p:nvPr/>
            </p:nvCxnSpPr>
            <p:spPr>
              <a:xfrm flipV="1">
                <a:off x="2545179" y="2754745"/>
                <a:ext cx="343657" cy="199302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接箭头连接符 25"/>
              <p:cNvCxnSpPr>
                <a:stCxn id="20" idx="0"/>
                <a:endCxn id="19" idx="2"/>
              </p:cNvCxnSpPr>
              <p:nvPr/>
            </p:nvCxnSpPr>
            <p:spPr>
              <a:xfrm flipV="1">
                <a:off x="2254708" y="2362921"/>
                <a:ext cx="296250" cy="232497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接箭头连接符 26"/>
              <p:cNvCxnSpPr>
                <a:stCxn id="21" idx="0"/>
                <a:endCxn id="19" idx="2"/>
              </p:cNvCxnSpPr>
              <p:nvPr/>
            </p:nvCxnSpPr>
            <p:spPr>
              <a:xfrm flipH="1" flipV="1">
                <a:off x="2550958" y="2362921"/>
                <a:ext cx="337878" cy="23942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" name="组合 5"/>
            <p:cNvGrpSpPr/>
            <p:nvPr/>
          </p:nvGrpSpPr>
          <p:grpSpPr>
            <a:xfrm>
              <a:off x="6834175" y="958391"/>
              <a:ext cx="1293092" cy="1681018"/>
              <a:chOff x="1930399" y="1921164"/>
              <a:chExt cx="1293092" cy="1681018"/>
            </a:xfrm>
          </p:grpSpPr>
          <p:sp>
            <p:nvSpPr>
              <p:cNvPr id="7" name="圆角矩形 6"/>
              <p:cNvSpPr/>
              <p:nvPr/>
            </p:nvSpPr>
            <p:spPr>
              <a:xfrm>
                <a:off x="1930399" y="1921164"/>
                <a:ext cx="1293092" cy="1681018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5875">
                <a:solidFill>
                  <a:schemeClr val="accent5">
                    <a:lumMod val="20000"/>
                    <a:lumOff val="8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圆角矩形 8"/>
              <p:cNvSpPr/>
              <p:nvPr/>
            </p:nvSpPr>
            <p:spPr>
              <a:xfrm>
                <a:off x="2262033" y="2196666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圆角矩形 9"/>
              <p:cNvSpPr/>
              <p:nvPr/>
            </p:nvSpPr>
            <p:spPr>
              <a:xfrm>
                <a:off x="1965783" y="2595418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圆角矩形 10"/>
              <p:cNvSpPr/>
              <p:nvPr/>
            </p:nvSpPr>
            <p:spPr>
              <a:xfrm>
                <a:off x="2599911" y="2602345"/>
                <a:ext cx="577849" cy="152400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圆角矩形 11"/>
              <p:cNvSpPr/>
              <p:nvPr/>
            </p:nvSpPr>
            <p:spPr>
              <a:xfrm>
                <a:off x="2256254" y="2954047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2128287" y="3223181"/>
                <a:ext cx="9513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latin typeface="Microsoft YaHei UI" panose="020B0503020204020204" pitchFamily="34" charset="-122"/>
                    <a:ea typeface="Microsoft YaHei UI" panose="020B0503020204020204" pitchFamily="34" charset="-122"/>
                  </a:rPr>
                  <a:t>GPU 2</a:t>
                </a:r>
              </a:p>
            </p:txBody>
          </p:sp>
          <p:cxnSp>
            <p:nvCxnSpPr>
              <p:cNvPr id="14" name="直接箭头连接符 13"/>
              <p:cNvCxnSpPr>
                <a:stCxn id="12" idx="0"/>
              </p:cNvCxnSpPr>
              <p:nvPr/>
            </p:nvCxnSpPr>
            <p:spPr>
              <a:xfrm flipH="1" flipV="1">
                <a:off x="2224228" y="2761673"/>
                <a:ext cx="320951" cy="19237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接箭头连接符 14"/>
              <p:cNvCxnSpPr>
                <a:stCxn id="12" idx="0"/>
                <a:endCxn id="11" idx="2"/>
              </p:cNvCxnSpPr>
              <p:nvPr/>
            </p:nvCxnSpPr>
            <p:spPr>
              <a:xfrm flipV="1">
                <a:off x="2545179" y="2754745"/>
                <a:ext cx="343657" cy="199302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接箭头连接符 15"/>
              <p:cNvCxnSpPr>
                <a:stCxn id="10" idx="0"/>
                <a:endCxn id="9" idx="2"/>
              </p:cNvCxnSpPr>
              <p:nvPr/>
            </p:nvCxnSpPr>
            <p:spPr>
              <a:xfrm flipV="1">
                <a:off x="2254708" y="2362921"/>
                <a:ext cx="296250" cy="232497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接箭头连接符 16"/>
              <p:cNvCxnSpPr>
                <a:stCxn id="11" idx="0"/>
                <a:endCxn id="9" idx="2"/>
              </p:cNvCxnSpPr>
              <p:nvPr/>
            </p:nvCxnSpPr>
            <p:spPr>
              <a:xfrm flipH="1" flipV="1">
                <a:off x="2550958" y="2362921"/>
                <a:ext cx="337878" cy="23942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8" name="组合 27"/>
          <p:cNvGrpSpPr/>
          <p:nvPr/>
        </p:nvGrpSpPr>
        <p:grpSpPr>
          <a:xfrm>
            <a:off x="583373" y="1881407"/>
            <a:ext cx="3084208" cy="748333"/>
            <a:chOff x="649416" y="2075742"/>
            <a:chExt cx="3084208" cy="748333"/>
          </a:xfrm>
        </p:grpSpPr>
        <p:sp>
          <p:nvSpPr>
            <p:cNvPr id="29" name="文本框 28"/>
            <p:cNvSpPr txBox="1"/>
            <p:nvPr/>
          </p:nvSpPr>
          <p:spPr>
            <a:xfrm>
              <a:off x="649416" y="2075742"/>
              <a:ext cx="951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GPU 1</a:t>
              </a:r>
            </a:p>
          </p:txBody>
        </p:sp>
        <p:graphicFrame>
          <p:nvGraphicFramePr>
            <p:cNvPr id="30" name="对象 29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577561939"/>
                </p:ext>
              </p:extLst>
            </p:nvPr>
          </p:nvGraphicFramePr>
          <p:xfrm>
            <a:off x="1598437" y="2097689"/>
            <a:ext cx="2135187" cy="325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333440" imgH="203040" progId="Equation.DSMT4">
                    <p:embed/>
                  </p:oleObj>
                </mc:Choice>
                <mc:Fallback>
                  <p:oleObj name="Equation" r:id="rId4" imgW="1333440" imgH="203040" progId="Equation.DSMT4">
                    <p:embed/>
                    <p:pic>
                      <p:nvPicPr>
                        <p:cNvPr id="42" name="对象 41"/>
                        <p:cNvPicPr/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1598437" y="2097689"/>
                          <a:ext cx="2135187" cy="3254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1" name="文本框 30"/>
            <p:cNvSpPr txBox="1"/>
            <p:nvPr/>
          </p:nvSpPr>
          <p:spPr>
            <a:xfrm>
              <a:off x="649416" y="2454743"/>
              <a:ext cx="951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GPU 2</a:t>
              </a:r>
            </a:p>
          </p:txBody>
        </p:sp>
        <p:graphicFrame>
          <p:nvGraphicFramePr>
            <p:cNvPr id="32" name="对象 3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315972114"/>
                </p:ext>
              </p:extLst>
            </p:nvPr>
          </p:nvGraphicFramePr>
          <p:xfrm>
            <a:off x="1598437" y="2454743"/>
            <a:ext cx="1973263" cy="3254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231560" imgH="203040" progId="Equation.DSMT4">
                    <p:embed/>
                  </p:oleObj>
                </mc:Choice>
                <mc:Fallback>
                  <p:oleObj name="Equation" r:id="rId6" imgW="1231560" imgH="203040" progId="Equation.DSMT4">
                    <p:embed/>
                    <p:pic>
                      <p:nvPicPr>
                        <p:cNvPr id="44" name="对象 43"/>
                        <p:cNvPicPr/>
                        <p:nvPr/>
                      </p:nvPicPr>
                      <p:blipFill>
                        <a:blip r:embed="rId7"/>
                        <a:stretch>
                          <a:fillRect/>
                        </a:stretch>
                      </p:blipFill>
                      <p:spPr>
                        <a:xfrm>
                          <a:off x="1598437" y="2454743"/>
                          <a:ext cx="1973263" cy="3254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34" name="对象 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30404920"/>
              </p:ext>
            </p:extLst>
          </p:nvPr>
        </p:nvGraphicFramePr>
        <p:xfrm>
          <a:off x="4016472" y="2112099"/>
          <a:ext cx="600130" cy="2333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57200" imgH="177480" progId="Equation.DSMT4">
                  <p:embed/>
                </p:oleObj>
              </mc:Choice>
              <mc:Fallback>
                <p:oleObj name="Equation" r:id="rId8" imgW="457200" imgH="177480" progId="Equation.DSMT4">
                  <p:embed/>
                  <p:pic>
                    <p:nvPicPr>
                      <p:cNvPr id="46" name="对象 4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16472" y="2112099"/>
                        <a:ext cx="600130" cy="2333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5" name="组合 34"/>
          <p:cNvGrpSpPr/>
          <p:nvPr/>
        </p:nvGrpSpPr>
        <p:grpSpPr>
          <a:xfrm>
            <a:off x="644047" y="4308626"/>
            <a:ext cx="3476736" cy="766351"/>
            <a:chOff x="649416" y="2057724"/>
            <a:chExt cx="3476736" cy="766351"/>
          </a:xfrm>
        </p:grpSpPr>
        <p:sp>
          <p:nvSpPr>
            <p:cNvPr id="36" name="文本框 35"/>
            <p:cNvSpPr txBox="1"/>
            <p:nvPr/>
          </p:nvSpPr>
          <p:spPr>
            <a:xfrm>
              <a:off x="649416" y="2075742"/>
              <a:ext cx="951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GPU 1</a:t>
              </a:r>
            </a:p>
          </p:txBody>
        </p:sp>
        <p:graphicFrame>
          <p:nvGraphicFramePr>
            <p:cNvPr id="37" name="对象 3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721238741"/>
                </p:ext>
              </p:extLst>
            </p:nvPr>
          </p:nvGraphicFramePr>
          <p:xfrm>
            <a:off x="1543290" y="2057724"/>
            <a:ext cx="2582862" cy="3873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612800" imgH="241200" progId="Equation.DSMT4">
                    <p:embed/>
                  </p:oleObj>
                </mc:Choice>
                <mc:Fallback>
                  <p:oleObj name="Equation" r:id="rId10" imgW="1612800" imgH="241200" progId="Equation.DSMT4">
                    <p:embed/>
                    <p:pic>
                      <p:nvPicPr>
                        <p:cNvPr id="30" name="对象 29"/>
                        <p:cNvPicPr/>
                        <p:nvPr/>
                      </p:nvPicPr>
                      <p:blipFill>
                        <a:blip r:embed="rId11"/>
                        <a:stretch>
                          <a:fillRect/>
                        </a:stretch>
                      </p:blipFill>
                      <p:spPr>
                        <a:xfrm>
                          <a:off x="1543290" y="2057724"/>
                          <a:ext cx="2582862" cy="3873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8" name="文本框 37"/>
            <p:cNvSpPr txBox="1"/>
            <p:nvPr/>
          </p:nvSpPr>
          <p:spPr>
            <a:xfrm>
              <a:off x="649416" y="2454743"/>
              <a:ext cx="951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GPU 2</a:t>
              </a:r>
            </a:p>
          </p:txBody>
        </p:sp>
        <p:graphicFrame>
          <p:nvGraphicFramePr>
            <p:cNvPr id="39" name="对象 3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58662748"/>
                </p:ext>
              </p:extLst>
            </p:nvPr>
          </p:nvGraphicFramePr>
          <p:xfrm>
            <a:off x="1623459" y="2423126"/>
            <a:ext cx="2422525" cy="3873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511280" imgH="241200" progId="Equation.DSMT4">
                    <p:embed/>
                  </p:oleObj>
                </mc:Choice>
                <mc:Fallback>
                  <p:oleObj name="Equation" r:id="rId12" imgW="1511280" imgH="241200" progId="Equation.DSMT4">
                    <p:embed/>
                    <p:pic>
                      <p:nvPicPr>
                        <p:cNvPr id="32" name="对象 31"/>
                        <p:cNvPicPr/>
                        <p:nvPr/>
                      </p:nvPicPr>
                      <p:blipFill>
                        <a:blip r:embed="rId13"/>
                        <a:stretch>
                          <a:fillRect/>
                        </a:stretch>
                      </p:blipFill>
                      <p:spPr>
                        <a:xfrm>
                          <a:off x="1623459" y="2423126"/>
                          <a:ext cx="2422525" cy="3873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40" name="对象 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6432834"/>
              </p:ext>
            </p:extLst>
          </p:nvPr>
        </p:nvGraphicFramePr>
        <p:xfrm>
          <a:off x="5920007" y="2766153"/>
          <a:ext cx="1817872" cy="2770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333440" imgH="203040" progId="Equation.DSMT4">
                  <p:embed/>
                </p:oleObj>
              </mc:Choice>
              <mc:Fallback>
                <p:oleObj name="Equation" r:id="rId14" imgW="1333440" imgH="203040" progId="Equation.DSMT4">
                  <p:embed/>
                  <p:pic>
                    <p:nvPicPr>
                      <p:cNvPr id="51" name="对象 50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5920007" y="2766153"/>
                        <a:ext cx="1817872" cy="27700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图片 1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6018" y="3410163"/>
            <a:ext cx="4000500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9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rgbClr val="0000FF"/>
              </a:buClr>
            </a:pP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Example 2: Function approximation </a:t>
            </a:r>
            <a:r>
              <a:rPr lang="en-US" sz="16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(Ensemble training)</a:t>
            </a:r>
          </a:p>
        </p:txBody>
      </p:sp>
      <p:graphicFrame>
        <p:nvGraphicFramePr>
          <p:cNvPr id="3" name="对象 2"/>
          <p:cNvGraphicFramePr>
            <a:graphicFrameLocks noChangeAspect="1"/>
          </p:cNvGraphicFramePr>
          <p:nvPr/>
        </p:nvGraphicFramePr>
        <p:xfrm>
          <a:off x="644047" y="1265499"/>
          <a:ext cx="4340516" cy="5017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197080" imgH="253800" progId="Equation.DSMT4">
                  <p:embed/>
                </p:oleObj>
              </mc:Choice>
              <mc:Fallback>
                <p:oleObj name="Equation" r:id="rId2" imgW="2197080" imgH="253800" progId="Equation.DSMT4">
                  <p:embed/>
                  <p:pic>
                    <p:nvPicPr>
                      <p:cNvPr id="3" name="对象 2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44047" y="1265499"/>
                        <a:ext cx="4340516" cy="5017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5338907" y="958391"/>
            <a:ext cx="2788360" cy="1681018"/>
            <a:chOff x="5338907" y="958391"/>
            <a:chExt cx="2788360" cy="1681018"/>
          </a:xfrm>
        </p:grpSpPr>
        <p:grpSp>
          <p:nvGrpSpPr>
            <p:cNvPr id="5" name="组合 4"/>
            <p:cNvGrpSpPr/>
            <p:nvPr/>
          </p:nvGrpSpPr>
          <p:grpSpPr>
            <a:xfrm>
              <a:off x="5338907" y="958391"/>
              <a:ext cx="1293092" cy="1681018"/>
              <a:chOff x="1930399" y="1921164"/>
              <a:chExt cx="1293092" cy="1681018"/>
            </a:xfrm>
          </p:grpSpPr>
          <p:sp>
            <p:nvSpPr>
              <p:cNvPr id="18" name="圆角矩形 17"/>
              <p:cNvSpPr/>
              <p:nvPr/>
            </p:nvSpPr>
            <p:spPr>
              <a:xfrm>
                <a:off x="1930399" y="1921164"/>
                <a:ext cx="1293092" cy="1681018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5875">
                <a:solidFill>
                  <a:schemeClr val="accent5">
                    <a:lumMod val="20000"/>
                    <a:lumOff val="8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圆角矩形 18"/>
              <p:cNvSpPr/>
              <p:nvPr/>
            </p:nvSpPr>
            <p:spPr>
              <a:xfrm>
                <a:off x="2262033" y="2196666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圆角矩形 19"/>
              <p:cNvSpPr/>
              <p:nvPr/>
            </p:nvSpPr>
            <p:spPr>
              <a:xfrm>
                <a:off x="1965783" y="2595418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圆角矩形 20"/>
              <p:cNvSpPr/>
              <p:nvPr/>
            </p:nvSpPr>
            <p:spPr>
              <a:xfrm>
                <a:off x="2599911" y="2602345"/>
                <a:ext cx="577849" cy="152400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圆角矩形 21"/>
              <p:cNvSpPr/>
              <p:nvPr/>
            </p:nvSpPr>
            <p:spPr>
              <a:xfrm>
                <a:off x="2256254" y="2954047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101272" y="3224547"/>
                <a:ext cx="9513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latin typeface="Microsoft YaHei UI" panose="020B0503020204020204" pitchFamily="34" charset="-122"/>
                    <a:ea typeface="Microsoft YaHei UI" panose="020B0503020204020204" pitchFamily="34" charset="-122"/>
                  </a:rPr>
                  <a:t>GPU 1</a:t>
                </a:r>
              </a:p>
            </p:txBody>
          </p:sp>
          <p:cxnSp>
            <p:nvCxnSpPr>
              <p:cNvPr id="24" name="直接箭头连接符 23"/>
              <p:cNvCxnSpPr>
                <a:stCxn id="22" idx="0"/>
              </p:cNvCxnSpPr>
              <p:nvPr/>
            </p:nvCxnSpPr>
            <p:spPr>
              <a:xfrm flipH="1" flipV="1">
                <a:off x="2224228" y="2761673"/>
                <a:ext cx="320951" cy="19237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接箭头连接符 24"/>
              <p:cNvCxnSpPr>
                <a:stCxn id="22" idx="0"/>
                <a:endCxn id="21" idx="2"/>
              </p:cNvCxnSpPr>
              <p:nvPr/>
            </p:nvCxnSpPr>
            <p:spPr>
              <a:xfrm flipV="1">
                <a:off x="2545179" y="2754745"/>
                <a:ext cx="343657" cy="199302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接箭头连接符 25"/>
              <p:cNvCxnSpPr>
                <a:stCxn id="20" idx="0"/>
                <a:endCxn id="19" idx="2"/>
              </p:cNvCxnSpPr>
              <p:nvPr/>
            </p:nvCxnSpPr>
            <p:spPr>
              <a:xfrm flipV="1">
                <a:off x="2254708" y="2362921"/>
                <a:ext cx="296250" cy="232497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接箭头连接符 26"/>
              <p:cNvCxnSpPr>
                <a:stCxn id="21" idx="0"/>
                <a:endCxn id="19" idx="2"/>
              </p:cNvCxnSpPr>
              <p:nvPr/>
            </p:nvCxnSpPr>
            <p:spPr>
              <a:xfrm flipH="1" flipV="1">
                <a:off x="2550958" y="2362921"/>
                <a:ext cx="337878" cy="23942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" name="组合 5"/>
            <p:cNvGrpSpPr/>
            <p:nvPr/>
          </p:nvGrpSpPr>
          <p:grpSpPr>
            <a:xfrm>
              <a:off x="6834175" y="958391"/>
              <a:ext cx="1293092" cy="1681018"/>
              <a:chOff x="1930399" y="1921164"/>
              <a:chExt cx="1293092" cy="1681018"/>
            </a:xfrm>
          </p:grpSpPr>
          <p:sp>
            <p:nvSpPr>
              <p:cNvPr id="7" name="圆角矩形 6"/>
              <p:cNvSpPr/>
              <p:nvPr/>
            </p:nvSpPr>
            <p:spPr>
              <a:xfrm>
                <a:off x="1930399" y="1921164"/>
                <a:ext cx="1293092" cy="1681018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5875">
                <a:solidFill>
                  <a:schemeClr val="accent5">
                    <a:lumMod val="20000"/>
                    <a:lumOff val="8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圆角矩形 8"/>
              <p:cNvSpPr/>
              <p:nvPr/>
            </p:nvSpPr>
            <p:spPr>
              <a:xfrm>
                <a:off x="2262033" y="2196666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圆角矩形 9"/>
              <p:cNvSpPr/>
              <p:nvPr/>
            </p:nvSpPr>
            <p:spPr>
              <a:xfrm>
                <a:off x="1965783" y="2595418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圆角矩形 10"/>
              <p:cNvSpPr/>
              <p:nvPr/>
            </p:nvSpPr>
            <p:spPr>
              <a:xfrm>
                <a:off x="2599911" y="2602345"/>
                <a:ext cx="577849" cy="152400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圆角矩形 11"/>
              <p:cNvSpPr/>
              <p:nvPr/>
            </p:nvSpPr>
            <p:spPr>
              <a:xfrm>
                <a:off x="2256254" y="2954047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2128287" y="3223181"/>
                <a:ext cx="9513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latin typeface="Microsoft YaHei UI" panose="020B0503020204020204" pitchFamily="34" charset="-122"/>
                    <a:ea typeface="Microsoft YaHei UI" panose="020B0503020204020204" pitchFamily="34" charset="-122"/>
                  </a:rPr>
                  <a:t>GPU 2</a:t>
                </a:r>
              </a:p>
            </p:txBody>
          </p:sp>
          <p:cxnSp>
            <p:nvCxnSpPr>
              <p:cNvPr id="14" name="直接箭头连接符 13"/>
              <p:cNvCxnSpPr>
                <a:stCxn id="12" idx="0"/>
              </p:cNvCxnSpPr>
              <p:nvPr/>
            </p:nvCxnSpPr>
            <p:spPr>
              <a:xfrm flipH="1" flipV="1">
                <a:off x="2224228" y="2761673"/>
                <a:ext cx="320951" cy="19237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接箭头连接符 14"/>
              <p:cNvCxnSpPr>
                <a:stCxn id="12" idx="0"/>
                <a:endCxn id="11" idx="2"/>
              </p:cNvCxnSpPr>
              <p:nvPr/>
            </p:nvCxnSpPr>
            <p:spPr>
              <a:xfrm flipV="1">
                <a:off x="2545179" y="2754745"/>
                <a:ext cx="343657" cy="199302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接箭头连接符 15"/>
              <p:cNvCxnSpPr>
                <a:stCxn id="10" idx="0"/>
                <a:endCxn id="9" idx="2"/>
              </p:cNvCxnSpPr>
              <p:nvPr/>
            </p:nvCxnSpPr>
            <p:spPr>
              <a:xfrm flipV="1">
                <a:off x="2254708" y="2362921"/>
                <a:ext cx="296250" cy="232497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接箭头连接符 16"/>
              <p:cNvCxnSpPr>
                <a:stCxn id="11" idx="0"/>
                <a:endCxn id="9" idx="2"/>
              </p:cNvCxnSpPr>
              <p:nvPr/>
            </p:nvCxnSpPr>
            <p:spPr>
              <a:xfrm flipH="1" flipV="1">
                <a:off x="2550958" y="2362921"/>
                <a:ext cx="337878" cy="23942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8" name="组合 27"/>
          <p:cNvGrpSpPr/>
          <p:nvPr/>
        </p:nvGrpSpPr>
        <p:grpSpPr>
          <a:xfrm>
            <a:off x="583373" y="1881407"/>
            <a:ext cx="3084208" cy="748333"/>
            <a:chOff x="649416" y="2075742"/>
            <a:chExt cx="3084208" cy="748333"/>
          </a:xfrm>
        </p:grpSpPr>
        <p:sp>
          <p:nvSpPr>
            <p:cNvPr id="29" name="文本框 28"/>
            <p:cNvSpPr txBox="1"/>
            <p:nvPr/>
          </p:nvSpPr>
          <p:spPr>
            <a:xfrm>
              <a:off x="649416" y="2075742"/>
              <a:ext cx="951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GPU 1</a:t>
              </a:r>
            </a:p>
          </p:txBody>
        </p:sp>
        <p:graphicFrame>
          <p:nvGraphicFramePr>
            <p:cNvPr id="30" name="对象 29"/>
            <p:cNvGraphicFramePr>
              <a:graphicFrameLocks noChangeAspect="1"/>
            </p:cNvGraphicFramePr>
            <p:nvPr/>
          </p:nvGraphicFramePr>
          <p:xfrm>
            <a:off x="1598437" y="2097689"/>
            <a:ext cx="2135187" cy="325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333440" imgH="203040" progId="Equation.DSMT4">
                    <p:embed/>
                  </p:oleObj>
                </mc:Choice>
                <mc:Fallback>
                  <p:oleObj name="Equation" r:id="rId4" imgW="1333440" imgH="203040" progId="Equation.DSMT4">
                    <p:embed/>
                    <p:pic>
                      <p:nvPicPr>
                        <p:cNvPr id="30" name="对象 29"/>
                        <p:cNvPicPr/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1598437" y="2097689"/>
                          <a:ext cx="2135187" cy="3254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1" name="文本框 30"/>
            <p:cNvSpPr txBox="1"/>
            <p:nvPr/>
          </p:nvSpPr>
          <p:spPr>
            <a:xfrm>
              <a:off x="649416" y="2454743"/>
              <a:ext cx="951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GPU 2</a:t>
              </a:r>
            </a:p>
          </p:txBody>
        </p:sp>
        <p:graphicFrame>
          <p:nvGraphicFramePr>
            <p:cNvPr id="32" name="对象 31"/>
            <p:cNvGraphicFramePr>
              <a:graphicFrameLocks noChangeAspect="1"/>
            </p:cNvGraphicFramePr>
            <p:nvPr/>
          </p:nvGraphicFramePr>
          <p:xfrm>
            <a:off x="1598437" y="2454743"/>
            <a:ext cx="1973263" cy="3254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231560" imgH="203040" progId="Equation.DSMT4">
                    <p:embed/>
                  </p:oleObj>
                </mc:Choice>
                <mc:Fallback>
                  <p:oleObj name="Equation" r:id="rId6" imgW="1231560" imgH="203040" progId="Equation.DSMT4">
                    <p:embed/>
                    <p:pic>
                      <p:nvPicPr>
                        <p:cNvPr id="32" name="对象 31"/>
                        <p:cNvPicPr/>
                        <p:nvPr/>
                      </p:nvPicPr>
                      <p:blipFill>
                        <a:blip r:embed="rId7"/>
                        <a:stretch>
                          <a:fillRect/>
                        </a:stretch>
                      </p:blipFill>
                      <p:spPr>
                        <a:xfrm>
                          <a:off x="1598437" y="2454743"/>
                          <a:ext cx="1973263" cy="3254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34" name="对象 33"/>
          <p:cNvGraphicFramePr>
            <a:graphicFrameLocks noChangeAspect="1"/>
          </p:cNvGraphicFramePr>
          <p:nvPr/>
        </p:nvGraphicFramePr>
        <p:xfrm>
          <a:off x="4016472" y="2112099"/>
          <a:ext cx="600130" cy="2333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57200" imgH="177480" progId="Equation.DSMT4">
                  <p:embed/>
                </p:oleObj>
              </mc:Choice>
              <mc:Fallback>
                <p:oleObj name="Equation" r:id="rId8" imgW="457200" imgH="177480" progId="Equation.DSMT4">
                  <p:embed/>
                  <p:pic>
                    <p:nvPicPr>
                      <p:cNvPr id="34" name="对象 3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16472" y="2112099"/>
                        <a:ext cx="600130" cy="2333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5" name="组合 34"/>
          <p:cNvGrpSpPr/>
          <p:nvPr/>
        </p:nvGrpSpPr>
        <p:grpSpPr>
          <a:xfrm>
            <a:off x="644047" y="4670143"/>
            <a:ext cx="3458053" cy="766068"/>
            <a:chOff x="649416" y="2058007"/>
            <a:chExt cx="3458053" cy="766068"/>
          </a:xfrm>
        </p:grpSpPr>
        <p:sp>
          <p:nvSpPr>
            <p:cNvPr id="36" name="文本框 35"/>
            <p:cNvSpPr txBox="1"/>
            <p:nvPr/>
          </p:nvSpPr>
          <p:spPr>
            <a:xfrm>
              <a:off x="649416" y="2075742"/>
              <a:ext cx="951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GPU 1</a:t>
              </a:r>
            </a:p>
          </p:txBody>
        </p:sp>
        <p:graphicFrame>
          <p:nvGraphicFramePr>
            <p:cNvPr id="37" name="对象 3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45301472"/>
                </p:ext>
              </p:extLst>
            </p:nvPr>
          </p:nvGraphicFramePr>
          <p:xfrm>
            <a:off x="1564294" y="2058007"/>
            <a:ext cx="2541588" cy="3873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587240" imgH="241200" progId="Equation.DSMT4">
                    <p:embed/>
                  </p:oleObj>
                </mc:Choice>
                <mc:Fallback>
                  <p:oleObj name="Equation" r:id="rId10" imgW="1587240" imgH="241200" progId="Equation.DSMT4">
                    <p:embed/>
                    <p:pic>
                      <p:nvPicPr>
                        <p:cNvPr id="37" name="对象 36"/>
                        <p:cNvPicPr/>
                        <p:nvPr/>
                      </p:nvPicPr>
                      <p:blipFill>
                        <a:blip r:embed="rId11"/>
                        <a:stretch>
                          <a:fillRect/>
                        </a:stretch>
                      </p:blipFill>
                      <p:spPr>
                        <a:xfrm>
                          <a:off x="1564294" y="2058007"/>
                          <a:ext cx="2541588" cy="3873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8" name="文本框 37"/>
            <p:cNvSpPr txBox="1"/>
            <p:nvPr/>
          </p:nvSpPr>
          <p:spPr>
            <a:xfrm>
              <a:off x="649416" y="2454743"/>
              <a:ext cx="951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GPU 2</a:t>
              </a:r>
            </a:p>
          </p:txBody>
        </p:sp>
        <p:graphicFrame>
          <p:nvGraphicFramePr>
            <p:cNvPr id="39" name="对象 3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65784912"/>
                </p:ext>
              </p:extLst>
            </p:nvPr>
          </p:nvGraphicFramePr>
          <p:xfrm>
            <a:off x="1562707" y="2423132"/>
            <a:ext cx="2544762" cy="3873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587240" imgH="241200" progId="Equation.DSMT4">
                    <p:embed/>
                  </p:oleObj>
                </mc:Choice>
                <mc:Fallback>
                  <p:oleObj name="Equation" r:id="rId12" imgW="1587240" imgH="241200" progId="Equation.DSMT4">
                    <p:embed/>
                    <p:pic>
                      <p:nvPicPr>
                        <p:cNvPr id="39" name="对象 38"/>
                        <p:cNvPicPr/>
                        <p:nvPr/>
                      </p:nvPicPr>
                      <p:blipFill>
                        <a:blip r:embed="rId13"/>
                        <a:stretch>
                          <a:fillRect/>
                        </a:stretch>
                      </p:blipFill>
                      <p:spPr>
                        <a:xfrm>
                          <a:off x="1562707" y="2423132"/>
                          <a:ext cx="2544762" cy="3873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40" name="对象 39"/>
          <p:cNvGraphicFramePr>
            <a:graphicFrameLocks noChangeAspect="1"/>
          </p:cNvGraphicFramePr>
          <p:nvPr/>
        </p:nvGraphicFramePr>
        <p:xfrm>
          <a:off x="5920007" y="2766153"/>
          <a:ext cx="1817872" cy="2770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333440" imgH="203040" progId="Equation.DSMT4">
                  <p:embed/>
                </p:oleObj>
              </mc:Choice>
              <mc:Fallback>
                <p:oleObj name="Equation" r:id="rId14" imgW="1333440" imgH="203040" progId="Equation.DSMT4">
                  <p:embed/>
                  <p:pic>
                    <p:nvPicPr>
                      <p:cNvPr id="40" name="对象 39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5920007" y="2766153"/>
                        <a:ext cx="1817872" cy="27700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1" name="图片 40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749" y="3452977"/>
            <a:ext cx="4000500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324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图片 5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2523" y="3271947"/>
            <a:ext cx="3429000" cy="2743200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004" y="3305164"/>
            <a:ext cx="3429000" cy="2743200"/>
          </a:xfrm>
          <a:prstGeom prst="rect">
            <a:avLst/>
          </a:prstGeom>
        </p:spPr>
      </p:pic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rgbClr val="0000FF"/>
              </a:buClr>
            </a:pP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Example 3: PINNs </a:t>
            </a:r>
            <a:r>
              <a:rPr lang="en-US" sz="16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(Data parallelism)</a:t>
            </a:r>
          </a:p>
        </p:txBody>
      </p:sp>
      <p:grpSp>
        <p:nvGrpSpPr>
          <p:cNvPr id="4" name="组合 3"/>
          <p:cNvGrpSpPr/>
          <p:nvPr/>
        </p:nvGrpSpPr>
        <p:grpSpPr>
          <a:xfrm>
            <a:off x="5865380" y="978462"/>
            <a:ext cx="2788360" cy="1681018"/>
            <a:chOff x="5338907" y="958391"/>
            <a:chExt cx="2788360" cy="1681018"/>
          </a:xfrm>
        </p:grpSpPr>
        <p:grpSp>
          <p:nvGrpSpPr>
            <p:cNvPr id="5" name="组合 4"/>
            <p:cNvGrpSpPr/>
            <p:nvPr/>
          </p:nvGrpSpPr>
          <p:grpSpPr>
            <a:xfrm>
              <a:off x="5338907" y="958391"/>
              <a:ext cx="1293092" cy="1681018"/>
              <a:chOff x="1930399" y="1921164"/>
              <a:chExt cx="1293092" cy="1681018"/>
            </a:xfrm>
          </p:grpSpPr>
          <p:sp>
            <p:nvSpPr>
              <p:cNvPr id="18" name="圆角矩形 17"/>
              <p:cNvSpPr/>
              <p:nvPr/>
            </p:nvSpPr>
            <p:spPr>
              <a:xfrm>
                <a:off x="1930399" y="1921164"/>
                <a:ext cx="1293092" cy="1681018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5875">
                <a:solidFill>
                  <a:schemeClr val="accent5">
                    <a:lumMod val="20000"/>
                    <a:lumOff val="8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圆角矩形 18"/>
              <p:cNvSpPr/>
              <p:nvPr/>
            </p:nvSpPr>
            <p:spPr>
              <a:xfrm>
                <a:off x="2262033" y="2196666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圆角矩形 19"/>
              <p:cNvSpPr/>
              <p:nvPr/>
            </p:nvSpPr>
            <p:spPr>
              <a:xfrm>
                <a:off x="1965783" y="2595418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圆角矩形 20"/>
              <p:cNvSpPr/>
              <p:nvPr/>
            </p:nvSpPr>
            <p:spPr>
              <a:xfrm>
                <a:off x="2599911" y="2602345"/>
                <a:ext cx="577849" cy="152400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圆角矩形 21"/>
              <p:cNvSpPr/>
              <p:nvPr/>
            </p:nvSpPr>
            <p:spPr>
              <a:xfrm>
                <a:off x="2256254" y="2954047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101272" y="3224547"/>
                <a:ext cx="9513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latin typeface="Microsoft YaHei UI" panose="020B0503020204020204" pitchFamily="34" charset="-122"/>
                    <a:ea typeface="Microsoft YaHei UI" panose="020B0503020204020204" pitchFamily="34" charset="-122"/>
                  </a:rPr>
                  <a:t>GPU 1</a:t>
                </a:r>
              </a:p>
            </p:txBody>
          </p:sp>
          <p:cxnSp>
            <p:nvCxnSpPr>
              <p:cNvPr id="24" name="直接箭头连接符 23"/>
              <p:cNvCxnSpPr>
                <a:stCxn id="22" idx="0"/>
              </p:cNvCxnSpPr>
              <p:nvPr/>
            </p:nvCxnSpPr>
            <p:spPr>
              <a:xfrm flipH="1" flipV="1">
                <a:off x="2224228" y="2761673"/>
                <a:ext cx="320951" cy="19237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接箭头连接符 24"/>
              <p:cNvCxnSpPr>
                <a:stCxn id="22" idx="0"/>
                <a:endCxn id="21" idx="2"/>
              </p:cNvCxnSpPr>
              <p:nvPr/>
            </p:nvCxnSpPr>
            <p:spPr>
              <a:xfrm flipV="1">
                <a:off x="2545179" y="2754745"/>
                <a:ext cx="343657" cy="199302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接箭头连接符 25"/>
              <p:cNvCxnSpPr>
                <a:stCxn id="20" idx="0"/>
                <a:endCxn id="19" idx="2"/>
              </p:cNvCxnSpPr>
              <p:nvPr/>
            </p:nvCxnSpPr>
            <p:spPr>
              <a:xfrm flipV="1">
                <a:off x="2254708" y="2362921"/>
                <a:ext cx="296250" cy="232497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接箭头连接符 26"/>
              <p:cNvCxnSpPr>
                <a:stCxn id="21" idx="0"/>
                <a:endCxn id="19" idx="2"/>
              </p:cNvCxnSpPr>
              <p:nvPr/>
            </p:nvCxnSpPr>
            <p:spPr>
              <a:xfrm flipH="1" flipV="1">
                <a:off x="2550958" y="2362921"/>
                <a:ext cx="337878" cy="23942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" name="组合 5"/>
            <p:cNvGrpSpPr/>
            <p:nvPr/>
          </p:nvGrpSpPr>
          <p:grpSpPr>
            <a:xfrm>
              <a:off x="6834175" y="958391"/>
              <a:ext cx="1293092" cy="1681018"/>
              <a:chOff x="1930399" y="1921164"/>
              <a:chExt cx="1293092" cy="1681018"/>
            </a:xfrm>
          </p:grpSpPr>
          <p:sp>
            <p:nvSpPr>
              <p:cNvPr id="7" name="圆角矩形 6"/>
              <p:cNvSpPr/>
              <p:nvPr/>
            </p:nvSpPr>
            <p:spPr>
              <a:xfrm>
                <a:off x="1930399" y="1921164"/>
                <a:ext cx="1293092" cy="1681018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5875">
                <a:solidFill>
                  <a:schemeClr val="accent5">
                    <a:lumMod val="20000"/>
                    <a:lumOff val="8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圆角矩形 8"/>
              <p:cNvSpPr/>
              <p:nvPr/>
            </p:nvSpPr>
            <p:spPr>
              <a:xfrm>
                <a:off x="2262033" y="2196666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圆角矩形 9"/>
              <p:cNvSpPr/>
              <p:nvPr/>
            </p:nvSpPr>
            <p:spPr>
              <a:xfrm>
                <a:off x="1965783" y="2595418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圆角矩形 10"/>
              <p:cNvSpPr/>
              <p:nvPr/>
            </p:nvSpPr>
            <p:spPr>
              <a:xfrm>
                <a:off x="2599911" y="2602345"/>
                <a:ext cx="577849" cy="152400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圆角矩形 11"/>
              <p:cNvSpPr/>
              <p:nvPr/>
            </p:nvSpPr>
            <p:spPr>
              <a:xfrm>
                <a:off x="2256254" y="2954047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2128287" y="3223181"/>
                <a:ext cx="9513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latin typeface="Microsoft YaHei UI" panose="020B0503020204020204" pitchFamily="34" charset="-122"/>
                    <a:ea typeface="Microsoft YaHei UI" panose="020B0503020204020204" pitchFamily="34" charset="-122"/>
                  </a:rPr>
                  <a:t>GPU 2</a:t>
                </a:r>
              </a:p>
            </p:txBody>
          </p:sp>
          <p:cxnSp>
            <p:nvCxnSpPr>
              <p:cNvPr id="14" name="直接箭头连接符 13"/>
              <p:cNvCxnSpPr>
                <a:stCxn id="12" idx="0"/>
              </p:cNvCxnSpPr>
              <p:nvPr/>
            </p:nvCxnSpPr>
            <p:spPr>
              <a:xfrm flipH="1" flipV="1">
                <a:off x="2224228" y="2761673"/>
                <a:ext cx="320951" cy="19237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接箭头连接符 14"/>
              <p:cNvCxnSpPr>
                <a:stCxn id="12" idx="0"/>
                <a:endCxn id="11" idx="2"/>
              </p:cNvCxnSpPr>
              <p:nvPr/>
            </p:nvCxnSpPr>
            <p:spPr>
              <a:xfrm flipV="1">
                <a:off x="2545179" y="2754745"/>
                <a:ext cx="343657" cy="199302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接箭头连接符 15"/>
              <p:cNvCxnSpPr>
                <a:stCxn id="10" idx="0"/>
                <a:endCxn id="9" idx="2"/>
              </p:cNvCxnSpPr>
              <p:nvPr/>
            </p:nvCxnSpPr>
            <p:spPr>
              <a:xfrm flipV="1">
                <a:off x="2254708" y="2362921"/>
                <a:ext cx="296250" cy="232497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接箭头连接符 16"/>
              <p:cNvCxnSpPr>
                <a:stCxn id="11" idx="0"/>
                <a:endCxn id="9" idx="2"/>
              </p:cNvCxnSpPr>
              <p:nvPr/>
            </p:nvCxnSpPr>
            <p:spPr>
              <a:xfrm flipH="1" flipV="1">
                <a:off x="2550958" y="2362921"/>
                <a:ext cx="337878" cy="23942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28" name="对象 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64051899"/>
              </p:ext>
            </p:extLst>
          </p:nvPr>
        </p:nvGraphicFramePr>
        <p:xfrm>
          <a:off x="6446480" y="2786224"/>
          <a:ext cx="1817872" cy="2770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33440" imgH="203040" progId="Equation.DSMT4">
                  <p:embed/>
                </p:oleObj>
              </mc:Choice>
              <mc:Fallback>
                <p:oleObj name="Equation" r:id="rId4" imgW="1333440" imgH="203040" progId="Equation.DSMT4">
                  <p:embed/>
                  <p:pic>
                    <p:nvPicPr>
                      <p:cNvPr id="40" name="对象 39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446480" y="2786224"/>
                        <a:ext cx="1817872" cy="27700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对象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51865"/>
              </p:ext>
            </p:extLst>
          </p:nvPr>
        </p:nvGraphicFramePr>
        <p:xfrm>
          <a:off x="1849438" y="977900"/>
          <a:ext cx="2279650" cy="415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57120" imgH="228600" progId="Equation.DSMT4">
                  <p:embed/>
                </p:oleObj>
              </mc:Choice>
              <mc:Fallback>
                <p:oleObj name="Equation" r:id="rId6" imgW="125712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849438" y="977900"/>
                        <a:ext cx="2279650" cy="415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4" name="组合 33"/>
          <p:cNvGrpSpPr/>
          <p:nvPr/>
        </p:nvGrpSpPr>
        <p:grpSpPr>
          <a:xfrm>
            <a:off x="1138177" y="2090978"/>
            <a:ext cx="3211768" cy="748333"/>
            <a:chOff x="649416" y="2075742"/>
            <a:chExt cx="3211768" cy="748333"/>
          </a:xfrm>
        </p:grpSpPr>
        <p:sp>
          <p:nvSpPr>
            <p:cNvPr id="35" name="文本框 34"/>
            <p:cNvSpPr txBox="1"/>
            <p:nvPr/>
          </p:nvSpPr>
          <p:spPr>
            <a:xfrm>
              <a:off x="649416" y="2075742"/>
              <a:ext cx="951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GPU 1</a:t>
              </a:r>
            </a:p>
          </p:txBody>
        </p:sp>
        <p:graphicFrame>
          <p:nvGraphicFramePr>
            <p:cNvPr id="36" name="对象 3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679139"/>
                </p:ext>
              </p:extLst>
            </p:nvPr>
          </p:nvGraphicFramePr>
          <p:xfrm>
            <a:off x="1684721" y="2098417"/>
            <a:ext cx="2176463" cy="323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1358640" imgH="203040" progId="Equation.DSMT4">
                    <p:embed/>
                  </p:oleObj>
                </mc:Choice>
                <mc:Fallback>
                  <p:oleObj name="Equation" r:id="rId8" imgW="1358640" imgH="203040" progId="Equation.DSMT4">
                    <p:embed/>
                    <p:pic>
                      <p:nvPicPr>
                        <p:cNvPr id="31" name="对象 3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684721" y="2098417"/>
                          <a:ext cx="2176463" cy="323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7" name="文本框 36"/>
            <p:cNvSpPr txBox="1"/>
            <p:nvPr/>
          </p:nvSpPr>
          <p:spPr>
            <a:xfrm>
              <a:off x="649416" y="2454743"/>
              <a:ext cx="951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GPU 2</a:t>
              </a:r>
            </a:p>
          </p:txBody>
        </p:sp>
        <p:graphicFrame>
          <p:nvGraphicFramePr>
            <p:cNvPr id="38" name="对象 37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791051934"/>
                </p:ext>
              </p:extLst>
            </p:nvPr>
          </p:nvGraphicFramePr>
          <p:xfrm>
            <a:off x="1660913" y="2476242"/>
            <a:ext cx="2016125" cy="323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257120" imgH="203040" progId="Equation.DSMT4">
                    <p:embed/>
                  </p:oleObj>
                </mc:Choice>
                <mc:Fallback>
                  <p:oleObj name="Equation" r:id="rId10" imgW="1257120" imgH="203040" progId="Equation.DSMT4">
                    <p:embed/>
                    <p:pic>
                      <p:nvPicPr>
                        <p:cNvPr id="33" name="对象 32"/>
                        <p:cNvPicPr/>
                        <p:nvPr/>
                      </p:nvPicPr>
                      <p:blipFill>
                        <a:blip r:embed="rId11"/>
                        <a:stretch>
                          <a:fillRect/>
                        </a:stretch>
                      </p:blipFill>
                      <p:spPr>
                        <a:xfrm>
                          <a:off x="1660913" y="2476242"/>
                          <a:ext cx="2016125" cy="323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40" name="对象 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41053574"/>
              </p:ext>
            </p:extLst>
          </p:nvPr>
        </p:nvGraphicFramePr>
        <p:xfrm>
          <a:off x="2089522" y="1532643"/>
          <a:ext cx="1811338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130040" imgH="253800" progId="Equation.DSMT4">
                  <p:embed/>
                </p:oleObj>
              </mc:Choice>
              <mc:Fallback>
                <p:oleObj name="Equation" r:id="rId12" imgW="1130040" imgH="253800" progId="Equation.DSMT4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2089522" y="1532643"/>
                        <a:ext cx="1811338" cy="406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2" name="组合 41"/>
          <p:cNvGrpSpPr/>
          <p:nvPr/>
        </p:nvGrpSpPr>
        <p:grpSpPr>
          <a:xfrm>
            <a:off x="3157736" y="6046998"/>
            <a:ext cx="3253500" cy="748333"/>
            <a:chOff x="649416" y="2075742"/>
            <a:chExt cx="3253500" cy="748333"/>
          </a:xfrm>
        </p:grpSpPr>
        <p:sp>
          <p:nvSpPr>
            <p:cNvPr id="43" name="文本框 42"/>
            <p:cNvSpPr txBox="1"/>
            <p:nvPr/>
          </p:nvSpPr>
          <p:spPr>
            <a:xfrm>
              <a:off x="649416" y="2075742"/>
              <a:ext cx="951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GPU 1</a:t>
              </a:r>
            </a:p>
          </p:txBody>
        </p:sp>
        <p:graphicFrame>
          <p:nvGraphicFramePr>
            <p:cNvPr id="44" name="对象 43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81969852"/>
                </p:ext>
              </p:extLst>
            </p:nvPr>
          </p:nvGraphicFramePr>
          <p:xfrm>
            <a:off x="1645491" y="2097866"/>
            <a:ext cx="2257425" cy="323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1409400" imgH="203040" progId="Equation.DSMT4">
                    <p:embed/>
                  </p:oleObj>
                </mc:Choice>
                <mc:Fallback>
                  <p:oleObj name="Equation" r:id="rId14" imgW="1409400" imgH="203040" progId="Equation.DSMT4">
                    <p:embed/>
                    <p:pic>
                      <p:nvPicPr>
                        <p:cNvPr id="36" name="对象 35"/>
                        <p:cNvPicPr/>
                        <p:nvPr/>
                      </p:nvPicPr>
                      <p:blipFill>
                        <a:blip r:embed="rId15"/>
                        <a:stretch>
                          <a:fillRect/>
                        </a:stretch>
                      </p:blipFill>
                      <p:spPr>
                        <a:xfrm>
                          <a:off x="1645491" y="2097866"/>
                          <a:ext cx="2257425" cy="323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5" name="文本框 44"/>
            <p:cNvSpPr txBox="1"/>
            <p:nvPr/>
          </p:nvSpPr>
          <p:spPr>
            <a:xfrm>
              <a:off x="649416" y="2454743"/>
              <a:ext cx="951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GPU 2</a:t>
              </a:r>
            </a:p>
          </p:txBody>
        </p:sp>
        <p:graphicFrame>
          <p:nvGraphicFramePr>
            <p:cNvPr id="46" name="对象 4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10052243"/>
                </p:ext>
              </p:extLst>
            </p:nvPr>
          </p:nvGraphicFramePr>
          <p:xfrm>
            <a:off x="1631488" y="2475691"/>
            <a:ext cx="2260600" cy="323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1409400" imgH="203040" progId="Equation.DSMT4">
                    <p:embed/>
                  </p:oleObj>
                </mc:Choice>
                <mc:Fallback>
                  <p:oleObj name="Equation" r:id="rId16" imgW="1409400" imgH="203040" progId="Equation.DSMT4">
                    <p:embed/>
                    <p:pic>
                      <p:nvPicPr>
                        <p:cNvPr id="38" name="对象 37"/>
                        <p:cNvPicPr/>
                        <p:nvPr/>
                      </p:nvPicPr>
                      <p:blipFill>
                        <a:blip r:embed="rId17"/>
                        <a:stretch>
                          <a:fillRect/>
                        </a:stretch>
                      </p:blipFill>
                      <p:spPr>
                        <a:xfrm>
                          <a:off x="1631488" y="2475691"/>
                          <a:ext cx="2260600" cy="323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47" name="对象 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6652247"/>
              </p:ext>
            </p:extLst>
          </p:nvPr>
        </p:nvGraphicFramePr>
        <p:xfrm>
          <a:off x="2213001" y="4340067"/>
          <a:ext cx="1363663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850680" imgH="253800" progId="Equation.DSMT4">
                  <p:embed/>
                </p:oleObj>
              </mc:Choice>
              <mc:Fallback>
                <p:oleObj name="Equation" r:id="rId18" imgW="850680" imgH="253800" progId="Equation.DSMT4">
                  <p:embed/>
                  <p:pic>
                    <p:nvPicPr>
                      <p:cNvPr id="40" name="对象 39"/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2213001" y="4340067"/>
                        <a:ext cx="1363663" cy="406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文本框 50"/>
          <p:cNvSpPr txBox="1"/>
          <p:nvPr/>
        </p:nvSpPr>
        <p:spPr>
          <a:xfrm>
            <a:off x="5642001" y="4643547"/>
            <a:ext cx="3350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u_pred</a:t>
            </a:r>
            <a:r>
              <a:rPr lang="en-US" sz="12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(GPU 1) – </a:t>
            </a:r>
            <a:r>
              <a:rPr lang="en-US" sz="1200" b="1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u_pred</a:t>
            </a:r>
            <a:r>
              <a:rPr lang="en-US" sz="12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(GPU 2)</a:t>
            </a:r>
          </a:p>
        </p:txBody>
      </p:sp>
    </p:spTree>
    <p:extLst>
      <p:ext uri="{BB962C8B-B14F-4D97-AF65-F5344CB8AC3E}">
        <p14:creationId xmlns:p14="http://schemas.microsoft.com/office/powerpoint/2010/main" val="1689187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rgbClr val="0000FF"/>
              </a:buClr>
            </a:pP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Example 4: PINNs </a:t>
            </a:r>
            <a:r>
              <a:rPr lang="en-US" sz="16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(Ensemble training)</a:t>
            </a:r>
          </a:p>
        </p:txBody>
      </p:sp>
      <p:grpSp>
        <p:nvGrpSpPr>
          <p:cNvPr id="4" name="组合 3"/>
          <p:cNvGrpSpPr/>
          <p:nvPr/>
        </p:nvGrpSpPr>
        <p:grpSpPr>
          <a:xfrm>
            <a:off x="5865380" y="978462"/>
            <a:ext cx="2788360" cy="1681018"/>
            <a:chOff x="5338907" y="958391"/>
            <a:chExt cx="2788360" cy="1681018"/>
          </a:xfrm>
        </p:grpSpPr>
        <p:grpSp>
          <p:nvGrpSpPr>
            <p:cNvPr id="5" name="组合 4"/>
            <p:cNvGrpSpPr/>
            <p:nvPr/>
          </p:nvGrpSpPr>
          <p:grpSpPr>
            <a:xfrm>
              <a:off x="5338907" y="958391"/>
              <a:ext cx="1293092" cy="1681018"/>
              <a:chOff x="1930399" y="1921164"/>
              <a:chExt cx="1293092" cy="1681018"/>
            </a:xfrm>
          </p:grpSpPr>
          <p:sp>
            <p:nvSpPr>
              <p:cNvPr id="18" name="圆角矩形 17"/>
              <p:cNvSpPr/>
              <p:nvPr/>
            </p:nvSpPr>
            <p:spPr>
              <a:xfrm>
                <a:off x="1930399" y="1921164"/>
                <a:ext cx="1293092" cy="1681018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5875">
                <a:solidFill>
                  <a:schemeClr val="accent5">
                    <a:lumMod val="20000"/>
                    <a:lumOff val="8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圆角矩形 18"/>
              <p:cNvSpPr/>
              <p:nvPr/>
            </p:nvSpPr>
            <p:spPr>
              <a:xfrm>
                <a:off x="2262033" y="2196666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圆角矩形 19"/>
              <p:cNvSpPr/>
              <p:nvPr/>
            </p:nvSpPr>
            <p:spPr>
              <a:xfrm>
                <a:off x="1965783" y="2595418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圆角矩形 20"/>
              <p:cNvSpPr/>
              <p:nvPr/>
            </p:nvSpPr>
            <p:spPr>
              <a:xfrm>
                <a:off x="2599911" y="2602345"/>
                <a:ext cx="577849" cy="152400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圆角矩形 21"/>
              <p:cNvSpPr/>
              <p:nvPr/>
            </p:nvSpPr>
            <p:spPr>
              <a:xfrm>
                <a:off x="2256254" y="2954047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101272" y="3224547"/>
                <a:ext cx="9513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latin typeface="Microsoft YaHei UI" panose="020B0503020204020204" pitchFamily="34" charset="-122"/>
                    <a:ea typeface="Microsoft YaHei UI" panose="020B0503020204020204" pitchFamily="34" charset="-122"/>
                  </a:rPr>
                  <a:t>GPU 1</a:t>
                </a:r>
              </a:p>
            </p:txBody>
          </p:sp>
          <p:cxnSp>
            <p:nvCxnSpPr>
              <p:cNvPr id="24" name="直接箭头连接符 23"/>
              <p:cNvCxnSpPr>
                <a:stCxn id="22" idx="0"/>
              </p:cNvCxnSpPr>
              <p:nvPr/>
            </p:nvCxnSpPr>
            <p:spPr>
              <a:xfrm flipH="1" flipV="1">
                <a:off x="2224228" y="2761673"/>
                <a:ext cx="320951" cy="19237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接箭头连接符 24"/>
              <p:cNvCxnSpPr>
                <a:stCxn id="22" idx="0"/>
                <a:endCxn id="21" idx="2"/>
              </p:cNvCxnSpPr>
              <p:nvPr/>
            </p:nvCxnSpPr>
            <p:spPr>
              <a:xfrm flipV="1">
                <a:off x="2545179" y="2754745"/>
                <a:ext cx="343657" cy="199302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接箭头连接符 25"/>
              <p:cNvCxnSpPr>
                <a:stCxn id="20" idx="0"/>
                <a:endCxn id="19" idx="2"/>
              </p:cNvCxnSpPr>
              <p:nvPr/>
            </p:nvCxnSpPr>
            <p:spPr>
              <a:xfrm flipV="1">
                <a:off x="2254708" y="2362921"/>
                <a:ext cx="296250" cy="232497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接箭头连接符 26"/>
              <p:cNvCxnSpPr>
                <a:stCxn id="21" idx="0"/>
                <a:endCxn id="19" idx="2"/>
              </p:cNvCxnSpPr>
              <p:nvPr/>
            </p:nvCxnSpPr>
            <p:spPr>
              <a:xfrm flipH="1" flipV="1">
                <a:off x="2550958" y="2362921"/>
                <a:ext cx="337878" cy="23942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" name="组合 5"/>
            <p:cNvGrpSpPr/>
            <p:nvPr/>
          </p:nvGrpSpPr>
          <p:grpSpPr>
            <a:xfrm>
              <a:off x="6834175" y="958391"/>
              <a:ext cx="1293092" cy="1681018"/>
              <a:chOff x="1930399" y="1921164"/>
              <a:chExt cx="1293092" cy="1681018"/>
            </a:xfrm>
          </p:grpSpPr>
          <p:sp>
            <p:nvSpPr>
              <p:cNvPr id="7" name="圆角矩形 6"/>
              <p:cNvSpPr/>
              <p:nvPr/>
            </p:nvSpPr>
            <p:spPr>
              <a:xfrm>
                <a:off x="1930399" y="1921164"/>
                <a:ext cx="1293092" cy="1681018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5875">
                <a:solidFill>
                  <a:schemeClr val="accent5">
                    <a:lumMod val="20000"/>
                    <a:lumOff val="8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圆角矩形 8"/>
              <p:cNvSpPr/>
              <p:nvPr/>
            </p:nvSpPr>
            <p:spPr>
              <a:xfrm>
                <a:off x="2262033" y="2196666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圆角矩形 9"/>
              <p:cNvSpPr/>
              <p:nvPr/>
            </p:nvSpPr>
            <p:spPr>
              <a:xfrm>
                <a:off x="1965783" y="2595418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圆角矩形 10"/>
              <p:cNvSpPr/>
              <p:nvPr/>
            </p:nvSpPr>
            <p:spPr>
              <a:xfrm>
                <a:off x="2599911" y="2602345"/>
                <a:ext cx="577849" cy="152400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圆角矩形 11"/>
              <p:cNvSpPr/>
              <p:nvPr/>
            </p:nvSpPr>
            <p:spPr>
              <a:xfrm>
                <a:off x="2256254" y="2954047"/>
                <a:ext cx="577849" cy="166255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2128287" y="3223181"/>
                <a:ext cx="9513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latin typeface="Microsoft YaHei UI" panose="020B0503020204020204" pitchFamily="34" charset="-122"/>
                    <a:ea typeface="Microsoft YaHei UI" panose="020B0503020204020204" pitchFamily="34" charset="-122"/>
                  </a:rPr>
                  <a:t>GPU 2</a:t>
                </a:r>
              </a:p>
            </p:txBody>
          </p:sp>
          <p:cxnSp>
            <p:nvCxnSpPr>
              <p:cNvPr id="14" name="直接箭头连接符 13"/>
              <p:cNvCxnSpPr>
                <a:stCxn id="12" idx="0"/>
              </p:cNvCxnSpPr>
              <p:nvPr/>
            </p:nvCxnSpPr>
            <p:spPr>
              <a:xfrm flipH="1" flipV="1">
                <a:off x="2224228" y="2761673"/>
                <a:ext cx="320951" cy="19237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接箭头连接符 14"/>
              <p:cNvCxnSpPr>
                <a:stCxn id="12" idx="0"/>
                <a:endCxn id="11" idx="2"/>
              </p:cNvCxnSpPr>
              <p:nvPr/>
            </p:nvCxnSpPr>
            <p:spPr>
              <a:xfrm flipV="1">
                <a:off x="2545179" y="2754745"/>
                <a:ext cx="343657" cy="199302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接箭头连接符 15"/>
              <p:cNvCxnSpPr>
                <a:stCxn id="10" idx="0"/>
                <a:endCxn id="9" idx="2"/>
              </p:cNvCxnSpPr>
              <p:nvPr/>
            </p:nvCxnSpPr>
            <p:spPr>
              <a:xfrm flipV="1">
                <a:off x="2254708" y="2362921"/>
                <a:ext cx="296250" cy="232497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接箭头连接符 16"/>
              <p:cNvCxnSpPr>
                <a:stCxn id="11" idx="0"/>
                <a:endCxn id="9" idx="2"/>
              </p:cNvCxnSpPr>
              <p:nvPr/>
            </p:nvCxnSpPr>
            <p:spPr>
              <a:xfrm flipH="1" flipV="1">
                <a:off x="2550958" y="2362921"/>
                <a:ext cx="337878" cy="239424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28" name="对象 27"/>
          <p:cNvGraphicFramePr>
            <a:graphicFrameLocks noChangeAspect="1"/>
          </p:cNvGraphicFramePr>
          <p:nvPr/>
        </p:nvGraphicFramePr>
        <p:xfrm>
          <a:off x="6446480" y="2786224"/>
          <a:ext cx="1817872" cy="2770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33440" imgH="203040" progId="Equation.DSMT4">
                  <p:embed/>
                </p:oleObj>
              </mc:Choice>
              <mc:Fallback>
                <p:oleObj name="Equation" r:id="rId2" imgW="1333440" imgH="203040" progId="Equation.DSMT4">
                  <p:embed/>
                  <p:pic>
                    <p:nvPicPr>
                      <p:cNvPr id="28" name="对象 27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446480" y="2786224"/>
                        <a:ext cx="1817872" cy="27700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对象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14860032"/>
              </p:ext>
            </p:extLst>
          </p:nvPr>
        </p:nvGraphicFramePr>
        <p:xfrm>
          <a:off x="1849438" y="977900"/>
          <a:ext cx="2279650" cy="415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57120" imgH="228600" progId="Equation.DSMT4">
                  <p:embed/>
                </p:oleObj>
              </mc:Choice>
              <mc:Fallback>
                <p:oleObj name="Equation" r:id="rId4" imgW="1257120" imgH="228600" progId="Equation.DSMT4">
                  <p:embed/>
                  <p:pic>
                    <p:nvPicPr>
                      <p:cNvPr id="3" name="对象 2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849438" y="977900"/>
                        <a:ext cx="2279650" cy="415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9" name="组合 28"/>
          <p:cNvGrpSpPr/>
          <p:nvPr/>
        </p:nvGrpSpPr>
        <p:grpSpPr>
          <a:xfrm>
            <a:off x="1416262" y="1603375"/>
            <a:ext cx="2843001" cy="765129"/>
            <a:chOff x="649416" y="2058946"/>
            <a:chExt cx="2843001" cy="765129"/>
          </a:xfrm>
        </p:grpSpPr>
        <p:sp>
          <p:nvSpPr>
            <p:cNvPr id="30" name="文本框 29"/>
            <p:cNvSpPr txBox="1"/>
            <p:nvPr/>
          </p:nvSpPr>
          <p:spPr>
            <a:xfrm>
              <a:off x="649416" y="2075742"/>
              <a:ext cx="951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GPU 1</a:t>
              </a:r>
            </a:p>
          </p:txBody>
        </p:sp>
        <p:graphicFrame>
          <p:nvGraphicFramePr>
            <p:cNvPr id="31" name="对象 3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585307712"/>
                </p:ext>
              </p:extLst>
            </p:nvPr>
          </p:nvGraphicFramePr>
          <p:xfrm>
            <a:off x="1884279" y="2058946"/>
            <a:ext cx="1565275" cy="40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977760" imgH="253800" progId="Equation.DSMT4">
                    <p:embed/>
                  </p:oleObj>
                </mc:Choice>
                <mc:Fallback>
                  <p:oleObj name="Equation" r:id="rId6" imgW="977760" imgH="253800" progId="Equation.DSMT4">
                    <p:embed/>
                    <p:pic>
                      <p:nvPicPr>
                        <p:cNvPr id="31" name="对象 30"/>
                        <p:cNvPicPr/>
                        <p:nvPr/>
                      </p:nvPicPr>
                      <p:blipFill>
                        <a:blip r:embed="rId7"/>
                        <a:stretch>
                          <a:fillRect/>
                        </a:stretch>
                      </p:blipFill>
                      <p:spPr>
                        <a:xfrm>
                          <a:off x="1884279" y="2058946"/>
                          <a:ext cx="1565275" cy="4064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2" name="文本框 31"/>
            <p:cNvSpPr txBox="1"/>
            <p:nvPr/>
          </p:nvSpPr>
          <p:spPr>
            <a:xfrm>
              <a:off x="649416" y="2454743"/>
              <a:ext cx="951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GPU 2</a:t>
              </a:r>
            </a:p>
          </p:txBody>
        </p:sp>
        <p:graphicFrame>
          <p:nvGraphicFramePr>
            <p:cNvPr id="33" name="对象 3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61651329"/>
                </p:ext>
              </p:extLst>
            </p:nvPr>
          </p:nvGraphicFramePr>
          <p:xfrm>
            <a:off x="1681079" y="2416134"/>
            <a:ext cx="1811338" cy="40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1130040" imgH="253800" progId="Equation.DSMT4">
                    <p:embed/>
                  </p:oleObj>
                </mc:Choice>
                <mc:Fallback>
                  <p:oleObj name="Equation" r:id="rId8" imgW="1130040" imgH="253800" progId="Equation.DSMT4">
                    <p:embed/>
                    <p:pic>
                      <p:nvPicPr>
                        <p:cNvPr id="33" name="对象 32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681079" y="2416134"/>
                          <a:ext cx="1811338" cy="4064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4" name="组合 33"/>
          <p:cNvGrpSpPr/>
          <p:nvPr/>
        </p:nvGrpSpPr>
        <p:grpSpPr>
          <a:xfrm>
            <a:off x="317808" y="4291701"/>
            <a:ext cx="3139767" cy="748333"/>
            <a:chOff x="649416" y="2075742"/>
            <a:chExt cx="3139767" cy="748333"/>
          </a:xfrm>
        </p:grpSpPr>
        <p:sp>
          <p:nvSpPr>
            <p:cNvPr id="35" name="文本框 34"/>
            <p:cNvSpPr txBox="1"/>
            <p:nvPr/>
          </p:nvSpPr>
          <p:spPr>
            <a:xfrm>
              <a:off x="649416" y="2075742"/>
              <a:ext cx="951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GPU 1</a:t>
              </a:r>
            </a:p>
          </p:txBody>
        </p:sp>
        <p:graphicFrame>
          <p:nvGraphicFramePr>
            <p:cNvPr id="36" name="对象 35"/>
            <p:cNvGraphicFramePr>
              <a:graphicFrameLocks noChangeAspect="1"/>
            </p:cNvGraphicFramePr>
            <p:nvPr/>
          </p:nvGraphicFramePr>
          <p:xfrm>
            <a:off x="1552396" y="2098483"/>
            <a:ext cx="2236787" cy="323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396800" imgH="203040" progId="Equation.DSMT4">
                    <p:embed/>
                  </p:oleObj>
                </mc:Choice>
                <mc:Fallback>
                  <p:oleObj name="Equation" r:id="rId10" imgW="1396800" imgH="203040" progId="Equation.DSMT4">
                    <p:embed/>
                    <p:pic>
                      <p:nvPicPr>
                        <p:cNvPr id="36" name="对象 35"/>
                        <p:cNvPicPr/>
                        <p:nvPr/>
                      </p:nvPicPr>
                      <p:blipFill>
                        <a:blip r:embed="rId11"/>
                        <a:stretch>
                          <a:fillRect/>
                        </a:stretch>
                      </p:blipFill>
                      <p:spPr>
                        <a:xfrm>
                          <a:off x="1552396" y="2098483"/>
                          <a:ext cx="2236787" cy="323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7" name="文本框 36"/>
            <p:cNvSpPr txBox="1"/>
            <p:nvPr/>
          </p:nvSpPr>
          <p:spPr>
            <a:xfrm>
              <a:off x="649416" y="2454743"/>
              <a:ext cx="951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GPU 2</a:t>
              </a:r>
            </a:p>
          </p:txBody>
        </p:sp>
        <p:graphicFrame>
          <p:nvGraphicFramePr>
            <p:cNvPr id="38" name="对象 37"/>
            <p:cNvGraphicFramePr>
              <a:graphicFrameLocks noChangeAspect="1"/>
            </p:cNvGraphicFramePr>
            <p:nvPr/>
          </p:nvGraphicFramePr>
          <p:xfrm>
            <a:off x="1549221" y="2475684"/>
            <a:ext cx="2239962" cy="323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396800" imgH="203040" progId="Equation.DSMT4">
                    <p:embed/>
                  </p:oleObj>
                </mc:Choice>
                <mc:Fallback>
                  <p:oleObj name="Equation" r:id="rId12" imgW="1396800" imgH="203040" progId="Equation.DSMT4">
                    <p:embed/>
                    <p:pic>
                      <p:nvPicPr>
                        <p:cNvPr id="38" name="对象 37"/>
                        <p:cNvPicPr/>
                        <p:nvPr/>
                      </p:nvPicPr>
                      <p:blipFill>
                        <a:blip r:embed="rId13"/>
                        <a:stretch>
                          <a:fillRect/>
                        </a:stretch>
                      </p:blipFill>
                      <p:spPr>
                        <a:xfrm>
                          <a:off x="1549221" y="2475684"/>
                          <a:ext cx="2239962" cy="323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pic>
        <p:nvPicPr>
          <p:cNvPr id="39" name="图片 3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4111" y="5781964"/>
            <a:ext cx="1076036" cy="1076036"/>
          </a:xfrm>
          <a:prstGeom prst="rect">
            <a:avLst/>
          </a:prstGeom>
        </p:spPr>
      </p:pic>
      <p:grpSp>
        <p:nvGrpSpPr>
          <p:cNvPr id="43" name="组合 42"/>
          <p:cNvGrpSpPr/>
          <p:nvPr/>
        </p:nvGrpSpPr>
        <p:grpSpPr>
          <a:xfrm>
            <a:off x="1428423" y="2465388"/>
            <a:ext cx="2637165" cy="764886"/>
            <a:chOff x="649416" y="2059189"/>
            <a:chExt cx="2637165" cy="764886"/>
          </a:xfrm>
        </p:grpSpPr>
        <p:sp>
          <p:nvSpPr>
            <p:cNvPr id="44" name="文本框 43"/>
            <p:cNvSpPr txBox="1"/>
            <p:nvPr/>
          </p:nvSpPr>
          <p:spPr>
            <a:xfrm>
              <a:off x="649416" y="2075742"/>
              <a:ext cx="951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GPU 1</a:t>
              </a:r>
            </a:p>
          </p:txBody>
        </p:sp>
        <p:graphicFrame>
          <p:nvGraphicFramePr>
            <p:cNvPr id="45" name="对象 44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97580265"/>
                </p:ext>
              </p:extLst>
            </p:nvPr>
          </p:nvGraphicFramePr>
          <p:xfrm>
            <a:off x="2046743" y="2059189"/>
            <a:ext cx="1239838" cy="40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774360" imgH="253800" progId="Equation.DSMT4">
                    <p:embed/>
                  </p:oleObj>
                </mc:Choice>
                <mc:Fallback>
                  <p:oleObj name="Equation" r:id="rId15" imgW="774360" imgH="253800" progId="Equation.DSMT4">
                    <p:embed/>
                    <p:pic>
                      <p:nvPicPr>
                        <p:cNvPr id="31" name="对象 30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2046743" y="2059189"/>
                          <a:ext cx="1239838" cy="4064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6" name="文本框 45"/>
            <p:cNvSpPr txBox="1"/>
            <p:nvPr/>
          </p:nvSpPr>
          <p:spPr>
            <a:xfrm>
              <a:off x="649416" y="2454743"/>
              <a:ext cx="951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GPU 2</a:t>
              </a:r>
            </a:p>
          </p:txBody>
        </p:sp>
        <p:graphicFrame>
          <p:nvGraphicFramePr>
            <p:cNvPr id="47" name="对象 4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09629236"/>
                </p:ext>
              </p:extLst>
            </p:nvPr>
          </p:nvGraphicFramePr>
          <p:xfrm>
            <a:off x="1905456" y="2416376"/>
            <a:ext cx="1363662" cy="40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850680" imgH="253800" progId="Equation.DSMT4">
                    <p:embed/>
                  </p:oleObj>
                </mc:Choice>
                <mc:Fallback>
                  <p:oleObj name="Equation" r:id="rId17" imgW="850680" imgH="253800" progId="Equation.DSMT4">
                    <p:embed/>
                    <p:pic>
                      <p:nvPicPr>
                        <p:cNvPr id="33" name="对象 32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905456" y="2416376"/>
                          <a:ext cx="1363662" cy="4064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pic>
        <p:nvPicPr>
          <p:cNvPr id="48" name="图片 47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1325" y="3342377"/>
            <a:ext cx="4000500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988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rgbClr val="0000FF"/>
              </a:buClr>
            </a:pP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Scaling efficiency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18"/>
          <a:stretch/>
        </p:blipFill>
        <p:spPr>
          <a:xfrm>
            <a:off x="516779" y="1015999"/>
            <a:ext cx="8110441" cy="4451928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4111" y="5781964"/>
            <a:ext cx="1076036" cy="1076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2704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rgbClr val="0000FF"/>
              </a:buClr>
            </a:pP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Installation &amp; Code 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498764" y="1893455"/>
            <a:ext cx="5551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00CC"/>
              </a:buClr>
              <a:buFont typeface="Wingdings" panose="05000000000000000000" pitchFamily="2" charset="2"/>
              <a:buChar char="Ø"/>
            </a:pPr>
            <a:r>
              <a:rPr 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Installation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785091" y="2382828"/>
            <a:ext cx="52000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https://github.com/horovod/horovod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498764" y="3560619"/>
            <a:ext cx="5551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00CC"/>
              </a:buClr>
              <a:buFont typeface="Wingdings" panose="05000000000000000000" pitchFamily="2" charset="2"/>
              <a:buChar char="Ø"/>
            </a:pPr>
            <a:r>
              <a:rPr 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Code download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785091" y="4049992"/>
            <a:ext cx="78878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https://github.com/XuhuiM/Distributed-training-Horovod.git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4111" y="5781964"/>
            <a:ext cx="1076036" cy="1076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903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0" y="2854036"/>
            <a:ext cx="914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Thank you!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4111" y="5781964"/>
            <a:ext cx="1076036" cy="1076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092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7533</TotalTime>
  <Words>1223</Words>
  <Application>Microsoft Office PowerPoint</Application>
  <PresentationFormat>全屏显示(4:3)</PresentationFormat>
  <Paragraphs>308</Paragraphs>
  <Slides>24</Slides>
  <Notes>3</Notes>
  <HiddenSlides>0</HiddenSlides>
  <MMClips>0</MMClips>
  <ScaleCrop>false</ScaleCrop>
  <HeadingPairs>
    <vt:vector size="8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3" baseType="lpstr">
      <vt:lpstr>Microsoft YaHei UI</vt:lpstr>
      <vt:lpstr>华文楷体</vt:lpstr>
      <vt:lpstr>Arial</vt:lpstr>
      <vt:lpstr>Calibri</vt:lpstr>
      <vt:lpstr>Calibri Light</vt:lpstr>
      <vt:lpstr>Times New Roman</vt:lpstr>
      <vt:lpstr>Wingdings</vt:lpstr>
      <vt:lpstr>Office 主题​​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xhmeng</dc:creator>
  <cp:lastModifiedBy>Xuhui Meng</cp:lastModifiedBy>
  <cp:revision>702</cp:revision>
  <dcterms:created xsi:type="dcterms:W3CDTF">2017-09-04T15:34:47Z</dcterms:created>
  <dcterms:modified xsi:type="dcterms:W3CDTF">2026-04-29T06:27:21Z</dcterms:modified>
</cp:coreProperties>
</file>