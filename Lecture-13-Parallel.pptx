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2"/>
  </p:notesMasterIdLst>
  <p:sldIdLst>
    <p:sldId id="326" r:id="rId2"/>
    <p:sldId id="580" r:id="rId3"/>
    <p:sldId id="256" r:id="rId4"/>
    <p:sldId id="298" r:id="rId5"/>
    <p:sldId id="299" r:id="rId6"/>
    <p:sldId id="300" r:id="rId7"/>
    <p:sldId id="321" r:id="rId8"/>
    <p:sldId id="317" r:id="rId9"/>
    <p:sldId id="322" r:id="rId10"/>
    <p:sldId id="302" r:id="rId11"/>
    <p:sldId id="307" r:id="rId12"/>
    <p:sldId id="319" r:id="rId13"/>
    <p:sldId id="318" r:id="rId14"/>
    <p:sldId id="312" r:id="rId15"/>
    <p:sldId id="315" r:id="rId16"/>
    <p:sldId id="323" r:id="rId17"/>
    <p:sldId id="305" r:id="rId18"/>
    <p:sldId id="306" r:id="rId19"/>
    <p:sldId id="324" r:id="rId20"/>
    <p:sldId id="310" r:id="rId21"/>
    <p:sldId id="325" r:id="rId22"/>
    <p:sldId id="320" r:id="rId23"/>
    <p:sldId id="304" r:id="rId24"/>
    <p:sldId id="2476" r:id="rId25"/>
    <p:sldId id="2477" r:id="rId26"/>
    <p:sldId id="2478" r:id="rId27"/>
    <p:sldId id="2479" r:id="rId28"/>
    <p:sldId id="2480" r:id="rId29"/>
    <p:sldId id="2481" r:id="rId30"/>
    <p:sldId id="309"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D"/>
    <a:srgbClr val="3338FD"/>
    <a:srgbClr val="0000FF"/>
    <a:srgbClr val="0000CC"/>
    <a:srgbClr val="CC1704"/>
    <a:srgbClr val="000099"/>
    <a:srgbClr val="003399"/>
    <a:srgbClr val="6732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82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24CD06-CDB8-463C-82C0-327730F8ACA7}" type="datetimeFigureOut">
              <a:rPr lang="en-US" smtClean="0"/>
              <a:t>4/29/2026</a:t>
            </a:fld>
            <a:endParaRPr 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796392-4F4E-4DC5-B4DA-6DF644E23DB5}" type="slidenum">
              <a:rPr lang="en-US" smtClean="0"/>
              <a:t>‹#›</a:t>
            </a:fld>
            <a:endParaRPr lang="en-US"/>
          </a:p>
        </p:txBody>
      </p:sp>
    </p:spTree>
    <p:extLst>
      <p:ext uri="{BB962C8B-B14F-4D97-AF65-F5344CB8AC3E}">
        <p14:creationId xmlns:p14="http://schemas.microsoft.com/office/powerpoint/2010/main" val="3415799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23796392-4F4E-4DC5-B4DA-6DF644E23DB5}" type="slidenum">
              <a:rPr lang="en-US" smtClean="0"/>
              <a:t>1</a:t>
            </a:fld>
            <a:endParaRPr lang="en-US"/>
          </a:p>
        </p:txBody>
      </p:sp>
    </p:spTree>
    <p:extLst>
      <p:ext uri="{BB962C8B-B14F-4D97-AF65-F5344CB8AC3E}">
        <p14:creationId xmlns:p14="http://schemas.microsoft.com/office/powerpoint/2010/main" val="37344355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3796392-4F4E-4DC5-B4DA-6DF644E23DB5}" type="slidenum">
              <a:rPr lang="en-US" smtClean="0"/>
              <a:t>2</a:t>
            </a:fld>
            <a:endParaRPr lang="en-US"/>
          </a:p>
        </p:txBody>
      </p:sp>
    </p:spTree>
    <p:extLst>
      <p:ext uri="{BB962C8B-B14F-4D97-AF65-F5344CB8AC3E}">
        <p14:creationId xmlns:p14="http://schemas.microsoft.com/office/powerpoint/2010/main" val="1099233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dirty="0"/>
          </a:p>
        </p:txBody>
      </p:sp>
      <p:sp>
        <p:nvSpPr>
          <p:cNvPr id="4" name="灯片编号占位符 3"/>
          <p:cNvSpPr>
            <a:spLocks noGrp="1"/>
          </p:cNvSpPr>
          <p:nvPr>
            <p:ph type="sldNum" sz="quarter" idx="10"/>
          </p:nvPr>
        </p:nvSpPr>
        <p:spPr/>
        <p:txBody>
          <a:bodyPr/>
          <a:lstStyle/>
          <a:p>
            <a:fld id="{23796392-4F4E-4DC5-B4DA-6DF644E23DB5}" type="slidenum">
              <a:rPr lang="en-US" smtClean="0"/>
              <a:t>3</a:t>
            </a:fld>
            <a:endParaRPr lang="en-US"/>
          </a:p>
        </p:txBody>
      </p:sp>
    </p:spTree>
    <p:extLst>
      <p:ext uri="{BB962C8B-B14F-4D97-AF65-F5344CB8AC3E}">
        <p14:creationId xmlns:p14="http://schemas.microsoft.com/office/powerpoint/2010/main" val="37344355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PINNs can be scaled up by using ideas from Domain Decomposition in the solution of PDEs, e.g. FEM etc. We have already seen a variational example in Lecture 9 but here we </a:t>
            </a:r>
          </a:p>
          <a:p>
            <a:r>
              <a:rPr lang="en-US" dirty="0" err="1"/>
              <a:t>Consisder</a:t>
            </a:r>
            <a:r>
              <a:rPr lang="en-US" dirty="0"/>
              <a:t> the classical PINN form.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4CD3F8-A766-4A13-8946-C8D5E4F495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12290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conservation laws, we can get inspiration from finite volumes using fluxes at the interfaces and hence derive proper interface conditions that will be added as extra loss terms in the total</a:t>
            </a:r>
          </a:p>
          <a:p>
            <a:r>
              <a:rPr lang="en-US" dirty="0"/>
              <a:t>Loss function. In addition, we penalize the solution at the interface. Mimicking DG methods.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4CD3F8-A766-4A13-8946-C8D5E4F495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5146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PINNs can be scaled up by using ideas from Domain Decomposition in the solution of PDEs, e.g. FEM etc. We have already seen a variational example in Lecture 9 but here we </a:t>
            </a:r>
          </a:p>
          <a:p>
            <a:r>
              <a:rPr lang="en-US" dirty="0" err="1"/>
              <a:t>Consisder</a:t>
            </a:r>
            <a:r>
              <a:rPr lang="en-US" dirty="0"/>
              <a:t> the classical PINN form.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4CD3F8-A766-4A13-8946-C8D5E4F495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0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PINNs can be scaled up by using ideas from Domain Decomposition in the solution of PDEs, e.g. FEM etc. We have already seen a variational example in Lecture 9 but here we </a:t>
            </a:r>
          </a:p>
          <a:p>
            <a:r>
              <a:rPr lang="en-US" dirty="0" err="1"/>
              <a:t>Consisder</a:t>
            </a:r>
            <a:r>
              <a:rPr lang="en-US" dirty="0"/>
              <a:t> the classical PINN form.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4CD3F8-A766-4A13-8946-C8D5E4F495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34826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PINNs can be scaled up by using ideas from Domain Decomposition in the solution of PDEs, e.g. FEM etc. We have already seen a variational example in Lecture 9 but here we </a:t>
            </a:r>
          </a:p>
          <a:p>
            <a:r>
              <a:rPr lang="en-US" dirty="0" err="1"/>
              <a:t>Consisder</a:t>
            </a:r>
            <a:r>
              <a:rPr lang="en-US" dirty="0"/>
              <a:t> the classical PINN form.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4CD3F8-A766-4A13-8946-C8D5E4F495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7186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PINNs can be scaled up by using ideas from Domain Decomposition in the solution of PDEs, e.g. FEM etc. We have already seen a variational example in Lecture 9 but here we </a:t>
            </a:r>
          </a:p>
          <a:p>
            <a:r>
              <a:rPr lang="en-US" dirty="0" err="1"/>
              <a:t>Consisder</a:t>
            </a:r>
            <a:r>
              <a:rPr lang="en-US" dirty="0"/>
              <a:t> the classical PINN form.</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D4CD3F8-A766-4A13-8946-C8D5E4F4958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0498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29F8D91E-FFF0-45B5-AFE0-22E101FDFDBC}"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2644169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29F8D91E-FFF0-45B5-AFE0-22E101FDFDBC}"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12924760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29F8D91E-FFF0-45B5-AFE0-22E101FDFDBC}"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20646768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29F8D91E-FFF0-45B5-AFE0-22E101FDFDBC}"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1699759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29F8D91E-FFF0-45B5-AFE0-22E101FDFDBC}" type="datetimeFigureOut">
              <a:rPr lang="en-US" smtClean="0"/>
              <a:t>4/29/2026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679199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29F8D91E-FFF0-45B5-AFE0-22E101FDFDBC}" type="datetimeFigureOut">
              <a:rPr lang="en-US" smtClean="0"/>
              <a:t>4/29/2026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3832921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F8D91E-FFF0-45B5-AFE0-22E101FDFDBC}" type="datetimeFigureOut">
              <a:rPr lang="en-US" smtClean="0"/>
              <a:t>4/29/2026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283120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29F8D91E-FFF0-45B5-AFE0-22E101FDFDBC}"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2418814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29F8D91E-FFF0-45B5-AFE0-22E101FDFDBC}" type="datetimeFigureOut">
              <a:rPr lang="en-US" smtClean="0"/>
              <a:t>4/29/2026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3475564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29F8D91E-FFF0-45B5-AFE0-22E101FDFDBC}"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15396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29F8D91E-FFF0-45B5-AFE0-22E101FDFDBC}" type="datetimeFigureOut">
              <a:rPr lang="en-US" smtClean="0"/>
              <a:t>4/29/2026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094ABB8-7B63-458F-BB16-CC14DE560834}" type="slidenum">
              <a:rPr lang="en-US" smtClean="0"/>
              <a:t>‹#›</a:t>
            </a:fld>
            <a:endParaRPr lang="en-US"/>
          </a:p>
        </p:txBody>
      </p:sp>
    </p:spTree>
    <p:extLst>
      <p:ext uri="{BB962C8B-B14F-4D97-AF65-F5344CB8AC3E}">
        <p14:creationId xmlns:p14="http://schemas.microsoft.com/office/powerpoint/2010/main" val="797776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8D91E-FFF0-45B5-AFE0-22E101FDFDBC}" type="datetimeFigureOut">
              <a:rPr lang="en-US" smtClean="0"/>
              <a:t>4/29/2026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94ABB8-7B63-458F-BB16-CC14DE560834}" type="slidenum">
              <a:rPr lang="en-US" smtClean="0"/>
              <a:t>‹#›</a:t>
            </a:fld>
            <a:endParaRPr lang="en-US"/>
          </a:p>
        </p:txBody>
      </p:sp>
    </p:spTree>
    <p:extLst>
      <p:ext uri="{BB962C8B-B14F-4D97-AF65-F5344CB8AC3E}">
        <p14:creationId xmlns:p14="http://schemas.microsoft.com/office/powerpoint/2010/main" val="85157456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7.png"/><Relationship Id="rId3" Type="http://schemas.openxmlformats.org/officeDocument/2006/relationships/image" Target="../media/image11.wmf"/><Relationship Id="rId7" Type="http://schemas.openxmlformats.org/officeDocument/2006/relationships/image" Target="../media/image13.wmf"/><Relationship Id="rId12" Type="http://schemas.openxmlformats.org/officeDocument/2006/relationships/image" Target="../media/image16.wmf"/><Relationship Id="rId2" Type="http://schemas.openxmlformats.org/officeDocument/2006/relationships/oleObject" Target="../embeddings/oleObject1.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oleObject" Target="../embeddings/oleObject5.bin"/><Relationship Id="rId5" Type="http://schemas.openxmlformats.org/officeDocument/2006/relationships/image" Target="../media/image12.wmf"/><Relationship Id="rId10" Type="http://schemas.openxmlformats.org/officeDocument/2006/relationships/image" Target="../media/image15.png"/><Relationship Id="rId4" Type="http://schemas.openxmlformats.org/officeDocument/2006/relationships/oleObject" Target="../embeddings/oleObject2.bin"/><Relationship Id="rId9" Type="http://schemas.openxmlformats.org/officeDocument/2006/relationships/image" Target="../media/image14.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19.wmf"/><Relationship Id="rId3" Type="http://schemas.openxmlformats.org/officeDocument/2006/relationships/image" Target="../media/image11.wmf"/><Relationship Id="rId7" Type="http://schemas.openxmlformats.org/officeDocument/2006/relationships/image" Target="../media/image13.wmf"/><Relationship Id="rId12" Type="http://schemas.openxmlformats.org/officeDocument/2006/relationships/oleObject" Target="../embeddings/oleObject11.bin"/><Relationship Id="rId2" Type="http://schemas.openxmlformats.org/officeDocument/2006/relationships/oleObject" Target="../embeddings/oleObject6.bin"/><Relationship Id="rId16" Type="http://schemas.openxmlformats.org/officeDocument/2006/relationships/image" Target="../media/image21.png"/><Relationship Id="rId1" Type="http://schemas.openxmlformats.org/officeDocument/2006/relationships/slideLayout" Target="../slideLayouts/slideLayout7.xml"/><Relationship Id="rId6" Type="http://schemas.openxmlformats.org/officeDocument/2006/relationships/oleObject" Target="../embeddings/oleObject8.bin"/><Relationship Id="rId11" Type="http://schemas.openxmlformats.org/officeDocument/2006/relationships/image" Target="../media/image18.wmf"/><Relationship Id="rId5" Type="http://schemas.openxmlformats.org/officeDocument/2006/relationships/image" Target="../media/image12.wmf"/><Relationship Id="rId15" Type="http://schemas.openxmlformats.org/officeDocument/2006/relationships/image" Target="../media/image20.wmf"/><Relationship Id="rId10" Type="http://schemas.openxmlformats.org/officeDocument/2006/relationships/oleObject" Target="../embeddings/oleObject10.bin"/><Relationship Id="rId4" Type="http://schemas.openxmlformats.org/officeDocument/2006/relationships/oleObject" Target="../embeddings/oleObject7.bin"/><Relationship Id="rId9" Type="http://schemas.openxmlformats.org/officeDocument/2006/relationships/image" Target="../media/image14.wmf"/><Relationship Id="rId14" Type="http://schemas.openxmlformats.org/officeDocument/2006/relationships/oleObject" Target="../embeddings/oleObject12.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6.bin"/><Relationship Id="rId13" Type="http://schemas.openxmlformats.org/officeDocument/2006/relationships/image" Target="../media/image23.wmf"/><Relationship Id="rId3" Type="http://schemas.openxmlformats.org/officeDocument/2006/relationships/image" Target="../media/image11.wmf"/><Relationship Id="rId7" Type="http://schemas.openxmlformats.org/officeDocument/2006/relationships/image" Target="../media/image13.wmf"/><Relationship Id="rId12" Type="http://schemas.openxmlformats.org/officeDocument/2006/relationships/oleObject" Target="../embeddings/oleObject18.bin"/><Relationship Id="rId2" Type="http://schemas.openxmlformats.org/officeDocument/2006/relationships/oleObject" Target="../embeddings/oleObject13.bin"/><Relationship Id="rId16"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oleObject" Target="../embeddings/oleObject15.bin"/><Relationship Id="rId11" Type="http://schemas.openxmlformats.org/officeDocument/2006/relationships/image" Target="../media/image22.wmf"/><Relationship Id="rId5" Type="http://schemas.openxmlformats.org/officeDocument/2006/relationships/image" Target="../media/image12.wmf"/><Relationship Id="rId15" Type="http://schemas.openxmlformats.org/officeDocument/2006/relationships/image" Target="../media/image20.wmf"/><Relationship Id="rId10" Type="http://schemas.openxmlformats.org/officeDocument/2006/relationships/oleObject" Target="../embeddings/oleObject17.bin"/><Relationship Id="rId4" Type="http://schemas.openxmlformats.org/officeDocument/2006/relationships/oleObject" Target="../embeddings/oleObject14.bin"/><Relationship Id="rId9" Type="http://schemas.openxmlformats.org/officeDocument/2006/relationships/image" Target="../media/image14.wmf"/><Relationship Id="rId14" Type="http://schemas.openxmlformats.org/officeDocument/2006/relationships/oleObject" Target="../embeddings/oleObject19.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30.wmf"/><Relationship Id="rId18" Type="http://schemas.openxmlformats.org/officeDocument/2006/relationships/oleObject" Target="../embeddings/oleObject27.bin"/><Relationship Id="rId3" Type="http://schemas.openxmlformats.org/officeDocument/2006/relationships/image" Target="../media/image26.png"/><Relationship Id="rId7" Type="http://schemas.openxmlformats.org/officeDocument/2006/relationships/image" Target="../media/image27.wmf"/><Relationship Id="rId12" Type="http://schemas.openxmlformats.org/officeDocument/2006/relationships/oleObject" Target="../embeddings/oleObject24.bin"/><Relationship Id="rId17" Type="http://schemas.openxmlformats.org/officeDocument/2006/relationships/image" Target="../media/image32.wmf"/><Relationship Id="rId2" Type="http://schemas.openxmlformats.org/officeDocument/2006/relationships/image" Target="../media/image25.png"/><Relationship Id="rId16" Type="http://schemas.openxmlformats.org/officeDocument/2006/relationships/oleObject" Target="../embeddings/oleObject26.bin"/><Relationship Id="rId1" Type="http://schemas.openxmlformats.org/officeDocument/2006/relationships/slideLayout" Target="../slideLayouts/slideLayout7.xml"/><Relationship Id="rId6" Type="http://schemas.openxmlformats.org/officeDocument/2006/relationships/oleObject" Target="../embeddings/oleObject21.bin"/><Relationship Id="rId11" Type="http://schemas.openxmlformats.org/officeDocument/2006/relationships/image" Target="../media/image29.wmf"/><Relationship Id="rId5" Type="http://schemas.openxmlformats.org/officeDocument/2006/relationships/image" Target="../media/image20.wmf"/><Relationship Id="rId15" Type="http://schemas.openxmlformats.org/officeDocument/2006/relationships/image" Target="../media/image31.wmf"/><Relationship Id="rId10" Type="http://schemas.openxmlformats.org/officeDocument/2006/relationships/oleObject" Target="../embeddings/oleObject23.bin"/><Relationship Id="rId19" Type="http://schemas.openxmlformats.org/officeDocument/2006/relationships/image" Target="../media/image33.wmf"/><Relationship Id="rId4" Type="http://schemas.openxmlformats.org/officeDocument/2006/relationships/oleObject" Target="../embeddings/oleObject20.bin"/><Relationship Id="rId9" Type="http://schemas.openxmlformats.org/officeDocument/2006/relationships/image" Target="../media/image28.wmf"/><Relationship Id="rId14" Type="http://schemas.openxmlformats.org/officeDocument/2006/relationships/oleObject" Target="../embeddings/oleObject25.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38.wmf"/><Relationship Id="rId18" Type="http://schemas.openxmlformats.org/officeDocument/2006/relationships/image" Target="../media/image40.wmf"/><Relationship Id="rId3" Type="http://schemas.openxmlformats.org/officeDocument/2006/relationships/image" Target="../media/image20.wmf"/><Relationship Id="rId7" Type="http://schemas.openxmlformats.org/officeDocument/2006/relationships/image" Target="../media/image35.wmf"/><Relationship Id="rId12" Type="http://schemas.openxmlformats.org/officeDocument/2006/relationships/oleObject" Target="../embeddings/oleObject33.bin"/><Relationship Id="rId17" Type="http://schemas.openxmlformats.org/officeDocument/2006/relationships/oleObject" Target="../embeddings/oleObject35.bin"/><Relationship Id="rId2" Type="http://schemas.openxmlformats.org/officeDocument/2006/relationships/oleObject" Target="../embeddings/oleObject28.bin"/><Relationship Id="rId16" Type="http://schemas.openxmlformats.org/officeDocument/2006/relationships/image" Target="../media/image39.wmf"/><Relationship Id="rId1" Type="http://schemas.openxmlformats.org/officeDocument/2006/relationships/slideLayout" Target="../slideLayouts/slideLayout7.xml"/><Relationship Id="rId6" Type="http://schemas.openxmlformats.org/officeDocument/2006/relationships/oleObject" Target="../embeddings/oleObject30.bin"/><Relationship Id="rId11" Type="http://schemas.openxmlformats.org/officeDocument/2006/relationships/image" Target="../media/image37.wmf"/><Relationship Id="rId5" Type="http://schemas.openxmlformats.org/officeDocument/2006/relationships/image" Target="../media/image34.wmf"/><Relationship Id="rId15" Type="http://schemas.openxmlformats.org/officeDocument/2006/relationships/oleObject" Target="../embeddings/oleObject34.bin"/><Relationship Id="rId10" Type="http://schemas.openxmlformats.org/officeDocument/2006/relationships/oleObject" Target="../embeddings/oleObject32.bin"/><Relationship Id="rId19" Type="http://schemas.openxmlformats.org/officeDocument/2006/relationships/image" Target="../media/image41.png"/><Relationship Id="rId4" Type="http://schemas.openxmlformats.org/officeDocument/2006/relationships/oleObject" Target="../embeddings/oleObject29.bin"/><Relationship Id="rId9" Type="http://schemas.openxmlformats.org/officeDocument/2006/relationships/image" Target="../media/image36.wmf"/><Relationship Id="rId1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em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53.png"/><Relationship Id="rId4" Type="http://schemas.openxmlformats.org/officeDocument/2006/relationships/image" Target="../media/image52.png"/></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59.png"/><Relationship Id="rId4" Type="http://schemas.openxmlformats.org/officeDocument/2006/relationships/image" Target="../media/image58.png"/></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0452A146-20B8-4FD8-A214-319B3897D56E}"/>
              </a:ext>
            </a:extLst>
          </p:cNvPr>
          <p:cNvSpPr txBox="1"/>
          <p:nvPr/>
        </p:nvSpPr>
        <p:spPr>
          <a:xfrm>
            <a:off x="375658" y="246221"/>
            <a:ext cx="8392682" cy="523220"/>
          </a:xfrm>
          <a:prstGeom prst="rect">
            <a:avLst/>
          </a:prstGeom>
          <a:noFill/>
        </p:spPr>
        <p:txBody>
          <a:bodyPr wrap="square">
            <a:spAutoFit/>
          </a:bodyPr>
          <a:lstStyle/>
          <a:p>
            <a:pPr algn="ctr"/>
            <a:r>
              <a:rPr lang="en-US" sz="2800" b="1" dirty="0">
                <a:latin typeface="Microsoft YaHei UI" panose="020B0503020204020204" pitchFamily="34" charset="-122"/>
                <a:ea typeface="Microsoft YaHei UI" panose="020B0503020204020204" pitchFamily="34" charset="-122"/>
              </a:rPr>
              <a:t>Scientific Machine Learning</a:t>
            </a:r>
          </a:p>
        </p:txBody>
      </p:sp>
      <p:pic>
        <p:nvPicPr>
          <p:cNvPr id="9" name="图片 8">
            <a:extLst>
              <a:ext uri="{FF2B5EF4-FFF2-40B4-BE49-F238E27FC236}">
                <a16:creationId xmlns:a16="http://schemas.microsoft.com/office/drawing/2014/main" id="{382D0D78-D0B9-403E-B5AC-66E83F5AC89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56207" y="155558"/>
            <a:ext cx="973866" cy="704544"/>
          </a:xfrm>
          <a:prstGeom prst="rect">
            <a:avLst/>
          </a:prstGeom>
        </p:spPr>
      </p:pic>
      <p:pic>
        <p:nvPicPr>
          <p:cNvPr id="6" name="图片 5">
            <a:extLst>
              <a:ext uri="{FF2B5EF4-FFF2-40B4-BE49-F238E27FC236}">
                <a16:creationId xmlns:a16="http://schemas.microsoft.com/office/drawing/2014/main" id="{C72604B1-DFD6-4A0E-BA4B-23A06DBE5369}"/>
              </a:ext>
            </a:extLst>
          </p:cNvPr>
          <p:cNvPicPr>
            <a:picLocks noChangeAspect="1"/>
          </p:cNvPicPr>
          <p:nvPr/>
        </p:nvPicPr>
        <p:blipFill rotWithShape="1">
          <a:blip r:embed="rId4">
            <a:extLst>
              <a:ext uri="{28A0092B-C50C-407E-A947-70E740481C1C}">
                <a14:useLocalDpi xmlns:a14="http://schemas.microsoft.com/office/drawing/2010/main" val="0"/>
              </a:ext>
            </a:extLst>
          </a:blip>
          <a:srcRect t="3925" r="82409"/>
          <a:stretch/>
        </p:blipFill>
        <p:spPr>
          <a:xfrm>
            <a:off x="992586" y="37675"/>
            <a:ext cx="893400" cy="940311"/>
          </a:xfrm>
          <a:prstGeom prst="rect">
            <a:avLst/>
          </a:prstGeom>
        </p:spPr>
      </p:pic>
      <p:sp>
        <p:nvSpPr>
          <p:cNvPr id="8" name="文本框 7">
            <a:extLst>
              <a:ext uri="{FF2B5EF4-FFF2-40B4-BE49-F238E27FC236}">
                <a16:creationId xmlns:a16="http://schemas.microsoft.com/office/drawing/2014/main" id="{6B7CEB32-1021-4218-A4D5-F1083BF5322E}"/>
              </a:ext>
            </a:extLst>
          </p:cNvPr>
          <p:cNvSpPr txBox="1"/>
          <p:nvPr/>
        </p:nvSpPr>
        <p:spPr>
          <a:xfrm>
            <a:off x="280217" y="1608299"/>
            <a:ext cx="8583562" cy="523220"/>
          </a:xfrm>
          <a:prstGeom prst="rect">
            <a:avLst/>
          </a:prstGeom>
          <a:noFill/>
        </p:spPr>
        <p:txBody>
          <a:bodyPr wrap="square" rtlCol="0">
            <a:spAutoFit/>
          </a:bodyPr>
          <a:lstStyle/>
          <a:p>
            <a:pPr algn="ctr"/>
            <a:r>
              <a:rPr lang="en-US" altLang="zh-CN" sz="2800" b="1" dirty="0">
                <a:solidFill>
                  <a:srgbClr val="C00000"/>
                </a:solidFill>
                <a:latin typeface="Times New Roman" panose="02020603050405020304" pitchFamily="18" charset="0"/>
                <a:cs typeface="Times New Roman" panose="02020603050405020304" pitchFamily="18" charset="0"/>
              </a:rPr>
              <a:t>Lecture 13: Parallel Computing</a:t>
            </a:r>
          </a:p>
        </p:txBody>
      </p:sp>
      <p:sp>
        <p:nvSpPr>
          <p:cNvPr id="11" name="文本框 10">
            <a:extLst>
              <a:ext uri="{FF2B5EF4-FFF2-40B4-BE49-F238E27FC236}">
                <a16:creationId xmlns:a16="http://schemas.microsoft.com/office/drawing/2014/main" id="{256BF80A-5EF6-4539-ACB8-DA297CF81EAA}"/>
              </a:ext>
            </a:extLst>
          </p:cNvPr>
          <p:cNvSpPr txBox="1"/>
          <p:nvPr/>
        </p:nvSpPr>
        <p:spPr>
          <a:xfrm>
            <a:off x="629265" y="3125937"/>
            <a:ext cx="7885471" cy="369332"/>
          </a:xfrm>
          <a:prstGeom prst="rect">
            <a:avLst/>
          </a:prstGeom>
          <a:noFill/>
        </p:spPr>
        <p:txBody>
          <a:bodyPr wrap="square" rtlCol="0">
            <a:spAutoFit/>
          </a:bodyPr>
          <a:lstStyle/>
          <a:p>
            <a:pPr algn="ctr"/>
            <a:r>
              <a:rPr lang="zh-CN" altLang="en-US" b="1" dirty="0">
                <a:solidFill>
                  <a:srgbClr val="0000FF"/>
                </a:solidFill>
                <a:latin typeface="华文楷体" panose="02010600040101010101" pitchFamily="2" charset="-122"/>
                <a:ea typeface="华文楷体" panose="02010600040101010101" pitchFamily="2" charset="-122"/>
              </a:rPr>
              <a:t>孟旭辉</a:t>
            </a:r>
          </a:p>
        </p:txBody>
      </p:sp>
      <p:sp>
        <p:nvSpPr>
          <p:cNvPr id="16" name="文本框 15">
            <a:extLst>
              <a:ext uri="{FF2B5EF4-FFF2-40B4-BE49-F238E27FC236}">
                <a16:creationId xmlns:a16="http://schemas.microsoft.com/office/drawing/2014/main" id="{A6126DFE-D15F-47B5-9240-27C4587C9024}"/>
              </a:ext>
            </a:extLst>
          </p:cNvPr>
          <p:cNvSpPr txBox="1"/>
          <p:nvPr/>
        </p:nvSpPr>
        <p:spPr>
          <a:xfrm>
            <a:off x="629265" y="3648390"/>
            <a:ext cx="7885471" cy="369332"/>
          </a:xfrm>
          <a:prstGeom prst="rect">
            <a:avLst/>
          </a:prstGeom>
          <a:noFill/>
        </p:spPr>
        <p:txBody>
          <a:bodyPr wrap="square" rtlCol="0">
            <a:spAutoFit/>
          </a:bodyPr>
          <a:lstStyle/>
          <a:p>
            <a:pPr algn="ctr"/>
            <a:r>
              <a:rPr lang="zh-CN" altLang="en-US" b="1" dirty="0">
                <a:solidFill>
                  <a:srgbClr val="0000FF"/>
                </a:solidFill>
                <a:latin typeface="华文楷体" panose="02010600040101010101" pitchFamily="2" charset="-122"/>
                <a:ea typeface="华文楷体" panose="02010600040101010101" pitchFamily="2" charset="-122"/>
              </a:rPr>
              <a:t>数学与统计学院数学与应用学科交叉创新研究院</a:t>
            </a:r>
          </a:p>
        </p:txBody>
      </p:sp>
      <p:sp>
        <p:nvSpPr>
          <p:cNvPr id="18" name="文本框 17">
            <a:extLst>
              <a:ext uri="{FF2B5EF4-FFF2-40B4-BE49-F238E27FC236}">
                <a16:creationId xmlns:a16="http://schemas.microsoft.com/office/drawing/2014/main" id="{9B9D2569-83C5-47AE-B0C1-B755D485CBD5}"/>
              </a:ext>
            </a:extLst>
          </p:cNvPr>
          <p:cNvSpPr txBox="1"/>
          <p:nvPr/>
        </p:nvSpPr>
        <p:spPr>
          <a:xfrm>
            <a:off x="629265" y="4213821"/>
            <a:ext cx="7885471" cy="923330"/>
          </a:xfrm>
          <a:prstGeom prst="rect">
            <a:avLst/>
          </a:prstGeom>
          <a:noFill/>
        </p:spPr>
        <p:txBody>
          <a:bodyPr wrap="square" rtlCol="0">
            <a:spAutoFit/>
          </a:bodyPr>
          <a:lstStyle/>
          <a:p>
            <a:pPr algn="ctr"/>
            <a:r>
              <a:rPr lang="zh-CN" altLang="en-US" b="1" dirty="0">
                <a:solidFill>
                  <a:srgbClr val="0000FF"/>
                </a:solidFill>
                <a:latin typeface="华文楷体" panose="02010600040101010101" pitchFamily="2" charset="-122"/>
                <a:ea typeface="华文楷体" panose="02010600040101010101" pitchFamily="2" charset="-122"/>
              </a:rPr>
              <a:t>办公室：东</a:t>
            </a:r>
            <a:r>
              <a:rPr lang="en-US" altLang="zh-CN" b="1" dirty="0">
                <a:solidFill>
                  <a:srgbClr val="0000FF"/>
                </a:solidFill>
                <a:latin typeface="华文楷体" panose="02010600040101010101" pitchFamily="2" charset="-122"/>
                <a:ea typeface="华文楷体" panose="02010600040101010101" pitchFamily="2" charset="-122"/>
              </a:rPr>
              <a:t>32</a:t>
            </a:r>
            <a:r>
              <a:rPr lang="zh-CN" altLang="en-US" b="1" dirty="0">
                <a:solidFill>
                  <a:srgbClr val="0000FF"/>
                </a:solidFill>
                <a:latin typeface="华文楷体" panose="02010600040101010101" pitchFamily="2" charset="-122"/>
                <a:ea typeface="华文楷体" panose="02010600040101010101" pitchFamily="2" charset="-122"/>
              </a:rPr>
              <a:t>楼</a:t>
            </a:r>
            <a:r>
              <a:rPr lang="en-US" altLang="zh-CN" b="1" dirty="0">
                <a:solidFill>
                  <a:srgbClr val="0000FF"/>
                </a:solidFill>
                <a:latin typeface="华文楷体" panose="02010600040101010101" pitchFamily="2" charset="-122"/>
                <a:ea typeface="华文楷体" panose="02010600040101010101" pitchFamily="2" charset="-122"/>
              </a:rPr>
              <a:t>111</a:t>
            </a:r>
            <a:r>
              <a:rPr lang="zh-CN" altLang="en-US" b="1" dirty="0">
                <a:solidFill>
                  <a:srgbClr val="0000FF"/>
                </a:solidFill>
                <a:latin typeface="华文楷体" panose="02010600040101010101" pitchFamily="2" charset="-122"/>
                <a:ea typeface="华文楷体" panose="02010600040101010101" pitchFamily="2" charset="-122"/>
              </a:rPr>
              <a:t>室</a:t>
            </a:r>
            <a:endParaRPr lang="en-US" altLang="zh-CN" b="1" dirty="0">
              <a:solidFill>
                <a:srgbClr val="0000FF"/>
              </a:solidFill>
              <a:latin typeface="华文楷体" panose="02010600040101010101" pitchFamily="2" charset="-122"/>
              <a:ea typeface="华文楷体" panose="02010600040101010101" pitchFamily="2" charset="-122"/>
            </a:endParaRPr>
          </a:p>
          <a:p>
            <a:pPr algn="ctr"/>
            <a:endParaRPr lang="en-US" altLang="zh-CN" b="1" dirty="0">
              <a:solidFill>
                <a:srgbClr val="0000FF"/>
              </a:solidFill>
              <a:latin typeface="华文楷体" panose="02010600040101010101" pitchFamily="2" charset="-122"/>
              <a:ea typeface="华文楷体" panose="02010600040101010101" pitchFamily="2" charset="-122"/>
            </a:endParaRPr>
          </a:p>
          <a:p>
            <a:pPr algn="ctr"/>
            <a:r>
              <a:rPr lang="en-US" altLang="zh-CN" b="1" dirty="0">
                <a:solidFill>
                  <a:srgbClr val="0000FF"/>
                </a:solidFill>
                <a:latin typeface="华文楷体" panose="02010600040101010101" pitchFamily="2" charset="-122"/>
                <a:ea typeface="华文楷体" panose="02010600040101010101" pitchFamily="2" charset="-122"/>
              </a:rPr>
              <a:t>Email</a:t>
            </a:r>
            <a:r>
              <a:rPr lang="zh-CN" altLang="en-US" b="1" dirty="0">
                <a:solidFill>
                  <a:srgbClr val="0000FF"/>
                </a:solidFill>
                <a:latin typeface="华文楷体" panose="02010600040101010101" pitchFamily="2" charset="-122"/>
                <a:ea typeface="华文楷体" panose="02010600040101010101" pitchFamily="2" charset="-122"/>
              </a:rPr>
              <a:t>：</a:t>
            </a:r>
            <a:r>
              <a:rPr lang="en-US" altLang="zh-CN" b="1" dirty="0">
                <a:solidFill>
                  <a:srgbClr val="0000FF"/>
                </a:solidFill>
                <a:latin typeface="华文楷体" panose="02010600040101010101" pitchFamily="2" charset="-122"/>
                <a:ea typeface="华文楷体" panose="02010600040101010101" pitchFamily="2" charset="-122"/>
              </a:rPr>
              <a:t>xuhui_meng@hust.edu.cn</a:t>
            </a:r>
          </a:p>
        </p:txBody>
      </p:sp>
      <p:sp>
        <p:nvSpPr>
          <p:cNvPr id="2" name="矩形 1">
            <a:extLst>
              <a:ext uri="{FF2B5EF4-FFF2-40B4-BE49-F238E27FC236}">
                <a16:creationId xmlns:a16="http://schemas.microsoft.com/office/drawing/2014/main" id="{11361427-37D8-46C8-9C84-F47E163DF02A}"/>
              </a:ext>
            </a:extLst>
          </p:cNvPr>
          <p:cNvSpPr/>
          <p:nvPr/>
        </p:nvSpPr>
        <p:spPr>
          <a:xfrm>
            <a:off x="2497488" y="5505133"/>
            <a:ext cx="4149021" cy="369332"/>
          </a:xfrm>
          <a:prstGeom prst="rect">
            <a:avLst/>
          </a:prstGeom>
        </p:spPr>
        <p:txBody>
          <a:bodyPr wrap="none">
            <a:spAutoFit/>
          </a:bodyPr>
          <a:lstStyle/>
          <a:p>
            <a:r>
              <a:rPr lang="zh-CN" altLang="en-US" i="1" dirty="0">
                <a:solidFill>
                  <a:srgbClr val="C00000"/>
                </a:solidFill>
                <a:latin typeface="Times New Roman" panose="02020603050405020304" pitchFamily="18" charset="0"/>
                <a:cs typeface="Times New Roman" panose="02020603050405020304" pitchFamily="18" charset="0"/>
              </a:rPr>
              <a:t>https://github.com/XuhuiM/SciML-Course</a:t>
            </a:r>
          </a:p>
        </p:txBody>
      </p:sp>
    </p:spTree>
    <p:extLst>
      <p:ext uri="{BB962C8B-B14F-4D97-AF65-F5344CB8AC3E}">
        <p14:creationId xmlns:p14="http://schemas.microsoft.com/office/powerpoint/2010/main" val="159326171"/>
      </p:ext>
    </p:extLst>
  </p:cSld>
  <p:clrMapOvr>
    <a:masterClrMapping/>
  </p:clrMapOvr>
  <mc:AlternateContent xmlns:mc="http://schemas.openxmlformats.org/markup-compatibility/2006" xmlns:p14="http://schemas.microsoft.com/office/powerpoint/2010/main">
    <mc:Choice Requires="p14">
      <p:transition spd="slow" p14:dur="2000" advTm="12659"/>
    </mc:Choice>
    <mc:Fallback xmlns="">
      <p:transition spd="slow" advTm="1265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rgbClr val="C00000"/>
                </a:solidFill>
                <a:latin typeface="Times New Roman" panose="02020603050405020304" pitchFamily="18" charset="0"/>
                <a:ea typeface="Microsoft YaHei UI" panose="020B0503020204020204" pitchFamily="34" charset="-122"/>
                <a:cs typeface="Times New Roman" panose="02020603050405020304" pitchFamily="18" charset="0"/>
              </a:rPr>
              <a:t>Outline</a:t>
            </a:r>
          </a:p>
        </p:txBody>
      </p:sp>
      <p:sp>
        <p:nvSpPr>
          <p:cNvPr id="12" name="文本框 11"/>
          <p:cNvSpPr txBox="1"/>
          <p:nvPr/>
        </p:nvSpPr>
        <p:spPr>
          <a:xfrm>
            <a:off x="0" y="1326982"/>
            <a:ext cx="9311148" cy="3742371"/>
          </a:xfrm>
          <a:prstGeom prst="rect">
            <a:avLst/>
          </a:prstGeom>
          <a:noFill/>
        </p:spPr>
        <p:txBody>
          <a:bodyPr wrap="square" rtlCol="0">
            <a:spAutoFit/>
          </a:bodyPr>
          <a:lstStyle/>
          <a:p>
            <a:pPr>
              <a:lnSpc>
                <a:spcPct val="125000"/>
              </a:lnSpc>
            </a:pPr>
            <a:endParaRPr lang="en-US" sz="2400" b="1" dirty="0">
              <a:latin typeface="Times New Roman" panose="02020603050405020304" pitchFamily="18" charset="0"/>
              <a:cs typeface="Times New Roman" panose="02020603050405020304" pitchFamily="18" charset="0"/>
            </a:endParaRPr>
          </a:p>
          <a:p>
            <a:pPr marL="285750" indent="-285750">
              <a:lnSpc>
                <a:spcPct val="125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Parallel computing</a:t>
            </a:r>
          </a:p>
          <a:p>
            <a:pPr marL="285750" indent="-285750">
              <a:lnSpc>
                <a:spcPct val="125000"/>
              </a:lnSpc>
              <a:buFont typeface="Wingdings" panose="05000000000000000000" pitchFamily="2" charset="2"/>
              <a:buChar char="Ø"/>
            </a:pPr>
            <a:endParaRPr lang="en-US" sz="2400" b="1" dirty="0">
              <a:latin typeface="Times New Roman" panose="02020603050405020304" pitchFamily="18" charset="0"/>
              <a:cs typeface="Times New Roman" panose="02020603050405020304" pitchFamily="18" charset="0"/>
            </a:endParaRPr>
          </a:p>
          <a:p>
            <a:pPr marL="285750" indent="-285750">
              <a:lnSpc>
                <a:spcPct val="125000"/>
              </a:lnSpc>
              <a:buFont typeface="Wingdings" panose="05000000000000000000" pitchFamily="2" charset="2"/>
              <a:buChar char="Ø"/>
            </a:pPr>
            <a:endParaRPr lang="en-US" sz="2400" b="1" dirty="0">
              <a:latin typeface="Times New Roman" panose="02020603050405020304" pitchFamily="18" charset="0"/>
              <a:cs typeface="Times New Roman" panose="02020603050405020304" pitchFamily="18" charset="0"/>
            </a:endParaRPr>
          </a:p>
          <a:p>
            <a:pPr marL="285750" indent="-285750">
              <a:lnSpc>
                <a:spcPct val="125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Numerical experiments</a:t>
            </a:r>
          </a:p>
          <a:p>
            <a:pPr marL="285750" indent="-285750">
              <a:lnSpc>
                <a:spcPct val="125000"/>
              </a:lnSpc>
              <a:buFont typeface="Wingdings" panose="05000000000000000000" pitchFamily="2" charset="2"/>
              <a:buChar char="Ø"/>
            </a:pPr>
            <a:endParaRPr lang="en-US" sz="2400" b="1" dirty="0">
              <a:latin typeface="Times New Roman" panose="02020603050405020304" pitchFamily="18" charset="0"/>
              <a:cs typeface="Times New Roman" panose="02020603050405020304" pitchFamily="18" charset="0"/>
            </a:endParaRPr>
          </a:p>
          <a:p>
            <a:pPr marL="285750" indent="-285750">
              <a:lnSpc>
                <a:spcPct val="125000"/>
              </a:lnSpc>
              <a:buFont typeface="Wingdings" panose="05000000000000000000" pitchFamily="2" charset="2"/>
              <a:buChar char="Ø"/>
            </a:pPr>
            <a:endParaRPr lang="en-US" sz="2400" b="1" dirty="0">
              <a:latin typeface="Times New Roman" panose="02020603050405020304" pitchFamily="18" charset="0"/>
              <a:cs typeface="Times New Roman" panose="02020603050405020304" pitchFamily="18" charset="0"/>
            </a:endParaRPr>
          </a:p>
          <a:p>
            <a:pPr marL="285750" indent="-285750">
              <a:lnSpc>
                <a:spcPct val="125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Summary</a:t>
            </a:r>
          </a:p>
        </p:txBody>
      </p:sp>
      <p:pic>
        <p:nvPicPr>
          <p:cNvPr id="5" name="图片 4">
            <a:extLst>
              <a:ext uri="{FF2B5EF4-FFF2-40B4-BE49-F238E27FC236}">
                <a16:creationId xmlns:a16="http://schemas.microsoft.com/office/drawing/2014/main" id="{A17600B9-8112-4CB0-8EB8-9B2C83ACC30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73866" y="6373190"/>
            <a:ext cx="670134" cy="484809"/>
          </a:xfrm>
          <a:prstGeom prst="rect">
            <a:avLst/>
          </a:prstGeom>
        </p:spPr>
      </p:pic>
    </p:spTree>
    <p:extLst>
      <p:ext uri="{BB962C8B-B14F-4D97-AF65-F5344CB8AC3E}">
        <p14:creationId xmlns:p14="http://schemas.microsoft.com/office/powerpoint/2010/main" val="3004100907"/>
      </p:ext>
    </p:extLst>
  </p:cSld>
  <p:clrMapOvr>
    <a:masterClrMapping/>
  </p:clrMapOvr>
  <mc:AlternateContent xmlns:mc="http://schemas.openxmlformats.org/markup-compatibility/2006" xmlns:p14="http://schemas.microsoft.com/office/powerpoint/2010/main">
    <mc:Choice Requires="p14">
      <p:transition spd="slow" p14:dur="2000" advTm="65067"/>
    </mc:Choice>
    <mc:Fallback xmlns="">
      <p:transition spd="slow" advTm="6506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489526" y="1660456"/>
            <a:ext cx="8303491" cy="796417"/>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err="1">
                <a:solidFill>
                  <a:srgbClr val="C00000"/>
                </a:solidFill>
                <a:latin typeface="Microsoft YaHei UI" panose="020B0503020204020204" pitchFamily="34" charset="-122"/>
                <a:ea typeface="Microsoft YaHei UI" panose="020B0503020204020204" pitchFamily="34" charset="-122"/>
              </a:rPr>
              <a:t>Horovod</a:t>
            </a:r>
            <a:r>
              <a:rPr lang="en-US" sz="2800" b="1" dirty="0">
                <a:solidFill>
                  <a:srgbClr val="C00000"/>
                </a:solidFill>
                <a:latin typeface="Microsoft YaHei UI" panose="020B0503020204020204" pitchFamily="34" charset="-122"/>
                <a:ea typeface="Microsoft YaHei UI" panose="020B0503020204020204" pitchFamily="34" charset="-122"/>
              </a:rPr>
              <a:t>: Distributed training framework</a:t>
            </a:r>
          </a:p>
        </p:txBody>
      </p:sp>
      <p:sp>
        <p:nvSpPr>
          <p:cNvPr id="2" name="文本框 1"/>
          <p:cNvSpPr txBox="1"/>
          <p:nvPr/>
        </p:nvSpPr>
        <p:spPr>
          <a:xfrm>
            <a:off x="2641598" y="4031796"/>
            <a:ext cx="3999346" cy="369332"/>
          </a:xfrm>
          <a:prstGeom prst="rect">
            <a:avLst/>
          </a:prstGeom>
          <a:noFill/>
        </p:spPr>
        <p:txBody>
          <a:bodyPr wrap="square" rtlCol="0">
            <a:spAutoFit/>
          </a:bodyPr>
          <a:lstStyle/>
          <a:p>
            <a:pPr algn="ctr"/>
            <a:r>
              <a:rPr lang="en-US" dirty="0" err="1">
                <a:latin typeface="Microsoft YaHei UI" panose="020B0503020204020204" pitchFamily="34" charset="-122"/>
                <a:ea typeface="Microsoft YaHei UI" panose="020B0503020204020204" pitchFamily="34" charset="-122"/>
              </a:rPr>
              <a:t>Xuhui</a:t>
            </a:r>
            <a:r>
              <a:rPr lang="en-US" dirty="0">
                <a:latin typeface="Microsoft YaHei UI" panose="020B0503020204020204" pitchFamily="34" charset="-122"/>
                <a:ea typeface="Microsoft YaHei UI" panose="020B0503020204020204" pitchFamily="34" charset="-122"/>
              </a:rPr>
              <a:t> </a:t>
            </a:r>
            <a:r>
              <a:rPr lang="en-US" dirty="0" err="1">
                <a:latin typeface="Microsoft YaHei UI" panose="020B0503020204020204" pitchFamily="34" charset="-122"/>
                <a:ea typeface="Microsoft YaHei UI" panose="020B0503020204020204" pitchFamily="34" charset="-122"/>
              </a:rPr>
              <a:t>Meng</a:t>
            </a:r>
            <a:r>
              <a:rPr lang="en-US" dirty="0">
                <a:latin typeface="Microsoft YaHei UI" panose="020B0503020204020204" pitchFamily="34" charset="-122"/>
                <a:ea typeface="Microsoft YaHei UI" panose="020B0503020204020204" pitchFamily="34" charset="-122"/>
              </a:rPr>
              <a:t>, </a:t>
            </a:r>
            <a:r>
              <a:rPr lang="en-US" dirty="0" err="1">
                <a:latin typeface="Microsoft YaHei UI" panose="020B0503020204020204" pitchFamily="34" charset="-122"/>
                <a:ea typeface="Microsoft YaHei UI" panose="020B0503020204020204" pitchFamily="34" charset="-122"/>
              </a:rPr>
              <a:t>Khemraj</a:t>
            </a:r>
            <a:r>
              <a:rPr lang="en-US" dirty="0">
                <a:latin typeface="Microsoft YaHei UI" panose="020B0503020204020204" pitchFamily="34" charset="-122"/>
                <a:ea typeface="Microsoft YaHei UI" panose="020B0503020204020204" pitchFamily="34" charset="-122"/>
              </a:rPr>
              <a:t> Shukla </a:t>
            </a:r>
          </a:p>
        </p:txBody>
      </p:sp>
      <p:sp>
        <p:nvSpPr>
          <p:cNvPr id="14" name="文本框 13"/>
          <p:cNvSpPr txBox="1"/>
          <p:nvPr/>
        </p:nvSpPr>
        <p:spPr>
          <a:xfrm>
            <a:off x="1560945" y="5283406"/>
            <a:ext cx="6022110"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Division of Applied Mathematics, Brown University</a:t>
            </a:r>
          </a:p>
        </p:txBody>
      </p:sp>
      <p:sp>
        <p:nvSpPr>
          <p:cNvPr id="15" name="文本框 14"/>
          <p:cNvSpPr txBox="1"/>
          <p:nvPr/>
        </p:nvSpPr>
        <p:spPr>
          <a:xfrm>
            <a:off x="2572327" y="6103648"/>
            <a:ext cx="3999346"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September 27</a:t>
            </a:r>
            <a:r>
              <a:rPr lang="en-US" baseline="30000" dirty="0">
                <a:latin typeface="Microsoft YaHei UI" panose="020B0503020204020204" pitchFamily="34" charset="-122"/>
                <a:ea typeface="Microsoft YaHei UI" panose="020B0503020204020204" pitchFamily="34" charset="-122"/>
              </a:rPr>
              <a:t>th</a:t>
            </a:r>
            <a:r>
              <a:rPr lang="en-US" baseline="-25000" dirty="0">
                <a:latin typeface="Microsoft YaHei UI" panose="020B0503020204020204" pitchFamily="34" charset="-122"/>
                <a:ea typeface="Microsoft YaHei UI" panose="020B0503020204020204" pitchFamily="34" charset="-122"/>
              </a:rPr>
              <a:t> , </a:t>
            </a:r>
            <a:r>
              <a:rPr lang="en-US" dirty="0">
                <a:latin typeface="Microsoft YaHei UI" panose="020B0503020204020204" pitchFamily="34" charset="-122"/>
                <a:ea typeface="Microsoft YaHei UI" panose="020B0503020204020204" pitchFamily="34" charset="-122"/>
              </a:rPr>
              <a:t>2019</a:t>
            </a: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54111" y="5781964"/>
            <a:ext cx="1076036" cy="1076036"/>
          </a:xfrm>
          <a:prstGeom prst="rect">
            <a:avLst/>
          </a:prstGeom>
        </p:spPr>
      </p:pic>
      <p:pic>
        <p:nvPicPr>
          <p:cNvPr id="5" name="图片 4">
            <a:extLst>
              <a:ext uri="{FF2B5EF4-FFF2-40B4-BE49-F238E27FC236}">
                <a16:creationId xmlns:a16="http://schemas.microsoft.com/office/drawing/2014/main" id="{A44C9AC7-69A4-4355-BABB-7774384A1D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21624" y="3243792"/>
            <a:ext cx="1322862" cy="1808407"/>
          </a:xfrm>
          <a:prstGeom prst="rect">
            <a:avLst/>
          </a:prstGeom>
        </p:spPr>
      </p:pic>
    </p:spTree>
    <p:extLst>
      <p:ext uri="{BB962C8B-B14F-4D97-AF65-F5344CB8AC3E}">
        <p14:creationId xmlns:p14="http://schemas.microsoft.com/office/powerpoint/2010/main" val="605082213"/>
      </p:ext>
    </p:extLst>
  </p:cSld>
  <p:clrMapOvr>
    <a:masterClrMapping/>
  </p:clrMapOvr>
  <mc:AlternateContent xmlns:mc="http://schemas.openxmlformats.org/markup-compatibility/2006" xmlns:p14="http://schemas.microsoft.com/office/powerpoint/2010/main">
    <mc:Choice Requires="p14">
      <p:transition spd="slow" p14:dur="2000" advTm="12659"/>
    </mc:Choice>
    <mc:Fallback xmlns="">
      <p:transition spd="slow" advTm="12659"/>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rgbClr val="C00000"/>
                </a:solidFill>
                <a:latin typeface="Microsoft YaHei UI" panose="020B0503020204020204" pitchFamily="34" charset="-122"/>
                <a:ea typeface="Microsoft YaHei UI" panose="020B0503020204020204" pitchFamily="34" charset="-122"/>
                <a:cs typeface="Times New Roman" panose="02020603050405020304" pitchFamily="18" charset="0"/>
              </a:rPr>
              <a:t>Outline</a:t>
            </a:r>
          </a:p>
        </p:txBody>
      </p:sp>
      <p:sp>
        <p:nvSpPr>
          <p:cNvPr id="3" name="文本框 2"/>
          <p:cNvSpPr txBox="1"/>
          <p:nvPr/>
        </p:nvSpPr>
        <p:spPr>
          <a:xfrm>
            <a:off x="193963" y="1052945"/>
            <a:ext cx="8562109" cy="3785652"/>
          </a:xfrm>
          <a:prstGeom prst="rect">
            <a:avLst/>
          </a:prstGeom>
          <a:noFill/>
        </p:spPr>
        <p:txBody>
          <a:bodyPr wrap="square" rtlCol="0">
            <a:spAutoFit/>
          </a:bodyPr>
          <a:lstStyle/>
          <a:p>
            <a:pPr marL="285750" indent="-285750">
              <a:buClr>
                <a:srgbClr val="0000FF"/>
              </a:buClr>
              <a:buFont typeface="Wingdings" panose="05000000000000000000" pitchFamily="2" charset="2"/>
              <a:buChar char="Ø"/>
            </a:pPr>
            <a:r>
              <a:rPr lang="en-US" sz="2400" dirty="0">
                <a:latin typeface="Microsoft YaHei UI" panose="020B0503020204020204" pitchFamily="34" charset="-122"/>
                <a:ea typeface="Microsoft YaHei UI" panose="020B0503020204020204" pitchFamily="34" charset="-122"/>
              </a:rPr>
              <a:t>What’s </a:t>
            </a:r>
            <a:r>
              <a:rPr lang="en-US" sz="2400" dirty="0" err="1">
                <a:latin typeface="Microsoft YaHei UI" panose="020B0503020204020204" pitchFamily="34" charset="-122"/>
                <a:ea typeface="Microsoft YaHei UI" panose="020B0503020204020204" pitchFamily="34" charset="-122"/>
              </a:rPr>
              <a:t>Horovod</a:t>
            </a:r>
            <a:r>
              <a:rPr lang="en-US" sz="2400" dirty="0">
                <a:latin typeface="Microsoft YaHei UI" panose="020B0503020204020204" pitchFamily="34" charset="-122"/>
                <a:ea typeface="Microsoft YaHei UI" panose="020B0503020204020204" pitchFamily="34" charset="-122"/>
              </a:rPr>
              <a:t>?</a:t>
            </a:r>
            <a:br>
              <a:rPr lang="en-US" sz="2400" dirty="0">
                <a:latin typeface="Microsoft YaHei UI" panose="020B0503020204020204" pitchFamily="34" charset="-122"/>
                <a:ea typeface="Microsoft YaHei UI" panose="020B0503020204020204" pitchFamily="34" charset="-122"/>
              </a:rPr>
            </a:br>
            <a:endParaRPr lang="en-US" sz="2400" dirty="0">
              <a:latin typeface="Microsoft YaHei UI" panose="020B0503020204020204" pitchFamily="34" charset="-122"/>
              <a:ea typeface="Microsoft YaHei UI" panose="020B0503020204020204" pitchFamily="34" charset="-122"/>
            </a:endParaRPr>
          </a:p>
          <a:p>
            <a:pPr marL="285750" indent="-285750">
              <a:buFont typeface="Wingdings" panose="05000000000000000000" pitchFamily="2" charset="2"/>
              <a:buChar char="Ø"/>
            </a:pPr>
            <a:endParaRPr lang="en-US" sz="2400" dirty="0">
              <a:latin typeface="Microsoft YaHei UI" panose="020B0503020204020204" pitchFamily="34" charset="-122"/>
              <a:ea typeface="Microsoft YaHei UI" panose="020B0503020204020204" pitchFamily="34" charset="-122"/>
            </a:endParaRPr>
          </a:p>
          <a:p>
            <a:pPr marL="285750" indent="-285750">
              <a:buClr>
                <a:srgbClr val="0000FF"/>
              </a:buClr>
              <a:buFont typeface="Wingdings" panose="05000000000000000000" pitchFamily="2" charset="2"/>
              <a:buChar char="Ø"/>
            </a:pPr>
            <a:r>
              <a:rPr lang="en-US" sz="2400" dirty="0">
                <a:latin typeface="Microsoft YaHei UI" panose="020B0503020204020204" pitchFamily="34" charset="-122"/>
                <a:ea typeface="Microsoft YaHei UI" panose="020B0503020204020204" pitchFamily="34" charset="-122"/>
              </a:rPr>
              <a:t>How to use?</a:t>
            </a:r>
            <a:br>
              <a:rPr lang="en-US" sz="2400" dirty="0">
                <a:latin typeface="Microsoft YaHei UI" panose="020B0503020204020204" pitchFamily="34" charset="-122"/>
                <a:ea typeface="Microsoft YaHei UI" panose="020B0503020204020204" pitchFamily="34" charset="-122"/>
              </a:rPr>
            </a:br>
            <a:endParaRPr lang="en-US" sz="2400" dirty="0">
              <a:latin typeface="Microsoft YaHei UI" panose="020B0503020204020204" pitchFamily="34" charset="-122"/>
              <a:ea typeface="Microsoft YaHei UI" panose="020B0503020204020204" pitchFamily="34" charset="-122"/>
            </a:endParaRPr>
          </a:p>
          <a:p>
            <a:pPr marL="285750" indent="-285750">
              <a:buClr>
                <a:srgbClr val="0000FF"/>
              </a:buClr>
              <a:buFont typeface="Wingdings" panose="05000000000000000000" pitchFamily="2" charset="2"/>
              <a:buChar char="Ø"/>
            </a:pPr>
            <a:endParaRPr lang="en-US" sz="2400" dirty="0">
              <a:latin typeface="Microsoft YaHei UI" panose="020B0503020204020204" pitchFamily="34" charset="-122"/>
              <a:ea typeface="Microsoft YaHei UI" panose="020B0503020204020204" pitchFamily="34" charset="-122"/>
            </a:endParaRPr>
          </a:p>
          <a:p>
            <a:pPr marL="285750" indent="-285750">
              <a:buClr>
                <a:srgbClr val="0000FF"/>
              </a:buClr>
              <a:buFont typeface="Wingdings" panose="05000000000000000000" pitchFamily="2" charset="2"/>
              <a:buChar char="Ø"/>
            </a:pPr>
            <a:endParaRPr lang="en-US" sz="2400" dirty="0">
              <a:latin typeface="Microsoft YaHei UI" panose="020B0503020204020204" pitchFamily="34" charset="-122"/>
              <a:ea typeface="Microsoft YaHei UI" panose="020B0503020204020204" pitchFamily="34" charset="-122"/>
            </a:endParaRPr>
          </a:p>
          <a:p>
            <a:pPr marL="285750" indent="-285750">
              <a:buFont typeface="Wingdings" panose="05000000000000000000" pitchFamily="2" charset="2"/>
              <a:buChar char="Ø"/>
            </a:pPr>
            <a:endParaRPr lang="en-US" sz="2400" dirty="0">
              <a:latin typeface="Microsoft YaHei UI" panose="020B0503020204020204" pitchFamily="34" charset="-122"/>
              <a:ea typeface="Microsoft YaHei UI" panose="020B0503020204020204" pitchFamily="34" charset="-122"/>
            </a:endParaRPr>
          </a:p>
          <a:p>
            <a:pPr marL="285750" indent="-285750">
              <a:buFont typeface="Wingdings" panose="05000000000000000000" pitchFamily="2" charset="2"/>
              <a:buChar char="Ø"/>
            </a:pPr>
            <a:endParaRPr lang="en-US" sz="2400" dirty="0">
              <a:latin typeface="Microsoft YaHei UI" panose="020B0503020204020204" pitchFamily="34" charset="-122"/>
              <a:ea typeface="Microsoft YaHei UI" panose="020B0503020204020204" pitchFamily="34" charset="-122"/>
            </a:endParaRPr>
          </a:p>
          <a:p>
            <a:pPr marL="285750" indent="-285750">
              <a:buClr>
                <a:srgbClr val="0000FF"/>
              </a:buClr>
              <a:buFont typeface="Wingdings" panose="05000000000000000000" pitchFamily="2" charset="2"/>
              <a:buChar char="Ø"/>
            </a:pPr>
            <a:r>
              <a:rPr lang="en-US" sz="2400" dirty="0">
                <a:latin typeface="Microsoft YaHei UI" panose="020B0503020204020204" pitchFamily="34" charset="-122"/>
                <a:ea typeface="Microsoft YaHei UI" panose="020B0503020204020204" pitchFamily="34" charset="-122"/>
              </a:rPr>
              <a:t>Examples for function approximation/PINN</a:t>
            </a:r>
          </a:p>
        </p:txBody>
      </p:sp>
      <p:sp>
        <p:nvSpPr>
          <p:cNvPr id="9" name="文本框 8"/>
          <p:cNvSpPr txBox="1"/>
          <p:nvPr/>
        </p:nvSpPr>
        <p:spPr>
          <a:xfrm>
            <a:off x="517236" y="2761105"/>
            <a:ext cx="3519055" cy="1015663"/>
          </a:xfrm>
          <a:prstGeom prst="rect">
            <a:avLst/>
          </a:prstGeom>
          <a:noFill/>
        </p:spPr>
        <p:txBody>
          <a:bodyPr wrap="square" rtlCol="0">
            <a:spAutoFit/>
          </a:bodyPr>
          <a:lstStyle/>
          <a:p>
            <a:pPr marL="342900" indent="-342900">
              <a:buClr>
                <a:srgbClr val="0000FF"/>
              </a:buClr>
              <a:buFont typeface="+mj-lt"/>
              <a:buAutoNum type="arabicPeriod"/>
            </a:pPr>
            <a:r>
              <a:rPr lang="en-US" sz="2000" dirty="0">
                <a:latin typeface="Microsoft YaHei UI" panose="020B0503020204020204" pitchFamily="34" charset="-122"/>
                <a:ea typeface="Microsoft YaHei UI" panose="020B0503020204020204" pitchFamily="34" charset="-122"/>
              </a:rPr>
              <a:t>Data parallelism</a:t>
            </a:r>
          </a:p>
          <a:p>
            <a:pPr marL="342900" indent="-342900">
              <a:buClr>
                <a:srgbClr val="0000FF"/>
              </a:buClr>
              <a:buFont typeface="+mj-lt"/>
              <a:buAutoNum type="arabicPeriod"/>
            </a:pPr>
            <a:endParaRPr lang="en-US" sz="2000" dirty="0">
              <a:latin typeface="Microsoft YaHei UI" panose="020B0503020204020204" pitchFamily="34" charset="-122"/>
              <a:ea typeface="Microsoft YaHei UI" panose="020B0503020204020204" pitchFamily="34" charset="-122"/>
            </a:endParaRPr>
          </a:p>
          <a:p>
            <a:pPr marL="342900" indent="-342900">
              <a:buClr>
                <a:srgbClr val="0000FF"/>
              </a:buClr>
              <a:buFont typeface="+mj-lt"/>
              <a:buAutoNum type="arabicPeriod"/>
            </a:pPr>
            <a:r>
              <a:rPr lang="en-US" sz="2000" dirty="0">
                <a:latin typeface="Microsoft YaHei UI" panose="020B0503020204020204" pitchFamily="34" charset="-122"/>
                <a:ea typeface="Microsoft YaHei UI" panose="020B0503020204020204" pitchFamily="34" charset="-122"/>
              </a:rPr>
              <a:t>Ensemble training</a:t>
            </a:r>
          </a:p>
        </p:txBody>
      </p:sp>
      <p:sp>
        <p:nvSpPr>
          <p:cNvPr id="10" name="文本框 9"/>
          <p:cNvSpPr txBox="1"/>
          <p:nvPr/>
        </p:nvSpPr>
        <p:spPr>
          <a:xfrm>
            <a:off x="517236" y="4977096"/>
            <a:ext cx="3519055" cy="1015663"/>
          </a:xfrm>
          <a:prstGeom prst="rect">
            <a:avLst/>
          </a:prstGeom>
          <a:noFill/>
        </p:spPr>
        <p:txBody>
          <a:bodyPr wrap="square" rtlCol="0">
            <a:spAutoFit/>
          </a:bodyPr>
          <a:lstStyle/>
          <a:p>
            <a:pPr marL="342900" indent="-342900">
              <a:buClr>
                <a:srgbClr val="0000FF"/>
              </a:buClr>
              <a:buFont typeface="+mj-lt"/>
              <a:buAutoNum type="arabicPeriod"/>
            </a:pPr>
            <a:r>
              <a:rPr lang="en-US" sz="2000" dirty="0">
                <a:latin typeface="Microsoft YaHei UI" panose="020B0503020204020204" pitchFamily="34" charset="-122"/>
                <a:ea typeface="Microsoft YaHei UI" panose="020B0503020204020204" pitchFamily="34" charset="-122"/>
              </a:rPr>
              <a:t>Data parallelism</a:t>
            </a:r>
          </a:p>
          <a:p>
            <a:pPr marL="342900" indent="-342900">
              <a:buClr>
                <a:srgbClr val="0000FF"/>
              </a:buClr>
              <a:buFont typeface="+mj-lt"/>
              <a:buAutoNum type="arabicPeriod"/>
            </a:pPr>
            <a:endParaRPr lang="en-US" sz="2000" dirty="0">
              <a:latin typeface="Microsoft YaHei UI" panose="020B0503020204020204" pitchFamily="34" charset="-122"/>
              <a:ea typeface="Microsoft YaHei UI" panose="020B0503020204020204" pitchFamily="34" charset="-122"/>
            </a:endParaRPr>
          </a:p>
          <a:p>
            <a:pPr marL="342900" indent="-342900">
              <a:buClr>
                <a:srgbClr val="0000FF"/>
              </a:buClr>
              <a:buFont typeface="+mj-lt"/>
              <a:buAutoNum type="arabicPeriod"/>
            </a:pPr>
            <a:r>
              <a:rPr lang="en-US" sz="2000" dirty="0">
                <a:latin typeface="Microsoft YaHei UI" panose="020B0503020204020204" pitchFamily="34" charset="-122"/>
                <a:ea typeface="Microsoft YaHei UI" panose="020B0503020204020204" pitchFamily="34" charset="-122"/>
              </a:rPr>
              <a:t>Ensemble training</a:t>
            </a:r>
          </a:p>
        </p:txBody>
      </p:sp>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54111" y="5781964"/>
            <a:ext cx="1076036" cy="1076036"/>
          </a:xfrm>
          <a:prstGeom prst="rect">
            <a:avLst/>
          </a:prstGeom>
        </p:spPr>
      </p:pic>
    </p:spTree>
    <p:extLst>
      <p:ext uri="{BB962C8B-B14F-4D97-AF65-F5344CB8AC3E}">
        <p14:creationId xmlns:p14="http://schemas.microsoft.com/office/powerpoint/2010/main" val="2530879020"/>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FF"/>
              </a:buClr>
            </a:pPr>
            <a:r>
              <a:rPr lang="en-US" sz="2400" b="1" dirty="0">
                <a:solidFill>
                  <a:srgbClr val="C00000"/>
                </a:solidFill>
                <a:latin typeface="Microsoft YaHei UI" panose="020B0503020204020204" pitchFamily="34" charset="-122"/>
                <a:ea typeface="Microsoft YaHei UI" panose="020B0503020204020204" pitchFamily="34" charset="-122"/>
              </a:rPr>
              <a:t>What’s </a:t>
            </a:r>
            <a:r>
              <a:rPr lang="en-US" sz="2400" b="1" dirty="0" err="1">
                <a:solidFill>
                  <a:srgbClr val="C00000"/>
                </a:solidFill>
                <a:latin typeface="Microsoft YaHei UI" panose="020B0503020204020204" pitchFamily="34" charset="-122"/>
                <a:ea typeface="Microsoft YaHei UI" panose="020B0503020204020204" pitchFamily="34" charset="-122"/>
              </a:rPr>
              <a:t>Horovod</a:t>
            </a:r>
            <a:r>
              <a:rPr lang="en-US" sz="2400" b="1" dirty="0">
                <a:solidFill>
                  <a:srgbClr val="C00000"/>
                </a:solidFill>
                <a:latin typeface="Microsoft YaHei UI" panose="020B0503020204020204" pitchFamily="34" charset="-122"/>
                <a:ea typeface="Microsoft YaHei UI" panose="020B0503020204020204" pitchFamily="34" charset="-122"/>
              </a:rPr>
              <a:t>?</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876300"/>
            <a:ext cx="7620000" cy="5105400"/>
          </a:xfrm>
          <a:prstGeom prst="rect">
            <a:avLst/>
          </a:prstGeom>
        </p:spPr>
      </p:pic>
    </p:spTree>
    <p:extLst>
      <p:ext uri="{BB962C8B-B14F-4D97-AF65-F5344CB8AC3E}">
        <p14:creationId xmlns:p14="http://schemas.microsoft.com/office/powerpoint/2010/main" val="3749181439"/>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FF"/>
              </a:buClr>
            </a:pPr>
            <a:r>
              <a:rPr lang="en-US" sz="2400" b="1" dirty="0">
                <a:solidFill>
                  <a:srgbClr val="C00000"/>
                </a:solidFill>
                <a:latin typeface="Microsoft YaHei UI" panose="020B0503020204020204" pitchFamily="34" charset="-122"/>
                <a:ea typeface="Microsoft YaHei UI" panose="020B0503020204020204" pitchFamily="34" charset="-122"/>
              </a:rPr>
              <a:t>What’s </a:t>
            </a:r>
            <a:r>
              <a:rPr lang="en-US" sz="2400" b="1" dirty="0" err="1">
                <a:solidFill>
                  <a:srgbClr val="C00000"/>
                </a:solidFill>
                <a:latin typeface="Microsoft YaHei UI" panose="020B0503020204020204" pitchFamily="34" charset="-122"/>
                <a:ea typeface="Microsoft YaHei UI" panose="020B0503020204020204" pitchFamily="34" charset="-122"/>
              </a:rPr>
              <a:t>Horovod</a:t>
            </a:r>
            <a:r>
              <a:rPr lang="en-US" sz="2400" b="1" dirty="0">
                <a:solidFill>
                  <a:srgbClr val="C00000"/>
                </a:solidFill>
                <a:latin typeface="Microsoft YaHei UI" panose="020B0503020204020204" pitchFamily="34" charset="-122"/>
                <a:ea typeface="Microsoft YaHei UI" panose="020B0503020204020204" pitchFamily="34" charset="-122"/>
              </a:rPr>
              <a:t>?</a:t>
            </a:r>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03272" y="3853385"/>
            <a:ext cx="2941783" cy="2941783"/>
          </a:xfrm>
          <a:prstGeom prst="rect">
            <a:avLst/>
          </a:prstGeom>
        </p:spPr>
      </p:pic>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14400" y="3954913"/>
            <a:ext cx="3742921" cy="2840255"/>
          </a:xfrm>
          <a:prstGeom prst="rect">
            <a:avLst/>
          </a:prstGeom>
        </p:spPr>
      </p:pic>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54563" y="936843"/>
            <a:ext cx="4234873" cy="2837365"/>
          </a:xfrm>
          <a:prstGeom prst="rect">
            <a:avLst/>
          </a:prstGeom>
        </p:spPr>
      </p:pic>
    </p:spTree>
    <p:extLst>
      <p:ext uri="{BB962C8B-B14F-4D97-AF65-F5344CB8AC3E}">
        <p14:creationId xmlns:p14="http://schemas.microsoft.com/office/powerpoint/2010/main" val="1549206287"/>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FF"/>
              </a:buClr>
            </a:pPr>
            <a:r>
              <a:rPr lang="en-US" sz="2400" b="1" dirty="0">
                <a:solidFill>
                  <a:srgbClr val="C00000"/>
                </a:solidFill>
                <a:latin typeface="Microsoft YaHei UI" panose="020B0503020204020204" pitchFamily="34" charset="-122"/>
                <a:ea typeface="Microsoft YaHei UI" panose="020B0503020204020204" pitchFamily="34" charset="-122"/>
              </a:rPr>
              <a:t>What’s </a:t>
            </a:r>
            <a:r>
              <a:rPr lang="en-US" sz="2400" b="1" dirty="0" err="1">
                <a:solidFill>
                  <a:srgbClr val="C00000"/>
                </a:solidFill>
                <a:latin typeface="Microsoft YaHei UI" panose="020B0503020204020204" pitchFamily="34" charset="-122"/>
                <a:ea typeface="Microsoft YaHei UI" panose="020B0503020204020204" pitchFamily="34" charset="-122"/>
              </a:rPr>
              <a:t>Horovod</a:t>
            </a:r>
            <a:r>
              <a:rPr lang="en-US" sz="2400" b="1" dirty="0">
                <a:solidFill>
                  <a:srgbClr val="C00000"/>
                </a:solidFill>
                <a:latin typeface="Microsoft YaHei UI" panose="020B0503020204020204" pitchFamily="34" charset="-122"/>
                <a:ea typeface="Microsoft YaHei UI" panose="020B0503020204020204" pitchFamily="34" charset="-122"/>
              </a:rPr>
              <a:t>?</a:t>
            </a: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54111" y="5781964"/>
            <a:ext cx="1076036" cy="1076036"/>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412" y="1025913"/>
            <a:ext cx="8639175" cy="4486275"/>
          </a:xfrm>
          <a:prstGeom prst="rect">
            <a:avLst/>
          </a:prstGeom>
        </p:spPr>
      </p:pic>
    </p:spTree>
    <p:extLst>
      <p:ext uri="{BB962C8B-B14F-4D97-AF65-F5344CB8AC3E}">
        <p14:creationId xmlns:p14="http://schemas.microsoft.com/office/powerpoint/2010/main" val="1110235038"/>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FF"/>
              </a:buClr>
            </a:pPr>
            <a:r>
              <a:rPr lang="en-US" sz="2400" b="1" dirty="0">
                <a:solidFill>
                  <a:srgbClr val="C00000"/>
                </a:solidFill>
                <a:latin typeface="Microsoft YaHei UI" panose="020B0503020204020204" pitchFamily="34" charset="-122"/>
                <a:ea typeface="Microsoft YaHei UI" panose="020B0503020204020204" pitchFamily="34" charset="-122"/>
              </a:rPr>
              <a:t>Data parallelism &amp; Ensemble training</a:t>
            </a:r>
          </a:p>
        </p:txBody>
      </p:sp>
      <p:sp>
        <p:nvSpPr>
          <p:cNvPr id="3" name="圆角矩形 2"/>
          <p:cNvSpPr/>
          <p:nvPr/>
        </p:nvSpPr>
        <p:spPr>
          <a:xfrm>
            <a:off x="951348" y="1782618"/>
            <a:ext cx="7102763" cy="8035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文本框 3"/>
          <p:cNvSpPr txBox="1"/>
          <p:nvPr/>
        </p:nvSpPr>
        <p:spPr>
          <a:xfrm>
            <a:off x="923638" y="1193118"/>
            <a:ext cx="7130473" cy="523220"/>
          </a:xfrm>
          <a:prstGeom prst="rect">
            <a:avLst/>
          </a:prstGeom>
          <a:noFill/>
        </p:spPr>
        <p:txBody>
          <a:bodyPr wrap="square" rtlCol="0">
            <a:spAutoFit/>
          </a:bodyPr>
          <a:lstStyle/>
          <a:p>
            <a:pPr algn="ctr"/>
            <a:r>
              <a:rPr lang="en-US" sz="2800" dirty="0">
                <a:latin typeface="Microsoft YaHei UI" panose="020B0503020204020204" pitchFamily="34" charset="-122"/>
                <a:ea typeface="Microsoft YaHei UI" panose="020B0503020204020204" pitchFamily="34" charset="-122"/>
              </a:rPr>
              <a:t>Dataset </a:t>
            </a:r>
          </a:p>
        </p:txBody>
      </p:sp>
      <p:sp>
        <p:nvSpPr>
          <p:cNvPr id="13" name="文本框 12"/>
          <p:cNvSpPr txBox="1"/>
          <p:nvPr/>
        </p:nvSpPr>
        <p:spPr>
          <a:xfrm>
            <a:off x="951348" y="1999734"/>
            <a:ext cx="960580"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1</a:t>
            </a:r>
          </a:p>
        </p:txBody>
      </p:sp>
      <p:sp>
        <p:nvSpPr>
          <p:cNvPr id="14" name="文本框 13"/>
          <p:cNvSpPr txBox="1"/>
          <p:nvPr/>
        </p:nvSpPr>
        <p:spPr>
          <a:xfrm>
            <a:off x="2017005" y="1995177"/>
            <a:ext cx="960580"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2</a:t>
            </a:r>
          </a:p>
        </p:txBody>
      </p:sp>
      <p:sp>
        <p:nvSpPr>
          <p:cNvPr id="15" name="文本框 14"/>
          <p:cNvSpPr txBox="1"/>
          <p:nvPr/>
        </p:nvSpPr>
        <p:spPr>
          <a:xfrm>
            <a:off x="5559134" y="1999734"/>
            <a:ext cx="1438584"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(n-1)</a:t>
            </a:r>
          </a:p>
        </p:txBody>
      </p:sp>
      <p:sp>
        <p:nvSpPr>
          <p:cNvPr id="16" name="文本框 15"/>
          <p:cNvSpPr txBox="1"/>
          <p:nvPr/>
        </p:nvSpPr>
        <p:spPr>
          <a:xfrm>
            <a:off x="7054293" y="2000979"/>
            <a:ext cx="960580"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n</a:t>
            </a:r>
          </a:p>
        </p:txBody>
      </p:sp>
      <p:sp>
        <p:nvSpPr>
          <p:cNvPr id="17" name="文本框 16"/>
          <p:cNvSpPr txBox="1"/>
          <p:nvPr/>
        </p:nvSpPr>
        <p:spPr>
          <a:xfrm>
            <a:off x="3997033" y="1931965"/>
            <a:ext cx="960580"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a:t>
            </a:r>
          </a:p>
        </p:txBody>
      </p:sp>
      <p:sp>
        <p:nvSpPr>
          <p:cNvPr id="21" name="矩形 20"/>
          <p:cNvSpPr/>
          <p:nvPr/>
        </p:nvSpPr>
        <p:spPr>
          <a:xfrm>
            <a:off x="162023" y="852999"/>
            <a:ext cx="2782749" cy="461665"/>
          </a:xfrm>
          <a:prstGeom prst="rect">
            <a:avLst/>
          </a:prstGeom>
        </p:spPr>
        <p:txBody>
          <a:bodyPr wrap="none">
            <a:spAutoFit/>
          </a:bodyPr>
          <a:lstStyle/>
          <a:p>
            <a:r>
              <a:rPr lang="en-US" sz="2400" b="1" dirty="0">
                <a:latin typeface="Microsoft YaHei UI" panose="020B0503020204020204" pitchFamily="34" charset="-122"/>
                <a:ea typeface="Microsoft YaHei UI" panose="020B0503020204020204" pitchFamily="34" charset="-122"/>
              </a:rPr>
              <a:t>Data parallelism </a:t>
            </a:r>
            <a:endParaRPr lang="en-US" sz="2400" dirty="0"/>
          </a:p>
        </p:txBody>
      </p:sp>
      <p:sp>
        <p:nvSpPr>
          <p:cNvPr id="22" name="矩形 21"/>
          <p:cNvSpPr/>
          <p:nvPr/>
        </p:nvSpPr>
        <p:spPr>
          <a:xfrm>
            <a:off x="162023" y="3982099"/>
            <a:ext cx="2983509" cy="461665"/>
          </a:xfrm>
          <a:prstGeom prst="rect">
            <a:avLst/>
          </a:prstGeom>
        </p:spPr>
        <p:txBody>
          <a:bodyPr wrap="none">
            <a:spAutoFit/>
          </a:bodyPr>
          <a:lstStyle/>
          <a:p>
            <a:r>
              <a:rPr lang="en-US" sz="2400" b="1" dirty="0">
                <a:latin typeface="Microsoft YaHei UI" panose="020B0503020204020204" pitchFamily="34" charset="-122"/>
                <a:ea typeface="Microsoft YaHei UI" panose="020B0503020204020204" pitchFamily="34" charset="-122"/>
              </a:rPr>
              <a:t>Ensemble training</a:t>
            </a:r>
            <a:endParaRPr lang="en-US" sz="2400" dirty="0"/>
          </a:p>
        </p:txBody>
      </p:sp>
      <p:sp>
        <p:nvSpPr>
          <p:cNvPr id="23" name="圆角矩形 22"/>
          <p:cNvSpPr/>
          <p:nvPr/>
        </p:nvSpPr>
        <p:spPr>
          <a:xfrm>
            <a:off x="1031017" y="4773850"/>
            <a:ext cx="7102763" cy="803564"/>
          </a:xfrm>
          <a:prstGeom prst="roundRect">
            <a:avLst/>
          </a:prstGeom>
          <a:solidFill>
            <a:schemeClr val="accent2">
              <a:lumMod val="60000"/>
              <a:lumOff val="4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文本框 23"/>
          <p:cNvSpPr txBox="1"/>
          <p:nvPr/>
        </p:nvSpPr>
        <p:spPr>
          <a:xfrm>
            <a:off x="1003307" y="4184265"/>
            <a:ext cx="7130473" cy="523220"/>
          </a:xfrm>
          <a:prstGeom prst="rect">
            <a:avLst/>
          </a:prstGeom>
          <a:noFill/>
        </p:spPr>
        <p:txBody>
          <a:bodyPr wrap="square" rtlCol="0">
            <a:spAutoFit/>
          </a:bodyPr>
          <a:lstStyle/>
          <a:p>
            <a:pPr algn="ctr"/>
            <a:r>
              <a:rPr lang="en-US" sz="2800" dirty="0">
                <a:latin typeface="Microsoft YaHei UI" panose="020B0503020204020204" pitchFamily="34" charset="-122"/>
                <a:ea typeface="Microsoft YaHei UI" panose="020B0503020204020204" pitchFamily="34" charset="-122"/>
              </a:rPr>
              <a:t>DNNs</a:t>
            </a:r>
          </a:p>
        </p:txBody>
      </p:sp>
      <p:sp>
        <p:nvSpPr>
          <p:cNvPr id="33" name="文本框 32"/>
          <p:cNvSpPr txBox="1"/>
          <p:nvPr/>
        </p:nvSpPr>
        <p:spPr>
          <a:xfrm>
            <a:off x="4091710" y="4990966"/>
            <a:ext cx="960580"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a:t>
            </a:r>
          </a:p>
        </p:txBody>
      </p:sp>
      <p:sp>
        <p:nvSpPr>
          <p:cNvPr id="35" name="圆角矩形 34"/>
          <p:cNvSpPr/>
          <p:nvPr/>
        </p:nvSpPr>
        <p:spPr>
          <a:xfrm>
            <a:off x="951348" y="2958965"/>
            <a:ext cx="7102763" cy="8035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文本框 35"/>
          <p:cNvSpPr txBox="1"/>
          <p:nvPr/>
        </p:nvSpPr>
        <p:spPr>
          <a:xfrm>
            <a:off x="951348" y="3176081"/>
            <a:ext cx="960580"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DNN</a:t>
            </a:r>
          </a:p>
        </p:txBody>
      </p:sp>
      <p:sp>
        <p:nvSpPr>
          <p:cNvPr id="37" name="文本框 36"/>
          <p:cNvSpPr txBox="1"/>
          <p:nvPr/>
        </p:nvSpPr>
        <p:spPr>
          <a:xfrm>
            <a:off x="2017005" y="3171524"/>
            <a:ext cx="960580"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DNN</a:t>
            </a:r>
          </a:p>
        </p:txBody>
      </p:sp>
      <p:sp>
        <p:nvSpPr>
          <p:cNvPr id="38" name="文本框 37"/>
          <p:cNvSpPr txBox="1"/>
          <p:nvPr/>
        </p:nvSpPr>
        <p:spPr>
          <a:xfrm>
            <a:off x="5559134" y="3176081"/>
            <a:ext cx="1438584"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DNN</a:t>
            </a:r>
          </a:p>
        </p:txBody>
      </p:sp>
      <p:sp>
        <p:nvSpPr>
          <p:cNvPr id="39" name="文本框 38"/>
          <p:cNvSpPr txBox="1"/>
          <p:nvPr/>
        </p:nvSpPr>
        <p:spPr>
          <a:xfrm>
            <a:off x="7054293" y="3177326"/>
            <a:ext cx="960580"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DNN</a:t>
            </a:r>
          </a:p>
        </p:txBody>
      </p:sp>
      <p:sp>
        <p:nvSpPr>
          <p:cNvPr id="40" name="文本框 39"/>
          <p:cNvSpPr txBox="1"/>
          <p:nvPr/>
        </p:nvSpPr>
        <p:spPr>
          <a:xfrm>
            <a:off x="4022439" y="3111397"/>
            <a:ext cx="960580"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a:t>
            </a:r>
          </a:p>
        </p:txBody>
      </p:sp>
      <p:cxnSp>
        <p:nvCxnSpPr>
          <p:cNvPr id="9" name="直接连接符 8"/>
          <p:cNvCxnSpPr/>
          <p:nvPr/>
        </p:nvCxnSpPr>
        <p:spPr>
          <a:xfrm>
            <a:off x="2004291" y="1579418"/>
            <a:ext cx="0" cy="2359152"/>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941141" y="1588654"/>
            <a:ext cx="0" cy="2355273"/>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3024922" y="1579418"/>
            <a:ext cx="0" cy="2359152"/>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5634187" y="1579418"/>
            <a:ext cx="0" cy="2359152"/>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52" name="圆角矩形 51"/>
          <p:cNvSpPr/>
          <p:nvPr/>
        </p:nvSpPr>
        <p:spPr>
          <a:xfrm>
            <a:off x="1017163" y="5793041"/>
            <a:ext cx="7102763" cy="803564"/>
          </a:xfrm>
          <a:prstGeom prst="roundRect">
            <a:avLst/>
          </a:prstGeom>
          <a:solidFill>
            <a:schemeClr val="accent2">
              <a:lumMod val="60000"/>
              <a:lumOff val="4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文本框 56"/>
          <p:cNvSpPr txBox="1"/>
          <p:nvPr/>
        </p:nvSpPr>
        <p:spPr>
          <a:xfrm>
            <a:off x="1119295" y="5010787"/>
            <a:ext cx="960580"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DNN 1</a:t>
            </a:r>
          </a:p>
        </p:txBody>
      </p:sp>
      <p:sp>
        <p:nvSpPr>
          <p:cNvPr id="58" name="文本框 57"/>
          <p:cNvSpPr txBox="1"/>
          <p:nvPr/>
        </p:nvSpPr>
        <p:spPr>
          <a:xfrm>
            <a:off x="2158384" y="5006230"/>
            <a:ext cx="960580"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DNN 2</a:t>
            </a:r>
          </a:p>
        </p:txBody>
      </p:sp>
      <p:sp>
        <p:nvSpPr>
          <p:cNvPr id="59" name="文本框 58"/>
          <p:cNvSpPr txBox="1"/>
          <p:nvPr/>
        </p:nvSpPr>
        <p:spPr>
          <a:xfrm>
            <a:off x="5676015" y="5006351"/>
            <a:ext cx="1438584"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DNN (n-1)</a:t>
            </a:r>
          </a:p>
        </p:txBody>
      </p:sp>
      <p:sp>
        <p:nvSpPr>
          <p:cNvPr id="60" name="文本框 59"/>
          <p:cNvSpPr txBox="1"/>
          <p:nvPr/>
        </p:nvSpPr>
        <p:spPr>
          <a:xfrm>
            <a:off x="7114599" y="5011257"/>
            <a:ext cx="960580"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DNN n</a:t>
            </a:r>
          </a:p>
        </p:txBody>
      </p:sp>
      <p:sp>
        <p:nvSpPr>
          <p:cNvPr id="61" name="文本框 60"/>
          <p:cNvSpPr txBox="1"/>
          <p:nvPr/>
        </p:nvSpPr>
        <p:spPr>
          <a:xfrm>
            <a:off x="4091710" y="5926094"/>
            <a:ext cx="960580"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a:t>
            </a:r>
          </a:p>
        </p:txBody>
      </p:sp>
      <p:cxnSp>
        <p:nvCxnSpPr>
          <p:cNvPr id="25" name="直接连接符 24"/>
          <p:cNvCxnSpPr/>
          <p:nvPr/>
        </p:nvCxnSpPr>
        <p:spPr>
          <a:xfrm>
            <a:off x="2070106" y="4488878"/>
            <a:ext cx="0" cy="2359152"/>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7006956" y="4488878"/>
            <a:ext cx="0" cy="2359152"/>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3090737" y="4488877"/>
            <a:ext cx="0" cy="2359152"/>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5690762" y="4488878"/>
            <a:ext cx="0" cy="2359152"/>
          </a:xfrm>
          <a:prstGeom prst="line">
            <a:avLst/>
          </a:prstGeom>
          <a:ln w="15875">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1072000" y="6007539"/>
            <a:ext cx="960580"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1</a:t>
            </a:r>
          </a:p>
        </p:txBody>
      </p:sp>
      <p:sp>
        <p:nvSpPr>
          <p:cNvPr id="30" name="文本框 29"/>
          <p:cNvSpPr txBox="1"/>
          <p:nvPr/>
        </p:nvSpPr>
        <p:spPr>
          <a:xfrm>
            <a:off x="2073581" y="6003565"/>
            <a:ext cx="960580"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2</a:t>
            </a:r>
          </a:p>
        </p:txBody>
      </p:sp>
      <p:sp>
        <p:nvSpPr>
          <p:cNvPr id="31" name="文本框 30"/>
          <p:cNvSpPr txBox="1"/>
          <p:nvPr/>
        </p:nvSpPr>
        <p:spPr>
          <a:xfrm>
            <a:off x="5615709" y="6000297"/>
            <a:ext cx="1438584"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(n-1)</a:t>
            </a:r>
          </a:p>
        </p:txBody>
      </p:sp>
      <p:sp>
        <p:nvSpPr>
          <p:cNvPr id="32" name="文本框 31"/>
          <p:cNvSpPr txBox="1"/>
          <p:nvPr/>
        </p:nvSpPr>
        <p:spPr>
          <a:xfrm>
            <a:off x="7093531" y="6000297"/>
            <a:ext cx="960580"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n</a:t>
            </a:r>
          </a:p>
        </p:txBody>
      </p:sp>
    </p:spTree>
    <p:extLst>
      <p:ext uri="{BB962C8B-B14F-4D97-AF65-F5344CB8AC3E}">
        <p14:creationId xmlns:p14="http://schemas.microsoft.com/office/powerpoint/2010/main" val="2712201776"/>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rgbClr val="C00000"/>
                </a:solidFill>
                <a:latin typeface="Microsoft YaHei UI" panose="020B0503020204020204" pitchFamily="34" charset="-122"/>
                <a:ea typeface="Microsoft YaHei UI" panose="020B0503020204020204" pitchFamily="34" charset="-122"/>
                <a:cs typeface="Times New Roman" panose="02020603050405020304" pitchFamily="18" charset="0"/>
              </a:rPr>
              <a:t>Outline</a:t>
            </a:r>
          </a:p>
        </p:txBody>
      </p:sp>
      <p:sp>
        <p:nvSpPr>
          <p:cNvPr id="3" name="文本框 2"/>
          <p:cNvSpPr txBox="1"/>
          <p:nvPr/>
        </p:nvSpPr>
        <p:spPr>
          <a:xfrm>
            <a:off x="193963" y="1052945"/>
            <a:ext cx="8562109" cy="3785652"/>
          </a:xfrm>
          <a:prstGeom prst="rect">
            <a:avLst/>
          </a:prstGeom>
          <a:noFill/>
        </p:spPr>
        <p:txBody>
          <a:bodyPr wrap="square" rtlCol="0">
            <a:spAutoFit/>
          </a:bodyPr>
          <a:lstStyle/>
          <a:p>
            <a:pPr marL="285750" indent="-285750">
              <a:buClr>
                <a:srgbClr val="0000FF"/>
              </a:buClr>
              <a:buFont typeface="Wingdings" panose="05000000000000000000" pitchFamily="2" charset="2"/>
              <a:buChar char="Ø"/>
            </a:pPr>
            <a:r>
              <a:rPr lang="en-US" sz="2400" dirty="0">
                <a:latin typeface="Microsoft YaHei UI" panose="020B0503020204020204" pitchFamily="34" charset="-122"/>
                <a:ea typeface="Microsoft YaHei UI" panose="020B0503020204020204" pitchFamily="34" charset="-122"/>
              </a:rPr>
              <a:t>What’s </a:t>
            </a:r>
            <a:r>
              <a:rPr lang="en-US" sz="2400" dirty="0" err="1">
                <a:latin typeface="Microsoft YaHei UI" panose="020B0503020204020204" pitchFamily="34" charset="-122"/>
                <a:ea typeface="Microsoft YaHei UI" panose="020B0503020204020204" pitchFamily="34" charset="-122"/>
              </a:rPr>
              <a:t>Horovod</a:t>
            </a:r>
            <a:r>
              <a:rPr lang="en-US" sz="2400" dirty="0">
                <a:latin typeface="Microsoft YaHei UI" panose="020B0503020204020204" pitchFamily="34" charset="-122"/>
                <a:ea typeface="Microsoft YaHei UI" panose="020B0503020204020204" pitchFamily="34" charset="-122"/>
              </a:rPr>
              <a:t>?</a:t>
            </a:r>
            <a:br>
              <a:rPr lang="en-US" sz="2400" dirty="0">
                <a:latin typeface="Microsoft YaHei UI" panose="020B0503020204020204" pitchFamily="34" charset="-122"/>
                <a:ea typeface="Microsoft YaHei UI" panose="020B0503020204020204" pitchFamily="34" charset="-122"/>
              </a:rPr>
            </a:br>
            <a:endParaRPr lang="en-US" sz="2400" dirty="0">
              <a:latin typeface="Microsoft YaHei UI" panose="020B0503020204020204" pitchFamily="34" charset="-122"/>
              <a:ea typeface="Microsoft YaHei UI" panose="020B0503020204020204" pitchFamily="34" charset="-122"/>
            </a:endParaRPr>
          </a:p>
          <a:p>
            <a:pPr marL="285750" indent="-285750">
              <a:buFont typeface="Wingdings" panose="05000000000000000000" pitchFamily="2" charset="2"/>
              <a:buChar char="Ø"/>
            </a:pPr>
            <a:endParaRPr lang="en-US" sz="2400" dirty="0">
              <a:latin typeface="Microsoft YaHei UI" panose="020B0503020204020204" pitchFamily="34" charset="-122"/>
              <a:ea typeface="Microsoft YaHei UI" panose="020B0503020204020204" pitchFamily="34" charset="-122"/>
            </a:endParaRPr>
          </a:p>
          <a:p>
            <a:pPr marL="285750" indent="-285750">
              <a:buClr>
                <a:srgbClr val="0000FF"/>
              </a:buClr>
              <a:buFont typeface="Wingdings" panose="05000000000000000000" pitchFamily="2" charset="2"/>
              <a:buChar char="Ø"/>
            </a:pPr>
            <a:r>
              <a:rPr lang="en-US" sz="2400" dirty="0">
                <a:solidFill>
                  <a:srgbClr val="FF0000"/>
                </a:solidFill>
                <a:latin typeface="Microsoft YaHei UI" panose="020B0503020204020204" pitchFamily="34" charset="-122"/>
                <a:ea typeface="Microsoft YaHei UI" panose="020B0503020204020204" pitchFamily="34" charset="-122"/>
              </a:rPr>
              <a:t>How to use?</a:t>
            </a:r>
            <a:br>
              <a:rPr lang="en-US" sz="2400" dirty="0">
                <a:latin typeface="Microsoft YaHei UI" panose="020B0503020204020204" pitchFamily="34" charset="-122"/>
                <a:ea typeface="Microsoft YaHei UI" panose="020B0503020204020204" pitchFamily="34" charset="-122"/>
              </a:rPr>
            </a:br>
            <a:endParaRPr lang="en-US" sz="2400" dirty="0">
              <a:latin typeface="Microsoft YaHei UI" panose="020B0503020204020204" pitchFamily="34" charset="-122"/>
              <a:ea typeface="Microsoft YaHei UI" panose="020B0503020204020204" pitchFamily="34" charset="-122"/>
            </a:endParaRPr>
          </a:p>
          <a:p>
            <a:pPr marL="285750" indent="-285750">
              <a:buClr>
                <a:srgbClr val="0000FF"/>
              </a:buClr>
              <a:buFont typeface="Wingdings" panose="05000000000000000000" pitchFamily="2" charset="2"/>
              <a:buChar char="Ø"/>
            </a:pPr>
            <a:endParaRPr lang="en-US" sz="2400" dirty="0">
              <a:latin typeface="Microsoft YaHei UI" panose="020B0503020204020204" pitchFamily="34" charset="-122"/>
              <a:ea typeface="Microsoft YaHei UI" panose="020B0503020204020204" pitchFamily="34" charset="-122"/>
            </a:endParaRPr>
          </a:p>
          <a:p>
            <a:pPr marL="285750" indent="-285750">
              <a:buClr>
                <a:srgbClr val="0000FF"/>
              </a:buClr>
              <a:buFont typeface="Wingdings" panose="05000000000000000000" pitchFamily="2" charset="2"/>
              <a:buChar char="Ø"/>
            </a:pPr>
            <a:endParaRPr lang="en-US" sz="2400" dirty="0">
              <a:latin typeface="Microsoft YaHei UI" panose="020B0503020204020204" pitchFamily="34" charset="-122"/>
              <a:ea typeface="Microsoft YaHei UI" panose="020B0503020204020204" pitchFamily="34" charset="-122"/>
            </a:endParaRPr>
          </a:p>
          <a:p>
            <a:pPr marL="285750" indent="-285750">
              <a:buFont typeface="Wingdings" panose="05000000000000000000" pitchFamily="2" charset="2"/>
              <a:buChar char="Ø"/>
            </a:pPr>
            <a:endParaRPr lang="en-US" sz="2400" dirty="0">
              <a:latin typeface="Microsoft YaHei UI" panose="020B0503020204020204" pitchFamily="34" charset="-122"/>
              <a:ea typeface="Microsoft YaHei UI" panose="020B0503020204020204" pitchFamily="34" charset="-122"/>
            </a:endParaRPr>
          </a:p>
          <a:p>
            <a:pPr marL="285750" indent="-285750">
              <a:buFont typeface="Wingdings" panose="05000000000000000000" pitchFamily="2" charset="2"/>
              <a:buChar char="Ø"/>
            </a:pPr>
            <a:endParaRPr lang="en-US" sz="2400" dirty="0">
              <a:latin typeface="Microsoft YaHei UI" panose="020B0503020204020204" pitchFamily="34" charset="-122"/>
              <a:ea typeface="Microsoft YaHei UI" panose="020B0503020204020204" pitchFamily="34" charset="-122"/>
            </a:endParaRPr>
          </a:p>
          <a:p>
            <a:pPr marL="285750" indent="-285750">
              <a:buClr>
                <a:srgbClr val="0000FF"/>
              </a:buClr>
              <a:buFont typeface="Wingdings" panose="05000000000000000000" pitchFamily="2" charset="2"/>
              <a:buChar char="Ø"/>
            </a:pPr>
            <a:r>
              <a:rPr lang="en-US" sz="2400" dirty="0">
                <a:latin typeface="Microsoft YaHei UI" panose="020B0503020204020204" pitchFamily="34" charset="-122"/>
                <a:ea typeface="Microsoft YaHei UI" panose="020B0503020204020204" pitchFamily="34" charset="-122"/>
              </a:rPr>
              <a:t>Examples for function approximation/PINN</a:t>
            </a:r>
          </a:p>
        </p:txBody>
      </p:sp>
      <p:sp>
        <p:nvSpPr>
          <p:cNvPr id="9" name="文本框 8"/>
          <p:cNvSpPr txBox="1"/>
          <p:nvPr/>
        </p:nvSpPr>
        <p:spPr>
          <a:xfrm>
            <a:off x="517236" y="2761105"/>
            <a:ext cx="3519055" cy="1015663"/>
          </a:xfrm>
          <a:prstGeom prst="rect">
            <a:avLst/>
          </a:prstGeom>
          <a:noFill/>
        </p:spPr>
        <p:txBody>
          <a:bodyPr wrap="square" rtlCol="0">
            <a:spAutoFit/>
          </a:bodyPr>
          <a:lstStyle/>
          <a:p>
            <a:pPr marL="342900" indent="-342900">
              <a:buClr>
                <a:srgbClr val="0000FF"/>
              </a:buClr>
              <a:buFont typeface="+mj-lt"/>
              <a:buAutoNum type="arabicPeriod"/>
            </a:pPr>
            <a:r>
              <a:rPr lang="en-US" sz="2000" dirty="0">
                <a:latin typeface="Microsoft YaHei UI" panose="020B0503020204020204" pitchFamily="34" charset="-122"/>
                <a:ea typeface="Microsoft YaHei UI" panose="020B0503020204020204" pitchFamily="34" charset="-122"/>
              </a:rPr>
              <a:t>Data parallelism</a:t>
            </a:r>
          </a:p>
          <a:p>
            <a:pPr marL="342900" indent="-342900">
              <a:buClr>
                <a:srgbClr val="0000FF"/>
              </a:buClr>
              <a:buFont typeface="+mj-lt"/>
              <a:buAutoNum type="arabicPeriod"/>
            </a:pPr>
            <a:endParaRPr lang="en-US" sz="2000" dirty="0">
              <a:latin typeface="Microsoft YaHei UI" panose="020B0503020204020204" pitchFamily="34" charset="-122"/>
              <a:ea typeface="Microsoft YaHei UI" panose="020B0503020204020204" pitchFamily="34" charset="-122"/>
            </a:endParaRPr>
          </a:p>
          <a:p>
            <a:pPr marL="342900" indent="-342900">
              <a:buClr>
                <a:srgbClr val="0000FF"/>
              </a:buClr>
              <a:buFont typeface="+mj-lt"/>
              <a:buAutoNum type="arabicPeriod"/>
            </a:pPr>
            <a:r>
              <a:rPr lang="en-US" sz="2000" dirty="0">
                <a:latin typeface="Microsoft YaHei UI" panose="020B0503020204020204" pitchFamily="34" charset="-122"/>
                <a:ea typeface="Microsoft YaHei UI" panose="020B0503020204020204" pitchFamily="34" charset="-122"/>
              </a:rPr>
              <a:t>Ensemble training</a:t>
            </a:r>
          </a:p>
        </p:txBody>
      </p:sp>
      <p:sp>
        <p:nvSpPr>
          <p:cNvPr id="10" name="文本框 9"/>
          <p:cNvSpPr txBox="1"/>
          <p:nvPr/>
        </p:nvSpPr>
        <p:spPr>
          <a:xfrm>
            <a:off x="517236" y="4977096"/>
            <a:ext cx="3519055" cy="1015663"/>
          </a:xfrm>
          <a:prstGeom prst="rect">
            <a:avLst/>
          </a:prstGeom>
          <a:noFill/>
        </p:spPr>
        <p:txBody>
          <a:bodyPr wrap="square" rtlCol="0">
            <a:spAutoFit/>
          </a:bodyPr>
          <a:lstStyle/>
          <a:p>
            <a:pPr marL="342900" indent="-342900">
              <a:buClr>
                <a:srgbClr val="0000FF"/>
              </a:buClr>
              <a:buFont typeface="+mj-lt"/>
              <a:buAutoNum type="arabicPeriod"/>
            </a:pPr>
            <a:r>
              <a:rPr lang="en-US" sz="2000" dirty="0">
                <a:latin typeface="Microsoft YaHei UI" panose="020B0503020204020204" pitchFamily="34" charset="-122"/>
                <a:ea typeface="Microsoft YaHei UI" panose="020B0503020204020204" pitchFamily="34" charset="-122"/>
              </a:rPr>
              <a:t>Data parallelism</a:t>
            </a:r>
          </a:p>
          <a:p>
            <a:pPr marL="342900" indent="-342900">
              <a:buClr>
                <a:srgbClr val="0000FF"/>
              </a:buClr>
              <a:buFont typeface="+mj-lt"/>
              <a:buAutoNum type="arabicPeriod"/>
            </a:pPr>
            <a:endParaRPr lang="en-US" sz="2000" dirty="0">
              <a:latin typeface="Microsoft YaHei UI" panose="020B0503020204020204" pitchFamily="34" charset="-122"/>
              <a:ea typeface="Microsoft YaHei UI" panose="020B0503020204020204" pitchFamily="34" charset="-122"/>
            </a:endParaRPr>
          </a:p>
          <a:p>
            <a:pPr marL="342900" indent="-342900">
              <a:buClr>
                <a:srgbClr val="0000FF"/>
              </a:buClr>
              <a:buFont typeface="+mj-lt"/>
              <a:buAutoNum type="arabicPeriod"/>
            </a:pPr>
            <a:r>
              <a:rPr lang="en-US" sz="2000" dirty="0">
                <a:latin typeface="Microsoft YaHei UI" panose="020B0503020204020204" pitchFamily="34" charset="-122"/>
                <a:ea typeface="Microsoft YaHei UI" panose="020B0503020204020204" pitchFamily="34" charset="-122"/>
              </a:rPr>
              <a:t>Ensemble training</a:t>
            </a:r>
          </a:p>
        </p:txBody>
      </p:sp>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54111" y="5781964"/>
            <a:ext cx="1076036" cy="1076036"/>
          </a:xfrm>
          <a:prstGeom prst="rect">
            <a:avLst/>
          </a:prstGeom>
        </p:spPr>
      </p:pic>
    </p:spTree>
    <p:extLst>
      <p:ext uri="{BB962C8B-B14F-4D97-AF65-F5344CB8AC3E}">
        <p14:creationId xmlns:p14="http://schemas.microsoft.com/office/powerpoint/2010/main" val="2198383458"/>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FF"/>
              </a:buClr>
            </a:pPr>
            <a:r>
              <a:rPr lang="en-US" sz="2400" b="1" dirty="0">
                <a:solidFill>
                  <a:srgbClr val="C00000"/>
                </a:solidFill>
                <a:latin typeface="Microsoft YaHei UI" panose="020B0503020204020204" pitchFamily="34" charset="-122"/>
                <a:ea typeface="Microsoft YaHei UI" panose="020B0503020204020204" pitchFamily="34" charset="-122"/>
              </a:rPr>
              <a:t>How to use </a:t>
            </a:r>
            <a:r>
              <a:rPr lang="en-US" sz="2400" b="1" dirty="0" err="1">
                <a:solidFill>
                  <a:srgbClr val="C00000"/>
                </a:solidFill>
                <a:latin typeface="Microsoft YaHei UI" panose="020B0503020204020204" pitchFamily="34" charset="-122"/>
                <a:ea typeface="Microsoft YaHei UI" panose="020B0503020204020204" pitchFamily="34" charset="-122"/>
              </a:rPr>
              <a:t>Horovod</a:t>
            </a:r>
            <a:r>
              <a:rPr lang="en-US" sz="2400" b="1" dirty="0">
                <a:solidFill>
                  <a:srgbClr val="C00000"/>
                </a:solidFill>
                <a:latin typeface="Microsoft YaHei UI" panose="020B0503020204020204" pitchFamily="34" charset="-122"/>
                <a:ea typeface="Microsoft YaHei UI" panose="020B0503020204020204" pitchFamily="34" charset="-122"/>
              </a:rPr>
              <a:t> – Data parallelism</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09" y="1359460"/>
            <a:ext cx="4815453" cy="4399412"/>
          </a:xfrm>
          <a:prstGeom prst="rect">
            <a:avLst/>
          </a:prstGeom>
        </p:spPr>
      </p:pic>
      <p:sp>
        <p:nvSpPr>
          <p:cNvPr id="3" name="文本框 2"/>
          <p:cNvSpPr txBox="1"/>
          <p:nvPr/>
        </p:nvSpPr>
        <p:spPr>
          <a:xfrm>
            <a:off x="5147961" y="1173018"/>
            <a:ext cx="4882729" cy="584775"/>
          </a:xfrm>
          <a:prstGeom prst="rect">
            <a:avLst/>
          </a:prstGeom>
          <a:noFill/>
        </p:spPr>
        <p:txBody>
          <a:bodyPr wrap="square" rtlCol="0">
            <a:spAutoFit/>
          </a:bodyPr>
          <a:lstStyle/>
          <a:p>
            <a:r>
              <a:rPr lang="en-US" sz="1600" dirty="0">
                <a:solidFill>
                  <a:srgbClr val="3333FD"/>
                </a:solidFill>
                <a:latin typeface="Microsoft YaHei UI" panose="020B0503020204020204" pitchFamily="34" charset="-122"/>
                <a:ea typeface="Microsoft YaHei UI" panose="020B0503020204020204" pitchFamily="34" charset="-122"/>
              </a:rPr>
              <a:t>1.</a:t>
            </a:r>
            <a:r>
              <a:rPr lang="en-US" sz="1600" dirty="0">
                <a:latin typeface="Microsoft YaHei UI" panose="020B0503020204020204" pitchFamily="34" charset="-122"/>
                <a:ea typeface="Microsoft YaHei UI" panose="020B0503020204020204" pitchFamily="34" charset="-122"/>
              </a:rPr>
              <a:t> Run multiple copies of the training </a:t>
            </a:r>
          </a:p>
          <a:p>
            <a:r>
              <a:rPr lang="en-US" sz="1600" dirty="0">
                <a:latin typeface="Microsoft YaHei UI" panose="020B0503020204020204" pitchFamily="34" charset="-122"/>
                <a:ea typeface="Microsoft YaHei UI" panose="020B0503020204020204" pitchFamily="34" charset="-122"/>
              </a:rPr>
              <a:t>    scripts, and each copy:</a:t>
            </a:r>
          </a:p>
        </p:txBody>
      </p:sp>
      <p:sp>
        <p:nvSpPr>
          <p:cNvPr id="4" name="文本框 3"/>
          <p:cNvSpPr txBox="1"/>
          <p:nvPr/>
        </p:nvSpPr>
        <p:spPr>
          <a:xfrm>
            <a:off x="5495636" y="1781151"/>
            <a:ext cx="2743200" cy="115730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dirty="0">
                <a:latin typeface="Microsoft YaHei UI" panose="020B0503020204020204" pitchFamily="34" charset="-122"/>
                <a:ea typeface="Microsoft YaHei UI" panose="020B0503020204020204" pitchFamily="34" charset="-122"/>
              </a:rPr>
              <a:t>Reads a chunk of data</a:t>
            </a:r>
          </a:p>
          <a:p>
            <a:pPr marL="285750" indent="-285750">
              <a:lnSpc>
                <a:spcPct val="150000"/>
              </a:lnSpc>
              <a:buFont typeface="Arial" panose="020B0604020202020204" pitchFamily="34" charset="0"/>
              <a:buChar char="•"/>
            </a:pPr>
            <a:r>
              <a:rPr lang="en-US" sz="1600" dirty="0">
                <a:latin typeface="Microsoft YaHei UI" panose="020B0503020204020204" pitchFamily="34" charset="-122"/>
                <a:ea typeface="Microsoft YaHei UI" panose="020B0503020204020204" pitchFamily="34" charset="-122"/>
              </a:rPr>
              <a:t>Train the model</a:t>
            </a:r>
          </a:p>
          <a:p>
            <a:pPr marL="285750" indent="-285750">
              <a:lnSpc>
                <a:spcPct val="150000"/>
              </a:lnSpc>
              <a:buFont typeface="Arial" panose="020B0604020202020204" pitchFamily="34" charset="0"/>
              <a:buChar char="•"/>
            </a:pPr>
            <a:r>
              <a:rPr lang="en-US" sz="1600" dirty="0">
                <a:latin typeface="Microsoft YaHei UI" panose="020B0503020204020204" pitchFamily="34" charset="-122"/>
                <a:ea typeface="Microsoft YaHei UI" panose="020B0503020204020204" pitchFamily="34" charset="-122"/>
              </a:rPr>
              <a:t>Compute the gradients</a:t>
            </a:r>
          </a:p>
        </p:txBody>
      </p:sp>
      <p:sp>
        <p:nvSpPr>
          <p:cNvPr id="9" name="文本框 8"/>
          <p:cNvSpPr txBox="1"/>
          <p:nvPr/>
        </p:nvSpPr>
        <p:spPr>
          <a:xfrm>
            <a:off x="5147962" y="3249390"/>
            <a:ext cx="4818074" cy="584775"/>
          </a:xfrm>
          <a:prstGeom prst="rect">
            <a:avLst/>
          </a:prstGeom>
          <a:noFill/>
        </p:spPr>
        <p:txBody>
          <a:bodyPr wrap="square" rtlCol="0">
            <a:spAutoFit/>
          </a:bodyPr>
          <a:lstStyle/>
          <a:p>
            <a:r>
              <a:rPr lang="en-US" sz="1600" dirty="0">
                <a:solidFill>
                  <a:srgbClr val="3338FD"/>
                </a:solidFill>
                <a:latin typeface="Microsoft YaHei UI" panose="020B0503020204020204" pitchFamily="34" charset="-122"/>
                <a:ea typeface="Microsoft YaHei UI" panose="020B0503020204020204" pitchFamily="34" charset="-122"/>
              </a:rPr>
              <a:t>2. </a:t>
            </a:r>
            <a:r>
              <a:rPr lang="en-US" sz="1600" dirty="0">
                <a:latin typeface="Microsoft YaHei UI" panose="020B0503020204020204" pitchFamily="34" charset="-122"/>
                <a:ea typeface="Microsoft YaHei UI" panose="020B0503020204020204" pitchFamily="34" charset="-122"/>
              </a:rPr>
              <a:t>Average the gradients from all the</a:t>
            </a:r>
          </a:p>
          <a:p>
            <a:r>
              <a:rPr lang="en-US" sz="1600" dirty="0">
                <a:latin typeface="Microsoft YaHei UI" panose="020B0503020204020204" pitchFamily="34" charset="-122"/>
                <a:ea typeface="Microsoft YaHei UI" panose="020B0503020204020204" pitchFamily="34" charset="-122"/>
              </a:rPr>
              <a:t>    copies</a:t>
            </a:r>
          </a:p>
        </p:txBody>
      </p:sp>
      <p:sp>
        <p:nvSpPr>
          <p:cNvPr id="10" name="文本框 9"/>
          <p:cNvSpPr txBox="1"/>
          <p:nvPr/>
        </p:nvSpPr>
        <p:spPr>
          <a:xfrm>
            <a:off x="5147962" y="4211743"/>
            <a:ext cx="4818074" cy="338554"/>
          </a:xfrm>
          <a:prstGeom prst="rect">
            <a:avLst/>
          </a:prstGeom>
          <a:noFill/>
        </p:spPr>
        <p:txBody>
          <a:bodyPr wrap="square" rtlCol="0">
            <a:spAutoFit/>
          </a:bodyPr>
          <a:lstStyle/>
          <a:p>
            <a:r>
              <a:rPr lang="en-US" sz="1600" dirty="0">
                <a:solidFill>
                  <a:srgbClr val="3338FD"/>
                </a:solidFill>
                <a:latin typeface="Microsoft YaHei UI" panose="020B0503020204020204" pitchFamily="34" charset="-122"/>
                <a:ea typeface="Microsoft YaHei UI" panose="020B0503020204020204" pitchFamily="34" charset="-122"/>
              </a:rPr>
              <a:t>3. </a:t>
            </a:r>
            <a:r>
              <a:rPr lang="en-US" sz="1600" dirty="0">
                <a:latin typeface="Microsoft YaHei UI" panose="020B0503020204020204" pitchFamily="34" charset="-122"/>
                <a:ea typeface="Microsoft YaHei UI" panose="020B0503020204020204" pitchFamily="34" charset="-122"/>
              </a:rPr>
              <a:t>Update the model</a:t>
            </a:r>
          </a:p>
        </p:txBody>
      </p:sp>
      <p:sp>
        <p:nvSpPr>
          <p:cNvPr id="11" name="文本框 10"/>
          <p:cNvSpPr txBox="1"/>
          <p:nvPr/>
        </p:nvSpPr>
        <p:spPr>
          <a:xfrm>
            <a:off x="5147962" y="4987208"/>
            <a:ext cx="4818074" cy="338554"/>
          </a:xfrm>
          <a:prstGeom prst="rect">
            <a:avLst/>
          </a:prstGeom>
          <a:noFill/>
        </p:spPr>
        <p:txBody>
          <a:bodyPr wrap="square" rtlCol="0">
            <a:spAutoFit/>
          </a:bodyPr>
          <a:lstStyle/>
          <a:p>
            <a:r>
              <a:rPr lang="en-US" sz="1600" dirty="0">
                <a:solidFill>
                  <a:srgbClr val="3338FD"/>
                </a:solidFill>
                <a:latin typeface="Microsoft YaHei UI" panose="020B0503020204020204" pitchFamily="34" charset="-122"/>
                <a:ea typeface="Microsoft YaHei UI" panose="020B0503020204020204" pitchFamily="34" charset="-122"/>
              </a:rPr>
              <a:t>4. </a:t>
            </a:r>
            <a:r>
              <a:rPr lang="en-US" sz="1600" dirty="0">
                <a:latin typeface="Microsoft YaHei UI" panose="020B0503020204020204" pitchFamily="34" charset="-122"/>
                <a:ea typeface="Microsoft YaHei UI" panose="020B0503020204020204" pitchFamily="34" charset="-122"/>
              </a:rPr>
              <a:t>Repeat 1-3</a:t>
            </a:r>
          </a:p>
        </p:txBody>
      </p:sp>
      <p:sp>
        <p:nvSpPr>
          <p:cNvPr id="5" name="文本框 4"/>
          <p:cNvSpPr txBox="1"/>
          <p:nvPr/>
        </p:nvSpPr>
        <p:spPr>
          <a:xfrm>
            <a:off x="1619671" y="5885140"/>
            <a:ext cx="3528290" cy="369332"/>
          </a:xfrm>
          <a:prstGeom prst="rect">
            <a:avLst/>
          </a:prstGeom>
          <a:noFill/>
        </p:spPr>
        <p:txBody>
          <a:bodyPr wrap="square" rtlCol="0">
            <a:spAutoFit/>
          </a:bodyPr>
          <a:lstStyle/>
          <a:p>
            <a:pPr algn="ctr"/>
            <a:r>
              <a:rPr lang="en-US" dirty="0">
                <a:solidFill>
                  <a:srgbClr val="FF0000"/>
                </a:solidFill>
                <a:latin typeface="Microsoft YaHei UI" panose="020B0503020204020204" pitchFamily="34" charset="-122"/>
                <a:ea typeface="Microsoft YaHei UI" panose="020B0503020204020204" pitchFamily="34" charset="-122"/>
                <a:cs typeface="Microsoft Himalaya" panose="01010100010101010101" pitchFamily="2" charset="0"/>
              </a:rPr>
              <a:t>Same initializations!</a:t>
            </a:r>
          </a:p>
        </p:txBody>
      </p:sp>
    </p:spTree>
    <p:extLst>
      <p:ext uri="{BB962C8B-B14F-4D97-AF65-F5344CB8AC3E}">
        <p14:creationId xmlns:p14="http://schemas.microsoft.com/office/powerpoint/2010/main" val="755012898"/>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FF"/>
              </a:buClr>
            </a:pPr>
            <a:r>
              <a:rPr lang="en-US" sz="2400" b="1" dirty="0">
                <a:solidFill>
                  <a:srgbClr val="C00000"/>
                </a:solidFill>
                <a:latin typeface="Microsoft YaHei UI" panose="020B0503020204020204" pitchFamily="34" charset="-122"/>
                <a:ea typeface="Microsoft YaHei UI" panose="020B0503020204020204" pitchFamily="34" charset="-122"/>
              </a:rPr>
              <a:t>Show me the code: Data parallelism</a:t>
            </a:r>
          </a:p>
        </p:txBody>
      </p:sp>
      <p:sp>
        <p:nvSpPr>
          <p:cNvPr id="6" name="文本框 5"/>
          <p:cNvSpPr txBox="1"/>
          <p:nvPr/>
        </p:nvSpPr>
        <p:spPr>
          <a:xfrm>
            <a:off x="46185" y="820790"/>
            <a:ext cx="4793670" cy="6001643"/>
          </a:xfrm>
          <a:prstGeom prst="rect">
            <a:avLst/>
          </a:prstGeom>
          <a:noFill/>
        </p:spPr>
        <p:txBody>
          <a:bodyPr wrap="square" rtlCol="0">
            <a:spAutoFit/>
          </a:bodyPr>
          <a:lstStyle/>
          <a:p>
            <a:r>
              <a:rPr lang="en-US" sz="1600" dirty="0">
                <a:latin typeface="Microsoft YaHei UI" panose="020B0503020204020204" pitchFamily="34" charset="-122"/>
                <a:ea typeface="Microsoft YaHei UI" panose="020B0503020204020204" pitchFamily="34" charset="-122"/>
              </a:rPr>
              <a:t>import </a:t>
            </a:r>
            <a:r>
              <a:rPr lang="en-US" sz="1600" dirty="0" err="1">
                <a:latin typeface="Microsoft YaHei UI" panose="020B0503020204020204" pitchFamily="34" charset="-122"/>
                <a:ea typeface="Microsoft YaHei UI" panose="020B0503020204020204" pitchFamily="34" charset="-122"/>
              </a:rPr>
              <a:t>tensorflow</a:t>
            </a:r>
            <a:r>
              <a:rPr lang="en-US" sz="1600" dirty="0">
                <a:latin typeface="Microsoft YaHei UI" panose="020B0503020204020204" pitchFamily="34" charset="-122"/>
                <a:ea typeface="Microsoft YaHei UI" panose="020B0503020204020204" pitchFamily="34" charset="-122"/>
              </a:rPr>
              <a:t> as </a:t>
            </a:r>
            <a:r>
              <a:rPr lang="en-US" sz="1600" dirty="0" err="1">
                <a:latin typeface="Microsoft YaHei UI" panose="020B0503020204020204" pitchFamily="34" charset="-122"/>
                <a:ea typeface="Microsoft YaHei UI" panose="020B0503020204020204" pitchFamily="34" charset="-122"/>
              </a:rPr>
              <a:t>tf</a:t>
            </a:r>
            <a:endParaRPr lang="en-US" sz="1600" dirty="0">
              <a:latin typeface="Microsoft YaHei UI" panose="020B0503020204020204" pitchFamily="34" charset="-122"/>
              <a:ea typeface="Microsoft YaHei UI" panose="020B0503020204020204" pitchFamily="34" charset="-122"/>
            </a:endParaRPr>
          </a:p>
          <a:p>
            <a:r>
              <a:rPr lang="en-US" sz="1600" dirty="0">
                <a:latin typeface="Microsoft YaHei UI" panose="020B0503020204020204" pitchFamily="34" charset="-122"/>
                <a:ea typeface="Microsoft YaHei UI" panose="020B0503020204020204" pitchFamily="34" charset="-122"/>
              </a:rPr>
              <a:t>import </a:t>
            </a:r>
            <a:r>
              <a:rPr lang="en-US" sz="1600" dirty="0" err="1">
                <a:latin typeface="Microsoft YaHei UI" panose="020B0503020204020204" pitchFamily="34" charset="-122"/>
                <a:ea typeface="Microsoft YaHei UI" panose="020B0503020204020204" pitchFamily="34" charset="-122"/>
              </a:rPr>
              <a:t>horovod.tensorflow</a:t>
            </a:r>
            <a:r>
              <a:rPr lang="en-US" sz="1600" dirty="0">
                <a:latin typeface="Microsoft YaHei UI" panose="020B0503020204020204" pitchFamily="34" charset="-122"/>
                <a:ea typeface="Microsoft YaHei UI" panose="020B0503020204020204" pitchFamily="34" charset="-122"/>
              </a:rPr>
              <a:t> as </a:t>
            </a:r>
            <a:r>
              <a:rPr lang="en-US" sz="1600" dirty="0" err="1">
                <a:latin typeface="Microsoft YaHei UI" panose="020B0503020204020204" pitchFamily="34" charset="-122"/>
                <a:ea typeface="Microsoft YaHei UI" panose="020B0503020204020204" pitchFamily="34" charset="-122"/>
              </a:rPr>
              <a:t>hvd</a:t>
            </a:r>
            <a:endParaRPr lang="en-US" sz="1600" dirty="0">
              <a:latin typeface="Microsoft YaHei UI" panose="020B0503020204020204" pitchFamily="34" charset="-122"/>
              <a:ea typeface="Microsoft YaHei UI" panose="020B0503020204020204" pitchFamily="34" charset="-122"/>
            </a:endParaRPr>
          </a:p>
          <a:p>
            <a:endParaRPr lang="en-US" sz="1600" dirty="0">
              <a:latin typeface="Microsoft YaHei UI" panose="020B0503020204020204" pitchFamily="34" charset="-122"/>
              <a:ea typeface="Microsoft YaHei UI" panose="020B0503020204020204" pitchFamily="34" charset="-122"/>
            </a:endParaRPr>
          </a:p>
          <a:p>
            <a:r>
              <a:rPr lang="en-US" sz="1600" dirty="0" err="1">
                <a:latin typeface="Microsoft YaHei UI" panose="020B0503020204020204" pitchFamily="34" charset="-122"/>
                <a:ea typeface="Microsoft YaHei UI" panose="020B0503020204020204" pitchFamily="34" charset="-122"/>
              </a:rPr>
              <a:t>hvd.init</a:t>
            </a:r>
            <a:r>
              <a:rPr lang="en-US" sz="1600" dirty="0">
                <a:latin typeface="Microsoft YaHei UI" panose="020B0503020204020204" pitchFamily="34" charset="-122"/>
                <a:ea typeface="Microsoft YaHei UI" panose="020B0503020204020204" pitchFamily="34" charset="-122"/>
              </a:rPr>
              <a:t>() </a:t>
            </a:r>
            <a:r>
              <a:rPr lang="en-US" sz="1600" dirty="0">
                <a:solidFill>
                  <a:srgbClr val="3338FD"/>
                </a:solidFill>
                <a:latin typeface="Microsoft YaHei UI" panose="020B0503020204020204" pitchFamily="34" charset="-122"/>
                <a:ea typeface="Microsoft YaHei UI" panose="020B0503020204020204" pitchFamily="34" charset="-122"/>
              </a:rPr>
              <a:t>#initialize the environment</a:t>
            </a:r>
          </a:p>
          <a:p>
            <a:endParaRPr lang="en-US" sz="1600" dirty="0">
              <a:solidFill>
                <a:srgbClr val="3338FD"/>
              </a:solidFill>
              <a:latin typeface="Microsoft YaHei UI" panose="020B0503020204020204" pitchFamily="34" charset="-122"/>
              <a:ea typeface="Microsoft YaHei UI" panose="020B0503020204020204" pitchFamily="34" charset="-122"/>
            </a:endParaRPr>
          </a:p>
          <a:p>
            <a:r>
              <a:rPr lang="en-US" sz="1600" dirty="0">
                <a:solidFill>
                  <a:srgbClr val="3338FD"/>
                </a:solidFill>
                <a:latin typeface="Microsoft YaHei UI" panose="020B0503020204020204" pitchFamily="34" charset="-122"/>
                <a:ea typeface="Microsoft YaHei UI" panose="020B0503020204020204" pitchFamily="34" charset="-122"/>
              </a:rPr>
              <a:t>#pin one GPU to each </a:t>
            </a:r>
            <a:r>
              <a:rPr lang="en-US" sz="1600" dirty="0" err="1">
                <a:solidFill>
                  <a:srgbClr val="3338FD"/>
                </a:solidFill>
                <a:latin typeface="Microsoft YaHei UI" panose="020B0503020204020204" pitchFamily="34" charset="-122"/>
                <a:ea typeface="Microsoft YaHei UI" panose="020B0503020204020204" pitchFamily="34" charset="-122"/>
              </a:rPr>
              <a:t>tensorflow</a:t>
            </a:r>
            <a:r>
              <a:rPr lang="en-US" sz="1600" dirty="0">
                <a:solidFill>
                  <a:srgbClr val="3338FD"/>
                </a:solidFill>
                <a:latin typeface="Microsoft YaHei UI" panose="020B0503020204020204" pitchFamily="34" charset="-122"/>
                <a:ea typeface="Microsoft YaHei UI" panose="020B0503020204020204" pitchFamily="34" charset="-122"/>
              </a:rPr>
              <a:t> process</a:t>
            </a:r>
            <a:endParaRPr lang="en-US" sz="1600" dirty="0">
              <a:latin typeface="Microsoft YaHei UI" panose="020B0503020204020204" pitchFamily="34" charset="-122"/>
              <a:ea typeface="Microsoft YaHei UI" panose="020B0503020204020204" pitchFamily="34" charset="-122"/>
            </a:endParaRPr>
          </a:p>
          <a:p>
            <a:r>
              <a:rPr lang="en-US" sz="1600" dirty="0" err="1">
                <a:latin typeface="Microsoft YaHei UI" panose="020B0503020204020204" pitchFamily="34" charset="-122"/>
                <a:ea typeface="Microsoft YaHei UI" panose="020B0503020204020204" pitchFamily="34" charset="-122"/>
              </a:rPr>
              <a:t>config</a:t>
            </a:r>
            <a:r>
              <a:rPr lang="en-US" sz="1600" dirty="0">
                <a:latin typeface="Microsoft YaHei UI" panose="020B0503020204020204" pitchFamily="34" charset="-122"/>
                <a:ea typeface="Microsoft YaHei UI" panose="020B0503020204020204" pitchFamily="34" charset="-122"/>
              </a:rPr>
              <a:t> = </a:t>
            </a:r>
            <a:r>
              <a:rPr lang="en-US" sz="1600" dirty="0" err="1">
                <a:latin typeface="Microsoft YaHei UI" panose="020B0503020204020204" pitchFamily="34" charset="-122"/>
                <a:ea typeface="Microsoft YaHei UI" panose="020B0503020204020204" pitchFamily="34" charset="-122"/>
              </a:rPr>
              <a:t>tf.ConfigProto</a:t>
            </a:r>
            <a:r>
              <a:rPr lang="en-US" sz="1600" dirty="0">
                <a:latin typeface="Microsoft YaHei UI" panose="020B0503020204020204" pitchFamily="34" charset="-122"/>
                <a:ea typeface="Microsoft YaHei UI" panose="020B0503020204020204" pitchFamily="34" charset="-122"/>
              </a:rPr>
              <a:t>() </a:t>
            </a:r>
          </a:p>
          <a:p>
            <a:r>
              <a:rPr lang="en-US" sz="1600" dirty="0" err="1">
                <a:latin typeface="Microsoft YaHei UI" panose="020B0503020204020204" pitchFamily="34" charset="-122"/>
                <a:ea typeface="Microsoft YaHei UI" panose="020B0503020204020204" pitchFamily="34" charset="-122"/>
              </a:rPr>
              <a:t>config.gpu_options.visible_device_list</a:t>
            </a:r>
            <a:r>
              <a:rPr lang="en-US" sz="1600" dirty="0">
                <a:latin typeface="Microsoft YaHei UI" panose="020B0503020204020204" pitchFamily="34" charset="-122"/>
                <a:ea typeface="Microsoft YaHei UI" panose="020B0503020204020204" pitchFamily="34" charset="-122"/>
              </a:rPr>
              <a:t> </a:t>
            </a:r>
          </a:p>
          <a:p>
            <a:r>
              <a:rPr lang="en-US" sz="1600" dirty="0">
                <a:latin typeface="Microsoft YaHei UI" panose="020B0503020204020204" pitchFamily="34" charset="-122"/>
                <a:ea typeface="Microsoft YaHei UI" panose="020B0503020204020204" pitchFamily="34" charset="-122"/>
              </a:rPr>
              <a:t>= </a:t>
            </a:r>
            <a:r>
              <a:rPr lang="en-US" sz="1600" dirty="0" err="1">
                <a:latin typeface="Microsoft YaHei UI" panose="020B0503020204020204" pitchFamily="34" charset="-122"/>
                <a:ea typeface="Microsoft YaHei UI" panose="020B0503020204020204" pitchFamily="34" charset="-122"/>
              </a:rPr>
              <a:t>str</a:t>
            </a:r>
            <a:r>
              <a:rPr lang="en-US" sz="1600" dirty="0">
                <a:latin typeface="Microsoft YaHei UI" panose="020B0503020204020204" pitchFamily="34" charset="-122"/>
                <a:ea typeface="Microsoft YaHei UI" panose="020B0503020204020204" pitchFamily="34" charset="-122"/>
              </a:rPr>
              <a:t>(</a:t>
            </a:r>
            <a:r>
              <a:rPr lang="en-US" sz="1600" dirty="0" err="1">
                <a:latin typeface="Microsoft YaHei UI" panose="020B0503020204020204" pitchFamily="34" charset="-122"/>
                <a:ea typeface="Microsoft YaHei UI" panose="020B0503020204020204" pitchFamily="34" charset="-122"/>
              </a:rPr>
              <a:t>hvd.local_rank</a:t>
            </a:r>
            <a:r>
              <a:rPr lang="en-US" sz="1600" dirty="0">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r>
              <a:rPr lang="en-US" sz="1600" dirty="0">
                <a:latin typeface="Microsoft YaHei UI" panose="020B0503020204020204" pitchFamily="34" charset="-122"/>
                <a:ea typeface="Microsoft YaHei UI" panose="020B0503020204020204" pitchFamily="34" charset="-122"/>
              </a:rPr>
              <a:t>if </a:t>
            </a:r>
            <a:r>
              <a:rPr lang="en-US" sz="1600" dirty="0" err="1">
                <a:latin typeface="Microsoft YaHei UI" panose="020B0503020204020204" pitchFamily="34" charset="-122"/>
                <a:ea typeface="Microsoft YaHei UI" panose="020B0503020204020204" pitchFamily="34" charset="-122"/>
              </a:rPr>
              <a:t>hvd.rank</a:t>
            </a:r>
            <a:r>
              <a:rPr lang="en-US" sz="1600" dirty="0">
                <a:latin typeface="Microsoft YaHei UI" panose="020B0503020204020204" pitchFamily="34" charset="-122"/>
                <a:ea typeface="Microsoft YaHei UI" panose="020B0503020204020204" pitchFamily="34" charset="-122"/>
              </a:rPr>
              <a:t>() == 0: </a:t>
            </a:r>
            <a:r>
              <a:rPr lang="en-US" sz="1600" dirty="0">
                <a:solidFill>
                  <a:srgbClr val="3333FD"/>
                </a:solidFill>
                <a:latin typeface="Microsoft YaHei UI" panose="020B0503020204020204" pitchFamily="34" charset="-122"/>
                <a:ea typeface="Microsoft YaHei UI" panose="020B0503020204020204" pitchFamily="34" charset="-122"/>
              </a:rPr>
              <a:t>#read data</a:t>
            </a:r>
          </a:p>
          <a:p>
            <a:r>
              <a:rPr lang="en-US" sz="1600" dirty="0">
                <a:latin typeface="Microsoft YaHei UI" panose="020B0503020204020204" pitchFamily="34" charset="-122"/>
                <a:ea typeface="Microsoft YaHei UI" panose="020B0503020204020204" pitchFamily="34" charset="-122"/>
              </a:rPr>
              <a:t>	read_chunk_0</a:t>
            </a:r>
          </a:p>
          <a:p>
            <a:r>
              <a:rPr lang="en-US" sz="1600" dirty="0">
                <a:latin typeface="Microsoft YaHei UI" panose="020B0503020204020204" pitchFamily="34" charset="-122"/>
                <a:ea typeface="Microsoft YaHei UI" panose="020B0503020204020204" pitchFamily="34" charset="-122"/>
              </a:rPr>
              <a:t>else:</a:t>
            </a:r>
          </a:p>
          <a:p>
            <a:r>
              <a:rPr lang="en-US" sz="1600" dirty="0">
                <a:latin typeface="Microsoft YaHei UI" panose="020B0503020204020204" pitchFamily="34" charset="-122"/>
                <a:ea typeface="Microsoft YaHei UI" panose="020B0503020204020204" pitchFamily="34" charset="-122"/>
              </a:rPr>
              <a:t>	</a:t>
            </a:r>
            <a:r>
              <a:rPr lang="en-US" sz="1600" dirty="0" err="1">
                <a:latin typeface="Microsoft YaHei UI" panose="020B0503020204020204" pitchFamily="34" charset="-122"/>
                <a:ea typeface="Microsoft YaHei UI" panose="020B0503020204020204" pitchFamily="34" charset="-122"/>
              </a:rPr>
              <a:t>read_chunk_n</a:t>
            </a:r>
            <a:r>
              <a:rPr lang="en-US" sz="1600" dirty="0">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r>
              <a:rPr lang="en-US" sz="1600" dirty="0">
                <a:solidFill>
                  <a:srgbClr val="3338FD"/>
                </a:solidFill>
                <a:latin typeface="Microsoft YaHei UI" panose="020B0503020204020204" pitchFamily="34" charset="-122"/>
                <a:ea typeface="Microsoft YaHei UI" panose="020B0503020204020204" pitchFamily="34" charset="-122"/>
              </a:rPr>
              <a:t># Build model...</a:t>
            </a:r>
          </a:p>
          <a:p>
            <a:r>
              <a:rPr lang="en-US" sz="1600" dirty="0">
                <a:latin typeface="Microsoft YaHei UI" panose="020B0503020204020204" pitchFamily="34" charset="-122"/>
                <a:ea typeface="Microsoft YaHei UI" panose="020B0503020204020204" pitchFamily="34" charset="-122"/>
              </a:rPr>
              <a:t>loss = ...</a:t>
            </a:r>
          </a:p>
          <a:p>
            <a:r>
              <a:rPr lang="en-US" sz="1600" dirty="0">
                <a:latin typeface="Microsoft YaHei UI" panose="020B0503020204020204" pitchFamily="34" charset="-122"/>
                <a:ea typeface="Microsoft YaHei UI" panose="020B0503020204020204" pitchFamily="34" charset="-122"/>
              </a:rPr>
              <a:t>opt = </a:t>
            </a:r>
            <a:r>
              <a:rPr lang="en-US" sz="1600" dirty="0" err="1">
                <a:latin typeface="Microsoft YaHei UI" panose="020B0503020204020204" pitchFamily="34" charset="-122"/>
                <a:ea typeface="Microsoft YaHei UI" panose="020B0503020204020204" pitchFamily="34" charset="-122"/>
              </a:rPr>
              <a:t>tf.train.AdamOptimizer</a:t>
            </a:r>
            <a:r>
              <a:rPr lang="en-US" sz="1600" dirty="0">
                <a:latin typeface="Microsoft YaHei UI" panose="020B0503020204020204" pitchFamily="34" charset="-122"/>
                <a:ea typeface="Microsoft YaHei UI" panose="020B0503020204020204" pitchFamily="34" charset="-122"/>
              </a:rPr>
              <a:t>(</a:t>
            </a:r>
            <a:r>
              <a:rPr lang="en-US" sz="1600" dirty="0" err="1">
                <a:latin typeface="Microsoft YaHei UI" panose="020B0503020204020204" pitchFamily="34" charset="-122"/>
                <a:ea typeface="Microsoft YaHei UI" panose="020B0503020204020204" pitchFamily="34" charset="-122"/>
              </a:rPr>
              <a:t>learning_rate</a:t>
            </a:r>
            <a:r>
              <a:rPr lang="en-US" sz="1600" dirty="0">
                <a:latin typeface="Microsoft YaHei UI" panose="020B0503020204020204" pitchFamily="34" charset="-122"/>
                <a:ea typeface="Microsoft YaHei UI" panose="020B0503020204020204" pitchFamily="34" charset="-122"/>
              </a:rPr>
              <a:t> * </a:t>
            </a:r>
            <a:r>
              <a:rPr lang="en-US" sz="1600" dirty="0" err="1">
                <a:latin typeface="Microsoft YaHei UI" panose="020B0503020204020204" pitchFamily="34" charset="-122"/>
                <a:ea typeface="Microsoft YaHei UI" panose="020B0503020204020204" pitchFamily="34" charset="-122"/>
              </a:rPr>
              <a:t>hvd.size</a:t>
            </a:r>
            <a:r>
              <a:rPr lang="en-US" sz="1600" dirty="0">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r>
              <a:rPr lang="en-US" sz="1600" dirty="0">
                <a:solidFill>
                  <a:srgbClr val="3338FD"/>
                </a:solidFill>
                <a:latin typeface="Microsoft YaHei UI" panose="020B0503020204020204" pitchFamily="34" charset="-122"/>
                <a:ea typeface="Microsoft YaHei UI" panose="020B0503020204020204" pitchFamily="34" charset="-122"/>
              </a:rPr>
              <a:t># Add </a:t>
            </a:r>
            <a:r>
              <a:rPr lang="en-US" sz="1600" dirty="0" err="1">
                <a:solidFill>
                  <a:srgbClr val="3338FD"/>
                </a:solidFill>
                <a:latin typeface="Microsoft YaHei UI" panose="020B0503020204020204" pitchFamily="34" charset="-122"/>
                <a:ea typeface="Microsoft YaHei UI" panose="020B0503020204020204" pitchFamily="34" charset="-122"/>
              </a:rPr>
              <a:t>Horovod</a:t>
            </a:r>
            <a:r>
              <a:rPr lang="en-US" sz="1600" dirty="0">
                <a:solidFill>
                  <a:srgbClr val="3338FD"/>
                </a:solidFill>
                <a:latin typeface="Microsoft YaHei UI" panose="020B0503020204020204" pitchFamily="34" charset="-122"/>
                <a:ea typeface="Microsoft YaHei UI" panose="020B0503020204020204" pitchFamily="34" charset="-122"/>
              </a:rPr>
              <a:t> Distributed Optimizer</a:t>
            </a:r>
          </a:p>
          <a:p>
            <a:r>
              <a:rPr lang="en-US" sz="1600" dirty="0">
                <a:latin typeface="Microsoft YaHei UI" panose="020B0503020204020204" pitchFamily="34" charset="-122"/>
                <a:ea typeface="Microsoft YaHei UI" panose="020B0503020204020204" pitchFamily="34" charset="-122"/>
              </a:rPr>
              <a:t>opt = </a:t>
            </a:r>
            <a:r>
              <a:rPr lang="en-US" sz="1600" dirty="0" err="1">
                <a:latin typeface="Microsoft YaHei UI" panose="020B0503020204020204" pitchFamily="34" charset="-122"/>
                <a:ea typeface="Microsoft YaHei UI" panose="020B0503020204020204" pitchFamily="34" charset="-122"/>
              </a:rPr>
              <a:t>hvd.DistributedOptimizer</a:t>
            </a:r>
            <a:r>
              <a:rPr lang="en-US" sz="1600" dirty="0">
                <a:latin typeface="Microsoft YaHei UI" panose="020B0503020204020204" pitchFamily="34" charset="-122"/>
                <a:ea typeface="Microsoft YaHei UI" panose="020B0503020204020204" pitchFamily="34" charset="-122"/>
              </a:rPr>
              <a:t>(opt)</a:t>
            </a:r>
          </a:p>
          <a:p>
            <a:endParaRPr lang="en-US" sz="1600" dirty="0">
              <a:latin typeface="Microsoft YaHei UI" panose="020B0503020204020204" pitchFamily="34" charset="-122"/>
              <a:ea typeface="Microsoft YaHei UI" panose="020B0503020204020204" pitchFamily="34" charset="-122"/>
            </a:endParaRPr>
          </a:p>
          <a:p>
            <a:r>
              <a:rPr lang="en-US" sz="1600" dirty="0">
                <a:latin typeface="Microsoft YaHei UI" panose="020B0503020204020204" pitchFamily="34" charset="-122"/>
                <a:ea typeface="Microsoft YaHei UI" panose="020B0503020204020204" pitchFamily="34" charset="-122"/>
              </a:rPr>
              <a:t>train = </a:t>
            </a:r>
            <a:r>
              <a:rPr lang="en-US" sz="1600" dirty="0" err="1">
                <a:latin typeface="Microsoft YaHei UI" panose="020B0503020204020204" pitchFamily="34" charset="-122"/>
                <a:ea typeface="Microsoft YaHei UI" panose="020B0503020204020204" pitchFamily="34" charset="-122"/>
              </a:rPr>
              <a:t>opt.minimize</a:t>
            </a:r>
            <a:r>
              <a:rPr lang="en-US" sz="1600" dirty="0">
                <a:latin typeface="Microsoft YaHei UI" panose="020B0503020204020204" pitchFamily="34" charset="-122"/>
                <a:ea typeface="Microsoft YaHei UI" panose="020B0503020204020204" pitchFamily="34" charset="-122"/>
              </a:rPr>
              <a:t>(loss)</a:t>
            </a:r>
          </a:p>
        </p:txBody>
      </p:sp>
      <p:sp>
        <p:nvSpPr>
          <p:cNvPr id="17" name="文本框 16"/>
          <p:cNvSpPr txBox="1"/>
          <p:nvPr/>
        </p:nvSpPr>
        <p:spPr>
          <a:xfrm>
            <a:off x="4668985" y="820790"/>
            <a:ext cx="4793670" cy="2308324"/>
          </a:xfrm>
          <a:prstGeom prst="rect">
            <a:avLst/>
          </a:prstGeom>
          <a:noFill/>
        </p:spPr>
        <p:txBody>
          <a:bodyPr wrap="square" rtlCol="0">
            <a:spAutoFit/>
          </a:bodyPr>
          <a:lstStyle/>
          <a:p>
            <a:r>
              <a:rPr lang="en-US" sz="1600" dirty="0" err="1">
                <a:latin typeface="Microsoft YaHei UI" panose="020B0503020204020204" pitchFamily="34" charset="-122"/>
                <a:ea typeface="Microsoft YaHei UI" panose="020B0503020204020204" pitchFamily="34" charset="-122"/>
              </a:rPr>
              <a:t>init</a:t>
            </a:r>
            <a:r>
              <a:rPr lang="en-US" sz="1600" dirty="0">
                <a:latin typeface="Microsoft YaHei UI" panose="020B0503020204020204" pitchFamily="34" charset="-122"/>
                <a:ea typeface="Microsoft YaHei UI" panose="020B0503020204020204" pitchFamily="34" charset="-122"/>
              </a:rPr>
              <a:t> = </a:t>
            </a:r>
            <a:r>
              <a:rPr lang="en-US" sz="1600" dirty="0" err="1">
                <a:latin typeface="Microsoft YaHei UI" panose="020B0503020204020204" pitchFamily="34" charset="-122"/>
                <a:ea typeface="Microsoft YaHei UI" panose="020B0503020204020204" pitchFamily="34" charset="-122"/>
              </a:rPr>
              <a:t>tf.global_variables_initializer</a:t>
            </a:r>
            <a:r>
              <a:rPr lang="en-US" sz="1600" dirty="0">
                <a:latin typeface="Microsoft YaHei UI" panose="020B0503020204020204" pitchFamily="34" charset="-122"/>
                <a:ea typeface="Microsoft YaHei UI" panose="020B0503020204020204" pitchFamily="34" charset="-122"/>
              </a:rPr>
              <a:t>()</a:t>
            </a:r>
          </a:p>
          <a:p>
            <a:r>
              <a:rPr lang="en-US" sz="1600" dirty="0" err="1">
                <a:latin typeface="Microsoft YaHei UI" panose="020B0503020204020204" pitchFamily="34" charset="-122"/>
                <a:ea typeface="Microsoft YaHei UI" panose="020B0503020204020204" pitchFamily="34" charset="-122"/>
              </a:rPr>
              <a:t>sess.run</a:t>
            </a:r>
            <a:r>
              <a:rPr lang="en-US" sz="1600" dirty="0">
                <a:latin typeface="Microsoft YaHei UI" panose="020B0503020204020204" pitchFamily="34" charset="-122"/>
                <a:ea typeface="Microsoft YaHei UI" panose="020B0503020204020204" pitchFamily="34" charset="-122"/>
              </a:rPr>
              <a:t>(</a:t>
            </a:r>
            <a:r>
              <a:rPr lang="en-US" sz="1600" dirty="0" err="1">
                <a:latin typeface="Microsoft YaHei UI" panose="020B0503020204020204" pitchFamily="34" charset="-122"/>
                <a:ea typeface="Microsoft YaHei UI" panose="020B0503020204020204" pitchFamily="34" charset="-122"/>
              </a:rPr>
              <a:t>init</a:t>
            </a:r>
            <a:r>
              <a:rPr lang="en-US" sz="1600" dirty="0">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r>
              <a:rPr lang="en-US" sz="1600" dirty="0">
                <a:solidFill>
                  <a:srgbClr val="3333FD"/>
                </a:solidFill>
                <a:latin typeface="Microsoft YaHei UI" panose="020B0503020204020204" pitchFamily="34" charset="-122"/>
                <a:ea typeface="Microsoft YaHei UI" panose="020B0503020204020204" pitchFamily="34" charset="-122"/>
              </a:rPr>
              <a:t>#broadcast the initialization to all processes</a:t>
            </a:r>
          </a:p>
          <a:p>
            <a:r>
              <a:rPr lang="en-US" sz="1600" dirty="0" err="1">
                <a:latin typeface="Microsoft YaHei UI" panose="020B0503020204020204" pitchFamily="34" charset="-122"/>
                <a:ea typeface="Microsoft YaHei UI" panose="020B0503020204020204" pitchFamily="34" charset="-122"/>
              </a:rPr>
              <a:t>bcast</a:t>
            </a:r>
            <a:r>
              <a:rPr lang="en-US" sz="1600" dirty="0">
                <a:latin typeface="Microsoft YaHei UI" panose="020B0503020204020204" pitchFamily="34" charset="-122"/>
                <a:ea typeface="Microsoft YaHei UI" panose="020B0503020204020204" pitchFamily="34" charset="-122"/>
              </a:rPr>
              <a:t> = </a:t>
            </a:r>
            <a:r>
              <a:rPr lang="en-US" sz="1600" dirty="0" err="1">
                <a:latin typeface="Microsoft YaHei UI" panose="020B0503020204020204" pitchFamily="34" charset="-122"/>
                <a:ea typeface="Microsoft YaHei UI" panose="020B0503020204020204" pitchFamily="34" charset="-122"/>
              </a:rPr>
              <a:t>hvd.broadcast_global_variables</a:t>
            </a:r>
            <a:r>
              <a:rPr lang="en-US" sz="1600" dirty="0">
                <a:latin typeface="Microsoft YaHei UI" panose="020B0503020204020204" pitchFamily="34" charset="-122"/>
                <a:ea typeface="Microsoft YaHei UI" panose="020B0503020204020204" pitchFamily="34" charset="-122"/>
              </a:rPr>
              <a:t>(0)</a:t>
            </a:r>
          </a:p>
          <a:p>
            <a:r>
              <a:rPr lang="en-US" sz="1600" dirty="0" err="1">
                <a:latin typeface="Microsoft YaHei UI" panose="020B0503020204020204" pitchFamily="34" charset="-122"/>
                <a:ea typeface="Microsoft YaHei UI" panose="020B0503020204020204" pitchFamily="34" charset="-122"/>
              </a:rPr>
              <a:t>sess.run</a:t>
            </a:r>
            <a:r>
              <a:rPr lang="en-US" sz="1600" dirty="0">
                <a:latin typeface="Microsoft YaHei UI" panose="020B0503020204020204" pitchFamily="34" charset="-122"/>
                <a:ea typeface="Microsoft YaHei UI" panose="020B0503020204020204" pitchFamily="34" charset="-122"/>
              </a:rPr>
              <a:t>(</a:t>
            </a:r>
            <a:r>
              <a:rPr lang="en-US" sz="1600" dirty="0" err="1">
                <a:latin typeface="Microsoft YaHei UI" panose="020B0503020204020204" pitchFamily="34" charset="-122"/>
                <a:ea typeface="Microsoft YaHei UI" panose="020B0503020204020204" pitchFamily="34" charset="-122"/>
              </a:rPr>
              <a:t>bcast</a:t>
            </a:r>
            <a:r>
              <a:rPr lang="en-US" sz="1600" dirty="0">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r>
              <a:rPr lang="en-US" sz="1600" dirty="0">
                <a:latin typeface="Microsoft YaHei UI" panose="020B0503020204020204" pitchFamily="34" charset="-122"/>
                <a:ea typeface="Microsoft YaHei UI" panose="020B0503020204020204" pitchFamily="34" charset="-122"/>
              </a:rPr>
              <a:t>while </a:t>
            </a:r>
            <a:r>
              <a:rPr lang="en-US" sz="1600" dirty="0" err="1">
                <a:latin typeface="Microsoft YaHei UI" panose="020B0503020204020204" pitchFamily="34" charset="-122"/>
                <a:ea typeface="Microsoft YaHei UI" panose="020B0503020204020204" pitchFamily="34" charset="-122"/>
              </a:rPr>
              <a:t>train_step</a:t>
            </a:r>
            <a:r>
              <a:rPr lang="en-US" sz="1600" dirty="0">
                <a:latin typeface="Microsoft YaHei UI" panose="020B0503020204020204" pitchFamily="34" charset="-122"/>
                <a:ea typeface="Microsoft YaHei UI" panose="020B0503020204020204" pitchFamily="34" charset="-122"/>
              </a:rPr>
              <a:t> &lt; </a:t>
            </a:r>
            <a:r>
              <a:rPr lang="en-US" sz="1600" dirty="0" err="1">
                <a:latin typeface="Microsoft YaHei UI" panose="020B0503020204020204" pitchFamily="34" charset="-122"/>
                <a:ea typeface="Microsoft YaHei UI" panose="020B0503020204020204" pitchFamily="34" charset="-122"/>
              </a:rPr>
              <a:t>step_max</a:t>
            </a:r>
            <a:r>
              <a:rPr lang="en-US" sz="1600" dirty="0">
                <a:latin typeface="Microsoft YaHei UI" panose="020B0503020204020204" pitchFamily="34" charset="-122"/>
                <a:ea typeface="Microsoft YaHei UI" panose="020B0503020204020204" pitchFamily="34" charset="-122"/>
              </a:rPr>
              <a:t>:</a:t>
            </a:r>
          </a:p>
          <a:p>
            <a:r>
              <a:rPr lang="en-US" sz="1600" dirty="0">
                <a:latin typeface="Microsoft YaHei UI" panose="020B0503020204020204" pitchFamily="34" charset="-122"/>
                <a:ea typeface="Microsoft YaHei UI" panose="020B0503020204020204" pitchFamily="34" charset="-122"/>
              </a:rPr>
              <a:t>	</a:t>
            </a:r>
            <a:r>
              <a:rPr lang="en-US" sz="1600" dirty="0" err="1">
                <a:latin typeface="Microsoft YaHei UI" panose="020B0503020204020204" pitchFamily="34" charset="-122"/>
                <a:ea typeface="Microsoft YaHei UI" panose="020B0503020204020204" pitchFamily="34" charset="-122"/>
              </a:rPr>
              <a:t>sess.run</a:t>
            </a:r>
            <a:r>
              <a:rPr lang="en-US" sz="1600" dirty="0">
                <a:latin typeface="Microsoft YaHei UI" panose="020B0503020204020204" pitchFamily="34" charset="-122"/>
                <a:ea typeface="Microsoft YaHei UI" panose="020B0503020204020204" pitchFamily="34" charset="-122"/>
              </a:rPr>
              <a:t>([train, loss], </a:t>
            </a:r>
            <a:r>
              <a:rPr lang="en-US" sz="1600" dirty="0" err="1">
                <a:latin typeface="Microsoft YaHei UI" panose="020B0503020204020204" pitchFamily="34" charset="-122"/>
                <a:ea typeface="Microsoft YaHei UI" panose="020B0503020204020204" pitchFamily="34" charset="-122"/>
              </a:rPr>
              <a:t>feed_dict</a:t>
            </a:r>
            <a:r>
              <a:rPr lang="en-US" sz="1600" dirty="0">
                <a:latin typeface="Microsoft YaHei UI" panose="020B0503020204020204" pitchFamily="34" charset="-122"/>
                <a:ea typeface="Microsoft YaHei UI" panose="020B0503020204020204" pitchFamily="34" charset="-122"/>
              </a:rPr>
              <a:t>=…) </a:t>
            </a:r>
          </a:p>
        </p:txBody>
      </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54111" y="5781964"/>
            <a:ext cx="1076036" cy="1076036"/>
          </a:xfrm>
          <a:prstGeom prst="rect">
            <a:avLst/>
          </a:prstGeom>
        </p:spPr>
      </p:pic>
      <p:sp>
        <p:nvSpPr>
          <p:cNvPr id="20" name="文本框 19"/>
          <p:cNvSpPr txBox="1"/>
          <p:nvPr/>
        </p:nvSpPr>
        <p:spPr>
          <a:xfrm>
            <a:off x="4906821" y="3809207"/>
            <a:ext cx="4317998" cy="923330"/>
          </a:xfrm>
          <a:prstGeom prst="rect">
            <a:avLst/>
          </a:prstGeom>
          <a:noFill/>
        </p:spPr>
        <p:txBody>
          <a:bodyPr wrap="square" rtlCol="0">
            <a:spAutoFit/>
          </a:bodyPr>
          <a:lstStyle/>
          <a:p>
            <a:r>
              <a:rPr lang="en-US" dirty="0" err="1">
                <a:latin typeface="Microsoft YaHei UI" panose="020B0503020204020204" pitchFamily="34" charset="-122"/>
                <a:ea typeface="Microsoft YaHei UI" panose="020B0503020204020204" pitchFamily="34" charset="-122"/>
              </a:rPr>
              <a:t>horovodrun</a:t>
            </a:r>
            <a:r>
              <a:rPr lang="en-US" dirty="0">
                <a:latin typeface="Microsoft YaHei UI" panose="020B0503020204020204" pitchFamily="34" charset="-122"/>
                <a:ea typeface="Microsoft YaHei UI" panose="020B0503020204020204" pitchFamily="34" charset="-122"/>
              </a:rPr>
              <a:t>/</a:t>
            </a:r>
            <a:r>
              <a:rPr lang="en-US" dirty="0" err="1">
                <a:latin typeface="Microsoft YaHei UI" panose="020B0503020204020204" pitchFamily="34" charset="-122"/>
                <a:ea typeface="Microsoft YaHei UI" panose="020B0503020204020204" pitchFamily="34" charset="-122"/>
              </a:rPr>
              <a:t>mpirun</a:t>
            </a:r>
            <a:r>
              <a:rPr lang="en-US" dirty="0">
                <a:latin typeface="Microsoft YaHei UI" panose="020B0503020204020204" pitchFamily="34" charset="-122"/>
                <a:ea typeface="Microsoft YaHei UI" panose="020B0503020204020204" pitchFamily="34" charset="-122"/>
              </a:rPr>
              <a:t> –np </a:t>
            </a:r>
            <a:r>
              <a:rPr lang="en-US" dirty="0" err="1">
                <a:latin typeface="Microsoft YaHei UI" panose="020B0503020204020204" pitchFamily="34" charset="-122"/>
                <a:ea typeface="Microsoft YaHei UI" panose="020B0503020204020204" pitchFamily="34" charset="-122"/>
              </a:rPr>
              <a:t>NP</a:t>
            </a:r>
            <a:r>
              <a:rPr lang="en-US" dirty="0">
                <a:latin typeface="Microsoft YaHei UI" panose="020B0503020204020204" pitchFamily="34" charset="-122"/>
                <a:ea typeface="Microsoft YaHei UI" panose="020B0503020204020204" pitchFamily="34" charset="-122"/>
              </a:rPr>
              <a:t> –H </a:t>
            </a:r>
            <a:r>
              <a:rPr lang="en-US" dirty="0" err="1">
                <a:latin typeface="Microsoft YaHei UI" panose="020B0503020204020204" pitchFamily="34" charset="-122"/>
                <a:ea typeface="Microsoft YaHei UI" panose="020B0503020204020204" pitchFamily="34" charset="-122"/>
              </a:rPr>
              <a:t>localhost:NP</a:t>
            </a:r>
            <a:r>
              <a:rPr lang="en-US" dirty="0">
                <a:latin typeface="Microsoft YaHei UI" panose="020B0503020204020204" pitchFamily="34" charset="-122"/>
                <a:ea typeface="Microsoft YaHei UI" panose="020B0503020204020204" pitchFamily="34" charset="-122"/>
              </a:rPr>
              <a:t> </a:t>
            </a:r>
          </a:p>
          <a:p>
            <a:r>
              <a:rPr lang="en-US" dirty="0">
                <a:latin typeface="Microsoft YaHei UI" panose="020B0503020204020204" pitchFamily="34" charset="-122"/>
                <a:ea typeface="Microsoft YaHei UI" panose="020B0503020204020204" pitchFamily="34" charset="-122"/>
              </a:rPr>
              <a:t>python *.</a:t>
            </a:r>
            <a:r>
              <a:rPr lang="en-US" dirty="0" err="1">
                <a:latin typeface="Microsoft YaHei UI" panose="020B0503020204020204" pitchFamily="34" charset="-122"/>
                <a:ea typeface="Microsoft YaHei UI" panose="020B0503020204020204" pitchFamily="34" charset="-122"/>
              </a:rPr>
              <a:t>py</a:t>
            </a:r>
            <a:endParaRPr lang="en-US" dirty="0">
              <a:latin typeface="Microsoft YaHei UI" panose="020B0503020204020204" pitchFamily="34" charset="-122"/>
              <a:ea typeface="Microsoft YaHei UI" panose="020B0503020204020204" pitchFamily="34" charset="-122"/>
            </a:endParaRPr>
          </a:p>
        </p:txBody>
      </p:sp>
      <p:sp>
        <p:nvSpPr>
          <p:cNvPr id="21" name="文本框 20"/>
          <p:cNvSpPr txBox="1"/>
          <p:nvPr/>
        </p:nvSpPr>
        <p:spPr>
          <a:xfrm>
            <a:off x="4906821" y="4874278"/>
            <a:ext cx="5133106" cy="923330"/>
          </a:xfrm>
          <a:prstGeom prst="rect">
            <a:avLst/>
          </a:prstGeom>
          <a:noFill/>
        </p:spPr>
        <p:txBody>
          <a:bodyPr wrap="square" rtlCol="0">
            <a:spAutoFit/>
          </a:bodyPr>
          <a:lstStyle/>
          <a:p>
            <a:r>
              <a:rPr lang="en-US" dirty="0" err="1">
                <a:latin typeface="Microsoft YaHei UI" panose="020B0503020204020204" pitchFamily="34" charset="-122"/>
                <a:ea typeface="Microsoft YaHei UI" panose="020B0503020204020204" pitchFamily="34" charset="-122"/>
              </a:rPr>
              <a:t>mpirun</a:t>
            </a:r>
            <a:r>
              <a:rPr lang="en-US" dirty="0">
                <a:latin typeface="Microsoft YaHei UI" panose="020B0503020204020204" pitchFamily="34" charset="-122"/>
                <a:ea typeface="Microsoft YaHei UI" panose="020B0503020204020204" pitchFamily="34" charset="-122"/>
              </a:rPr>
              <a:t> –np </a:t>
            </a:r>
            <a:r>
              <a:rPr lang="en-US" dirty="0" err="1">
                <a:latin typeface="Microsoft YaHei UI" panose="020B0503020204020204" pitchFamily="34" charset="-122"/>
                <a:ea typeface="Microsoft YaHei UI" panose="020B0503020204020204" pitchFamily="34" charset="-122"/>
              </a:rPr>
              <a:t>NP</a:t>
            </a:r>
            <a:r>
              <a:rPr lang="en-US" dirty="0">
                <a:latin typeface="Microsoft YaHei UI" panose="020B0503020204020204" pitchFamily="34" charset="-122"/>
                <a:ea typeface="Microsoft YaHei UI" panose="020B0503020204020204" pitchFamily="34" charset="-122"/>
              </a:rPr>
              <a:t> –H </a:t>
            </a:r>
          </a:p>
          <a:p>
            <a:r>
              <a:rPr lang="en-US" dirty="0">
                <a:latin typeface="Microsoft YaHei UI" panose="020B0503020204020204" pitchFamily="34" charset="-122"/>
                <a:ea typeface="Microsoft YaHei UI" panose="020B0503020204020204" pitchFamily="34" charset="-122"/>
              </a:rPr>
              <a:t>server 1:np…server n: np …</a:t>
            </a:r>
          </a:p>
          <a:p>
            <a:r>
              <a:rPr lang="en-US" dirty="0">
                <a:latin typeface="Microsoft YaHei UI" panose="020B0503020204020204" pitchFamily="34" charset="-122"/>
                <a:ea typeface="Microsoft YaHei UI" panose="020B0503020204020204" pitchFamily="34" charset="-122"/>
              </a:rPr>
              <a:t>python *.</a:t>
            </a:r>
            <a:r>
              <a:rPr lang="en-US" dirty="0" err="1">
                <a:latin typeface="Microsoft YaHei UI" panose="020B0503020204020204" pitchFamily="34" charset="-122"/>
                <a:ea typeface="Microsoft YaHei UI" panose="020B0503020204020204" pitchFamily="34" charset="-122"/>
              </a:rPr>
              <a:t>py</a:t>
            </a:r>
            <a:endParaRPr lang="en-US"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914197386"/>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FF"/>
              </a:buClr>
            </a:pPr>
            <a:r>
              <a:rPr lang="en-US" sz="2400" b="1" dirty="0">
                <a:solidFill>
                  <a:srgbClr val="C00000"/>
                </a:solidFill>
                <a:latin typeface="Microsoft YaHei UI" panose="020B0503020204020204" pitchFamily="34" charset="-122"/>
                <a:ea typeface="Microsoft YaHei UI" panose="020B0503020204020204" pitchFamily="34" charset="-122"/>
              </a:rPr>
              <a:t>Show me the code: Data parallelism</a:t>
            </a:r>
          </a:p>
        </p:txBody>
      </p:sp>
      <p:sp>
        <p:nvSpPr>
          <p:cNvPr id="6" name="文本框 5"/>
          <p:cNvSpPr txBox="1"/>
          <p:nvPr/>
        </p:nvSpPr>
        <p:spPr>
          <a:xfrm>
            <a:off x="46185" y="820790"/>
            <a:ext cx="4793670" cy="5755422"/>
          </a:xfrm>
          <a:prstGeom prst="rect">
            <a:avLst/>
          </a:prstGeom>
          <a:noFill/>
        </p:spPr>
        <p:txBody>
          <a:bodyPr wrap="square" rtlCol="0">
            <a:spAutoFit/>
          </a:bodyPr>
          <a:lstStyle/>
          <a:p>
            <a:r>
              <a:rPr lang="en-US" sz="1600" dirty="0">
                <a:latin typeface="Microsoft YaHei UI" panose="020B0503020204020204" pitchFamily="34" charset="-122"/>
                <a:ea typeface="Microsoft YaHei UI" panose="020B0503020204020204" pitchFamily="34" charset="-122"/>
              </a:rPr>
              <a:t>import </a:t>
            </a:r>
            <a:r>
              <a:rPr lang="en-US" sz="1600" dirty="0" err="1">
                <a:latin typeface="Microsoft YaHei UI" panose="020B0503020204020204" pitchFamily="34" charset="-122"/>
                <a:ea typeface="Microsoft YaHei UI" panose="020B0503020204020204" pitchFamily="34" charset="-122"/>
              </a:rPr>
              <a:t>tensorflow</a:t>
            </a:r>
            <a:r>
              <a:rPr lang="en-US" sz="1600" dirty="0">
                <a:latin typeface="Microsoft YaHei UI" panose="020B0503020204020204" pitchFamily="34" charset="-122"/>
                <a:ea typeface="Microsoft YaHei UI" panose="020B0503020204020204" pitchFamily="34" charset="-122"/>
              </a:rPr>
              <a:t> as </a:t>
            </a:r>
            <a:r>
              <a:rPr lang="en-US" sz="1600" dirty="0" err="1">
                <a:latin typeface="Microsoft YaHei UI" panose="020B0503020204020204" pitchFamily="34" charset="-122"/>
                <a:ea typeface="Microsoft YaHei UI" panose="020B0503020204020204" pitchFamily="34" charset="-122"/>
              </a:rPr>
              <a:t>tf</a:t>
            </a:r>
            <a:endParaRPr lang="en-US" sz="1600" dirty="0">
              <a:latin typeface="Microsoft YaHei UI" panose="020B0503020204020204" pitchFamily="34" charset="-122"/>
              <a:ea typeface="Microsoft YaHei UI" panose="020B0503020204020204" pitchFamily="34" charset="-122"/>
            </a:endParaRPr>
          </a:p>
          <a:p>
            <a:r>
              <a:rPr lang="en-US" sz="1600" dirty="0">
                <a:solidFill>
                  <a:srgbClr val="00B050"/>
                </a:solidFill>
                <a:latin typeface="Microsoft YaHei UI" panose="020B0503020204020204" pitchFamily="34" charset="-122"/>
                <a:ea typeface="Microsoft YaHei UI" panose="020B0503020204020204" pitchFamily="34" charset="-122"/>
              </a:rPr>
              <a:t>import </a:t>
            </a:r>
            <a:r>
              <a:rPr lang="en-US" sz="1600" dirty="0" err="1">
                <a:solidFill>
                  <a:srgbClr val="00B050"/>
                </a:solidFill>
                <a:latin typeface="Microsoft YaHei UI" panose="020B0503020204020204" pitchFamily="34" charset="-122"/>
                <a:ea typeface="Microsoft YaHei UI" panose="020B0503020204020204" pitchFamily="34" charset="-122"/>
              </a:rPr>
              <a:t>horovod.tensorflow</a:t>
            </a:r>
            <a:r>
              <a:rPr lang="en-US" sz="1600" dirty="0">
                <a:solidFill>
                  <a:srgbClr val="00B050"/>
                </a:solidFill>
                <a:latin typeface="Microsoft YaHei UI" panose="020B0503020204020204" pitchFamily="34" charset="-122"/>
                <a:ea typeface="Microsoft YaHei UI" panose="020B0503020204020204" pitchFamily="34" charset="-122"/>
              </a:rPr>
              <a:t> as </a:t>
            </a:r>
            <a:r>
              <a:rPr lang="en-US" sz="1600" dirty="0" err="1">
                <a:solidFill>
                  <a:srgbClr val="00B050"/>
                </a:solidFill>
                <a:latin typeface="Microsoft YaHei UI" panose="020B0503020204020204" pitchFamily="34" charset="-122"/>
                <a:ea typeface="Microsoft YaHei UI" panose="020B0503020204020204" pitchFamily="34" charset="-122"/>
              </a:rPr>
              <a:t>hvd</a:t>
            </a:r>
            <a:endParaRPr lang="en-US" sz="1600" dirty="0">
              <a:solidFill>
                <a:srgbClr val="00B050"/>
              </a:solidFill>
              <a:latin typeface="Microsoft YaHei UI" panose="020B0503020204020204" pitchFamily="34" charset="-122"/>
              <a:ea typeface="Microsoft YaHei UI" panose="020B0503020204020204" pitchFamily="34" charset="-122"/>
            </a:endParaRPr>
          </a:p>
          <a:p>
            <a:endParaRPr lang="en-US" sz="1600" dirty="0">
              <a:latin typeface="Microsoft YaHei UI" panose="020B0503020204020204" pitchFamily="34" charset="-122"/>
              <a:ea typeface="Microsoft YaHei UI" panose="020B0503020204020204" pitchFamily="34" charset="-122"/>
            </a:endParaRPr>
          </a:p>
          <a:p>
            <a:r>
              <a:rPr lang="en-US" sz="1600" dirty="0" err="1">
                <a:solidFill>
                  <a:srgbClr val="00B050"/>
                </a:solidFill>
                <a:latin typeface="Microsoft YaHei UI" panose="020B0503020204020204" pitchFamily="34" charset="-122"/>
                <a:ea typeface="Microsoft YaHei UI" panose="020B0503020204020204" pitchFamily="34" charset="-122"/>
              </a:rPr>
              <a:t>hvd.init</a:t>
            </a:r>
            <a:r>
              <a:rPr lang="en-US" sz="1600" dirty="0">
                <a:solidFill>
                  <a:srgbClr val="00B050"/>
                </a:solidFill>
                <a:latin typeface="Microsoft YaHei UI" panose="020B0503020204020204" pitchFamily="34" charset="-122"/>
                <a:ea typeface="Microsoft YaHei UI" panose="020B0503020204020204" pitchFamily="34" charset="-122"/>
              </a:rPr>
              <a:t>()</a:t>
            </a:r>
          </a:p>
          <a:p>
            <a:endParaRPr lang="en-US" sz="1600" dirty="0">
              <a:solidFill>
                <a:srgbClr val="3338FD"/>
              </a:solidFill>
              <a:latin typeface="Microsoft YaHei UI" panose="020B0503020204020204" pitchFamily="34" charset="-122"/>
              <a:ea typeface="Microsoft YaHei UI" panose="020B0503020204020204" pitchFamily="34" charset="-122"/>
            </a:endParaRPr>
          </a:p>
          <a:p>
            <a:endParaRPr lang="en-US" sz="1600" dirty="0">
              <a:latin typeface="Microsoft YaHei UI" panose="020B0503020204020204" pitchFamily="34" charset="-122"/>
              <a:ea typeface="Microsoft YaHei UI" panose="020B0503020204020204" pitchFamily="34" charset="-122"/>
            </a:endParaRPr>
          </a:p>
          <a:p>
            <a:r>
              <a:rPr lang="en-US" sz="1600" dirty="0" err="1">
                <a:latin typeface="Microsoft YaHei UI" panose="020B0503020204020204" pitchFamily="34" charset="-122"/>
                <a:ea typeface="Microsoft YaHei UI" panose="020B0503020204020204" pitchFamily="34" charset="-122"/>
              </a:rPr>
              <a:t>config</a:t>
            </a:r>
            <a:r>
              <a:rPr lang="en-US" sz="1600" dirty="0">
                <a:latin typeface="Microsoft YaHei UI" panose="020B0503020204020204" pitchFamily="34" charset="-122"/>
                <a:ea typeface="Microsoft YaHei UI" panose="020B0503020204020204" pitchFamily="34" charset="-122"/>
              </a:rPr>
              <a:t> = </a:t>
            </a:r>
            <a:r>
              <a:rPr lang="en-US" sz="1600" dirty="0" err="1">
                <a:latin typeface="Microsoft YaHei UI" panose="020B0503020204020204" pitchFamily="34" charset="-122"/>
                <a:ea typeface="Microsoft YaHei UI" panose="020B0503020204020204" pitchFamily="34" charset="-122"/>
              </a:rPr>
              <a:t>tf.ConfigProto</a:t>
            </a:r>
            <a:r>
              <a:rPr lang="en-US" sz="1600" dirty="0">
                <a:latin typeface="Microsoft YaHei UI" panose="020B0503020204020204" pitchFamily="34" charset="-122"/>
                <a:ea typeface="Microsoft YaHei UI" panose="020B0503020204020204" pitchFamily="34" charset="-122"/>
              </a:rPr>
              <a:t>() </a:t>
            </a:r>
          </a:p>
          <a:p>
            <a:r>
              <a:rPr lang="en-US" sz="1600" dirty="0" err="1">
                <a:solidFill>
                  <a:srgbClr val="00B050"/>
                </a:solidFill>
                <a:latin typeface="Microsoft YaHei UI" panose="020B0503020204020204" pitchFamily="34" charset="-122"/>
                <a:ea typeface="Microsoft YaHei UI" panose="020B0503020204020204" pitchFamily="34" charset="-122"/>
              </a:rPr>
              <a:t>config.gpu_options.visible_device_list</a:t>
            </a:r>
            <a:r>
              <a:rPr lang="en-US" sz="1600" dirty="0">
                <a:solidFill>
                  <a:srgbClr val="00B050"/>
                </a:solidFill>
                <a:latin typeface="Microsoft YaHei UI" panose="020B0503020204020204" pitchFamily="34" charset="-122"/>
                <a:ea typeface="Microsoft YaHei UI" panose="020B0503020204020204" pitchFamily="34" charset="-122"/>
              </a:rPr>
              <a:t> </a:t>
            </a:r>
          </a:p>
          <a:p>
            <a:r>
              <a:rPr lang="en-US" sz="1600" dirty="0">
                <a:solidFill>
                  <a:srgbClr val="00B050"/>
                </a:solidFill>
                <a:latin typeface="Microsoft YaHei UI" panose="020B0503020204020204" pitchFamily="34" charset="-122"/>
                <a:ea typeface="Microsoft YaHei UI" panose="020B0503020204020204" pitchFamily="34" charset="-122"/>
              </a:rPr>
              <a:t>= </a:t>
            </a:r>
            <a:r>
              <a:rPr lang="en-US" sz="1600" dirty="0" err="1">
                <a:solidFill>
                  <a:srgbClr val="00B050"/>
                </a:solidFill>
                <a:latin typeface="Microsoft YaHei UI" panose="020B0503020204020204" pitchFamily="34" charset="-122"/>
                <a:ea typeface="Microsoft YaHei UI" panose="020B0503020204020204" pitchFamily="34" charset="-122"/>
              </a:rPr>
              <a:t>str</a:t>
            </a:r>
            <a:r>
              <a:rPr lang="en-US" sz="1600" dirty="0">
                <a:solidFill>
                  <a:srgbClr val="00B050"/>
                </a:solidFill>
                <a:latin typeface="Microsoft YaHei UI" panose="020B0503020204020204" pitchFamily="34" charset="-122"/>
                <a:ea typeface="Microsoft YaHei UI" panose="020B0503020204020204" pitchFamily="34" charset="-122"/>
              </a:rPr>
              <a:t>(</a:t>
            </a:r>
            <a:r>
              <a:rPr lang="en-US" sz="1600" dirty="0" err="1">
                <a:solidFill>
                  <a:srgbClr val="00B050"/>
                </a:solidFill>
                <a:latin typeface="Microsoft YaHei UI" panose="020B0503020204020204" pitchFamily="34" charset="-122"/>
                <a:ea typeface="Microsoft YaHei UI" panose="020B0503020204020204" pitchFamily="34" charset="-122"/>
              </a:rPr>
              <a:t>hvd.local_rank</a:t>
            </a:r>
            <a:r>
              <a:rPr lang="en-US" sz="1600" dirty="0">
                <a:solidFill>
                  <a:srgbClr val="00B050"/>
                </a:solidFill>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r>
              <a:rPr lang="en-US" sz="1600" dirty="0">
                <a:solidFill>
                  <a:srgbClr val="00B050"/>
                </a:solidFill>
                <a:latin typeface="Microsoft YaHei UI" panose="020B0503020204020204" pitchFamily="34" charset="-122"/>
                <a:ea typeface="Microsoft YaHei UI" panose="020B0503020204020204" pitchFamily="34" charset="-122"/>
              </a:rPr>
              <a:t>if </a:t>
            </a:r>
            <a:r>
              <a:rPr lang="en-US" sz="1600" dirty="0" err="1">
                <a:solidFill>
                  <a:srgbClr val="00B050"/>
                </a:solidFill>
                <a:latin typeface="Microsoft YaHei UI" panose="020B0503020204020204" pitchFamily="34" charset="-122"/>
                <a:ea typeface="Microsoft YaHei UI" panose="020B0503020204020204" pitchFamily="34" charset="-122"/>
              </a:rPr>
              <a:t>hvd.rank</a:t>
            </a:r>
            <a:r>
              <a:rPr lang="en-US" sz="1600" dirty="0">
                <a:solidFill>
                  <a:srgbClr val="00B050"/>
                </a:solidFill>
                <a:latin typeface="Microsoft YaHei UI" panose="020B0503020204020204" pitchFamily="34" charset="-122"/>
                <a:ea typeface="Microsoft YaHei UI" panose="020B0503020204020204" pitchFamily="34" charset="-122"/>
              </a:rPr>
              <a:t>() == 0:</a:t>
            </a:r>
          </a:p>
          <a:p>
            <a:r>
              <a:rPr lang="en-US" sz="1600" dirty="0">
                <a:solidFill>
                  <a:srgbClr val="00B050"/>
                </a:solidFill>
                <a:latin typeface="Microsoft YaHei UI" panose="020B0503020204020204" pitchFamily="34" charset="-122"/>
                <a:ea typeface="Microsoft YaHei UI" panose="020B0503020204020204" pitchFamily="34" charset="-122"/>
              </a:rPr>
              <a:t>	read_chunk_0</a:t>
            </a:r>
          </a:p>
          <a:p>
            <a:r>
              <a:rPr lang="en-US" sz="1600" dirty="0">
                <a:solidFill>
                  <a:srgbClr val="00B050"/>
                </a:solidFill>
                <a:latin typeface="Microsoft YaHei UI" panose="020B0503020204020204" pitchFamily="34" charset="-122"/>
                <a:ea typeface="Microsoft YaHei UI" panose="020B0503020204020204" pitchFamily="34" charset="-122"/>
              </a:rPr>
              <a:t>else:</a:t>
            </a:r>
          </a:p>
          <a:p>
            <a:r>
              <a:rPr lang="en-US" sz="1600" dirty="0">
                <a:solidFill>
                  <a:srgbClr val="00B050"/>
                </a:solidFill>
                <a:latin typeface="Microsoft YaHei UI" panose="020B0503020204020204" pitchFamily="34" charset="-122"/>
                <a:ea typeface="Microsoft YaHei UI" panose="020B0503020204020204" pitchFamily="34" charset="-122"/>
              </a:rPr>
              <a:t>	</a:t>
            </a:r>
            <a:r>
              <a:rPr lang="en-US" sz="1600" dirty="0" err="1">
                <a:solidFill>
                  <a:srgbClr val="00B050"/>
                </a:solidFill>
                <a:latin typeface="Microsoft YaHei UI" panose="020B0503020204020204" pitchFamily="34" charset="-122"/>
                <a:ea typeface="Microsoft YaHei UI" panose="020B0503020204020204" pitchFamily="34" charset="-122"/>
              </a:rPr>
              <a:t>read_chunk_n</a:t>
            </a:r>
            <a:r>
              <a:rPr lang="en-US" sz="1600" dirty="0">
                <a:solidFill>
                  <a:srgbClr val="00B050"/>
                </a:solidFill>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endParaRPr lang="en-US" sz="1600" dirty="0">
              <a:latin typeface="Microsoft YaHei UI" panose="020B0503020204020204" pitchFamily="34" charset="-122"/>
              <a:ea typeface="Microsoft YaHei UI" panose="020B0503020204020204" pitchFamily="34" charset="-122"/>
            </a:endParaRPr>
          </a:p>
          <a:p>
            <a:r>
              <a:rPr lang="en-US" sz="1600" dirty="0">
                <a:latin typeface="Microsoft YaHei UI" panose="020B0503020204020204" pitchFamily="34" charset="-122"/>
                <a:ea typeface="Microsoft YaHei UI" panose="020B0503020204020204" pitchFamily="34" charset="-122"/>
              </a:rPr>
              <a:t>loss = ...</a:t>
            </a:r>
          </a:p>
          <a:p>
            <a:r>
              <a:rPr lang="en-US" sz="1600" dirty="0">
                <a:solidFill>
                  <a:srgbClr val="00B050"/>
                </a:solidFill>
                <a:latin typeface="Microsoft YaHei UI" panose="020B0503020204020204" pitchFamily="34" charset="-122"/>
                <a:ea typeface="Microsoft YaHei UI" panose="020B0503020204020204" pitchFamily="34" charset="-122"/>
              </a:rPr>
              <a:t>opt = </a:t>
            </a:r>
            <a:r>
              <a:rPr lang="en-US" sz="1600" dirty="0" err="1">
                <a:solidFill>
                  <a:srgbClr val="00B050"/>
                </a:solidFill>
                <a:latin typeface="Microsoft YaHei UI" panose="020B0503020204020204" pitchFamily="34" charset="-122"/>
                <a:ea typeface="Microsoft YaHei UI" panose="020B0503020204020204" pitchFamily="34" charset="-122"/>
              </a:rPr>
              <a:t>tf.train.AdamOptimizer</a:t>
            </a:r>
            <a:r>
              <a:rPr lang="en-US" sz="1600" dirty="0">
                <a:solidFill>
                  <a:srgbClr val="00B050"/>
                </a:solidFill>
                <a:latin typeface="Microsoft YaHei UI" panose="020B0503020204020204" pitchFamily="34" charset="-122"/>
                <a:ea typeface="Microsoft YaHei UI" panose="020B0503020204020204" pitchFamily="34" charset="-122"/>
              </a:rPr>
              <a:t>(</a:t>
            </a:r>
            <a:r>
              <a:rPr lang="en-US" sz="1600" dirty="0" err="1">
                <a:solidFill>
                  <a:srgbClr val="00B050"/>
                </a:solidFill>
                <a:latin typeface="Microsoft YaHei UI" panose="020B0503020204020204" pitchFamily="34" charset="-122"/>
                <a:ea typeface="Microsoft YaHei UI" panose="020B0503020204020204" pitchFamily="34" charset="-122"/>
              </a:rPr>
              <a:t>learning_rate</a:t>
            </a:r>
            <a:r>
              <a:rPr lang="en-US" sz="1600" dirty="0">
                <a:solidFill>
                  <a:srgbClr val="00B050"/>
                </a:solidFill>
                <a:latin typeface="Microsoft YaHei UI" panose="020B0503020204020204" pitchFamily="34" charset="-122"/>
                <a:ea typeface="Microsoft YaHei UI" panose="020B0503020204020204" pitchFamily="34" charset="-122"/>
              </a:rPr>
              <a:t> * </a:t>
            </a:r>
            <a:r>
              <a:rPr lang="en-US" sz="1600" dirty="0" err="1">
                <a:solidFill>
                  <a:srgbClr val="00B050"/>
                </a:solidFill>
                <a:latin typeface="Microsoft YaHei UI" panose="020B0503020204020204" pitchFamily="34" charset="-122"/>
                <a:ea typeface="Microsoft YaHei UI" panose="020B0503020204020204" pitchFamily="34" charset="-122"/>
              </a:rPr>
              <a:t>hvd.size</a:t>
            </a:r>
            <a:r>
              <a:rPr lang="en-US" sz="1600" dirty="0">
                <a:solidFill>
                  <a:srgbClr val="00B050"/>
                </a:solidFill>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r>
              <a:rPr lang="en-US" sz="1600" dirty="0">
                <a:solidFill>
                  <a:srgbClr val="00B050"/>
                </a:solidFill>
                <a:latin typeface="Microsoft YaHei UI" panose="020B0503020204020204" pitchFamily="34" charset="-122"/>
                <a:ea typeface="Microsoft YaHei UI" panose="020B0503020204020204" pitchFamily="34" charset="-122"/>
              </a:rPr>
              <a:t>opt = </a:t>
            </a:r>
            <a:r>
              <a:rPr lang="en-US" sz="1600" dirty="0" err="1">
                <a:solidFill>
                  <a:srgbClr val="00B050"/>
                </a:solidFill>
                <a:latin typeface="Microsoft YaHei UI" panose="020B0503020204020204" pitchFamily="34" charset="-122"/>
                <a:ea typeface="Microsoft YaHei UI" panose="020B0503020204020204" pitchFamily="34" charset="-122"/>
              </a:rPr>
              <a:t>hvd.DistributedOptimizer</a:t>
            </a:r>
            <a:r>
              <a:rPr lang="en-US" sz="1600" dirty="0">
                <a:solidFill>
                  <a:srgbClr val="00B050"/>
                </a:solidFill>
                <a:latin typeface="Microsoft YaHei UI" panose="020B0503020204020204" pitchFamily="34" charset="-122"/>
                <a:ea typeface="Microsoft YaHei UI" panose="020B0503020204020204" pitchFamily="34" charset="-122"/>
              </a:rPr>
              <a:t>(opt)</a:t>
            </a:r>
          </a:p>
          <a:p>
            <a:endParaRPr lang="en-US" sz="1600" dirty="0">
              <a:latin typeface="Microsoft YaHei UI" panose="020B0503020204020204" pitchFamily="34" charset="-122"/>
              <a:ea typeface="Microsoft YaHei UI" panose="020B0503020204020204" pitchFamily="34" charset="-122"/>
            </a:endParaRPr>
          </a:p>
          <a:p>
            <a:r>
              <a:rPr lang="en-US" sz="1600" dirty="0">
                <a:latin typeface="Microsoft YaHei UI" panose="020B0503020204020204" pitchFamily="34" charset="-122"/>
                <a:ea typeface="Microsoft YaHei UI" panose="020B0503020204020204" pitchFamily="34" charset="-122"/>
              </a:rPr>
              <a:t>train = </a:t>
            </a:r>
            <a:r>
              <a:rPr lang="en-US" sz="1600" dirty="0" err="1">
                <a:latin typeface="Microsoft YaHei UI" panose="020B0503020204020204" pitchFamily="34" charset="-122"/>
                <a:ea typeface="Microsoft YaHei UI" panose="020B0503020204020204" pitchFamily="34" charset="-122"/>
              </a:rPr>
              <a:t>opt.minimize</a:t>
            </a:r>
            <a:r>
              <a:rPr lang="en-US" sz="1600" dirty="0">
                <a:latin typeface="Microsoft YaHei UI" panose="020B0503020204020204" pitchFamily="34" charset="-122"/>
                <a:ea typeface="Microsoft YaHei UI" panose="020B0503020204020204" pitchFamily="34" charset="-122"/>
              </a:rPr>
              <a:t>(loss)</a:t>
            </a:r>
          </a:p>
        </p:txBody>
      </p:sp>
      <p:sp>
        <p:nvSpPr>
          <p:cNvPr id="17" name="文本框 16"/>
          <p:cNvSpPr txBox="1"/>
          <p:nvPr/>
        </p:nvSpPr>
        <p:spPr>
          <a:xfrm>
            <a:off x="4668985" y="820790"/>
            <a:ext cx="4793670" cy="2308324"/>
          </a:xfrm>
          <a:prstGeom prst="rect">
            <a:avLst/>
          </a:prstGeom>
          <a:noFill/>
        </p:spPr>
        <p:txBody>
          <a:bodyPr wrap="square" rtlCol="0">
            <a:spAutoFit/>
          </a:bodyPr>
          <a:lstStyle/>
          <a:p>
            <a:r>
              <a:rPr lang="en-US" sz="1600" dirty="0" err="1">
                <a:latin typeface="Microsoft YaHei UI" panose="020B0503020204020204" pitchFamily="34" charset="-122"/>
                <a:ea typeface="Microsoft YaHei UI" panose="020B0503020204020204" pitchFamily="34" charset="-122"/>
              </a:rPr>
              <a:t>init</a:t>
            </a:r>
            <a:r>
              <a:rPr lang="en-US" sz="1600" dirty="0">
                <a:latin typeface="Microsoft YaHei UI" panose="020B0503020204020204" pitchFamily="34" charset="-122"/>
                <a:ea typeface="Microsoft YaHei UI" panose="020B0503020204020204" pitchFamily="34" charset="-122"/>
              </a:rPr>
              <a:t> = </a:t>
            </a:r>
            <a:r>
              <a:rPr lang="en-US" sz="1600" dirty="0" err="1">
                <a:latin typeface="Microsoft YaHei UI" panose="020B0503020204020204" pitchFamily="34" charset="-122"/>
                <a:ea typeface="Microsoft YaHei UI" panose="020B0503020204020204" pitchFamily="34" charset="-122"/>
              </a:rPr>
              <a:t>tf.global_variables_initializer</a:t>
            </a:r>
            <a:r>
              <a:rPr lang="en-US" sz="1600" dirty="0">
                <a:latin typeface="Microsoft YaHei UI" panose="020B0503020204020204" pitchFamily="34" charset="-122"/>
                <a:ea typeface="Microsoft YaHei UI" panose="020B0503020204020204" pitchFamily="34" charset="-122"/>
              </a:rPr>
              <a:t>()</a:t>
            </a:r>
          </a:p>
          <a:p>
            <a:r>
              <a:rPr lang="en-US" sz="1600" dirty="0" err="1">
                <a:latin typeface="Microsoft YaHei UI" panose="020B0503020204020204" pitchFamily="34" charset="-122"/>
                <a:ea typeface="Microsoft YaHei UI" panose="020B0503020204020204" pitchFamily="34" charset="-122"/>
              </a:rPr>
              <a:t>sess.run</a:t>
            </a:r>
            <a:r>
              <a:rPr lang="en-US" sz="1600" dirty="0">
                <a:latin typeface="Microsoft YaHei UI" panose="020B0503020204020204" pitchFamily="34" charset="-122"/>
                <a:ea typeface="Microsoft YaHei UI" panose="020B0503020204020204" pitchFamily="34" charset="-122"/>
              </a:rPr>
              <a:t>(</a:t>
            </a:r>
            <a:r>
              <a:rPr lang="en-US" sz="1600" dirty="0" err="1">
                <a:latin typeface="Microsoft YaHei UI" panose="020B0503020204020204" pitchFamily="34" charset="-122"/>
                <a:ea typeface="Microsoft YaHei UI" panose="020B0503020204020204" pitchFamily="34" charset="-122"/>
              </a:rPr>
              <a:t>init</a:t>
            </a:r>
            <a:r>
              <a:rPr lang="en-US" sz="1600" dirty="0">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endParaRPr lang="en-US" sz="1600" dirty="0">
              <a:latin typeface="Microsoft YaHei UI" panose="020B0503020204020204" pitchFamily="34" charset="-122"/>
              <a:ea typeface="Microsoft YaHei UI" panose="020B0503020204020204" pitchFamily="34" charset="-122"/>
            </a:endParaRPr>
          </a:p>
          <a:p>
            <a:r>
              <a:rPr lang="en-US" sz="1600" dirty="0" err="1">
                <a:solidFill>
                  <a:srgbClr val="00B050"/>
                </a:solidFill>
                <a:latin typeface="Microsoft YaHei UI" panose="020B0503020204020204" pitchFamily="34" charset="-122"/>
                <a:ea typeface="Microsoft YaHei UI" panose="020B0503020204020204" pitchFamily="34" charset="-122"/>
              </a:rPr>
              <a:t>bcast</a:t>
            </a:r>
            <a:r>
              <a:rPr lang="en-US" sz="1600" dirty="0">
                <a:solidFill>
                  <a:srgbClr val="00B050"/>
                </a:solidFill>
                <a:latin typeface="Microsoft YaHei UI" panose="020B0503020204020204" pitchFamily="34" charset="-122"/>
                <a:ea typeface="Microsoft YaHei UI" panose="020B0503020204020204" pitchFamily="34" charset="-122"/>
              </a:rPr>
              <a:t> = </a:t>
            </a:r>
            <a:r>
              <a:rPr lang="en-US" sz="1600" dirty="0" err="1">
                <a:solidFill>
                  <a:srgbClr val="00B050"/>
                </a:solidFill>
                <a:latin typeface="Microsoft YaHei UI" panose="020B0503020204020204" pitchFamily="34" charset="-122"/>
                <a:ea typeface="Microsoft YaHei UI" panose="020B0503020204020204" pitchFamily="34" charset="-122"/>
              </a:rPr>
              <a:t>hvd.broadcast_global_variables</a:t>
            </a:r>
            <a:r>
              <a:rPr lang="en-US" sz="1600" dirty="0">
                <a:solidFill>
                  <a:srgbClr val="00B050"/>
                </a:solidFill>
                <a:latin typeface="Microsoft YaHei UI" panose="020B0503020204020204" pitchFamily="34" charset="-122"/>
                <a:ea typeface="Microsoft YaHei UI" panose="020B0503020204020204" pitchFamily="34" charset="-122"/>
              </a:rPr>
              <a:t>(0)</a:t>
            </a:r>
          </a:p>
          <a:p>
            <a:r>
              <a:rPr lang="en-US" sz="1600" dirty="0" err="1">
                <a:solidFill>
                  <a:srgbClr val="00B050"/>
                </a:solidFill>
                <a:latin typeface="Microsoft YaHei UI" panose="020B0503020204020204" pitchFamily="34" charset="-122"/>
                <a:ea typeface="Microsoft YaHei UI" panose="020B0503020204020204" pitchFamily="34" charset="-122"/>
              </a:rPr>
              <a:t>sess.run</a:t>
            </a:r>
            <a:r>
              <a:rPr lang="en-US" sz="1600" dirty="0">
                <a:solidFill>
                  <a:srgbClr val="00B050"/>
                </a:solidFill>
                <a:latin typeface="Microsoft YaHei UI" panose="020B0503020204020204" pitchFamily="34" charset="-122"/>
                <a:ea typeface="Microsoft YaHei UI" panose="020B0503020204020204" pitchFamily="34" charset="-122"/>
              </a:rPr>
              <a:t>(</a:t>
            </a:r>
            <a:r>
              <a:rPr lang="en-US" sz="1600" dirty="0" err="1">
                <a:solidFill>
                  <a:srgbClr val="00B050"/>
                </a:solidFill>
                <a:latin typeface="Microsoft YaHei UI" panose="020B0503020204020204" pitchFamily="34" charset="-122"/>
                <a:ea typeface="Microsoft YaHei UI" panose="020B0503020204020204" pitchFamily="34" charset="-122"/>
              </a:rPr>
              <a:t>bcast</a:t>
            </a:r>
            <a:r>
              <a:rPr lang="en-US" sz="1600" dirty="0">
                <a:solidFill>
                  <a:srgbClr val="00B050"/>
                </a:solidFill>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r>
              <a:rPr lang="en-US" sz="1600" dirty="0">
                <a:latin typeface="Microsoft YaHei UI" panose="020B0503020204020204" pitchFamily="34" charset="-122"/>
                <a:ea typeface="Microsoft YaHei UI" panose="020B0503020204020204" pitchFamily="34" charset="-122"/>
              </a:rPr>
              <a:t>while </a:t>
            </a:r>
            <a:r>
              <a:rPr lang="en-US" sz="1600" dirty="0" err="1">
                <a:latin typeface="Microsoft YaHei UI" panose="020B0503020204020204" pitchFamily="34" charset="-122"/>
                <a:ea typeface="Microsoft YaHei UI" panose="020B0503020204020204" pitchFamily="34" charset="-122"/>
              </a:rPr>
              <a:t>train_step</a:t>
            </a:r>
            <a:r>
              <a:rPr lang="en-US" sz="1600" dirty="0">
                <a:latin typeface="Microsoft YaHei UI" panose="020B0503020204020204" pitchFamily="34" charset="-122"/>
                <a:ea typeface="Microsoft YaHei UI" panose="020B0503020204020204" pitchFamily="34" charset="-122"/>
              </a:rPr>
              <a:t> &lt; </a:t>
            </a:r>
            <a:r>
              <a:rPr lang="en-US" sz="1600" dirty="0" err="1">
                <a:latin typeface="Microsoft YaHei UI" panose="020B0503020204020204" pitchFamily="34" charset="-122"/>
                <a:ea typeface="Microsoft YaHei UI" panose="020B0503020204020204" pitchFamily="34" charset="-122"/>
              </a:rPr>
              <a:t>step_max</a:t>
            </a:r>
            <a:r>
              <a:rPr lang="en-US" sz="1600" dirty="0">
                <a:latin typeface="Microsoft YaHei UI" panose="020B0503020204020204" pitchFamily="34" charset="-122"/>
                <a:ea typeface="Microsoft YaHei UI" panose="020B0503020204020204" pitchFamily="34" charset="-122"/>
              </a:rPr>
              <a:t>:</a:t>
            </a:r>
          </a:p>
          <a:p>
            <a:r>
              <a:rPr lang="en-US" sz="1600" dirty="0">
                <a:latin typeface="Microsoft YaHei UI" panose="020B0503020204020204" pitchFamily="34" charset="-122"/>
                <a:ea typeface="Microsoft YaHei UI" panose="020B0503020204020204" pitchFamily="34" charset="-122"/>
              </a:rPr>
              <a:t>	</a:t>
            </a:r>
            <a:r>
              <a:rPr lang="en-US" sz="1600" dirty="0" err="1">
                <a:latin typeface="Microsoft YaHei UI" panose="020B0503020204020204" pitchFamily="34" charset="-122"/>
                <a:ea typeface="Microsoft YaHei UI" panose="020B0503020204020204" pitchFamily="34" charset="-122"/>
              </a:rPr>
              <a:t>sess.run</a:t>
            </a:r>
            <a:r>
              <a:rPr lang="en-US" sz="1600" dirty="0">
                <a:latin typeface="Microsoft YaHei UI" panose="020B0503020204020204" pitchFamily="34" charset="-122"/>
                <a:ea typeface="Microsoft YaHei UI" panose="020B0503020204020204" pitchFamily="34" charset="-122"/>
              </a:rPr>
              <a:t>([train, loss], </a:t>
            </a:r>
            <a:r>
              <a:rPr lang="en-US" sz="1600" dirty="0" err="1">
                <a:latin typeface="Microsoft YaHei UI" panose="020B0503020204020204" pitchFamily="34" charset="-122"/>
                <a:ea typeface="Microsoft YaHei UI" panose="020B0503020204020204" pitchFamily="34" charset="-122"/>
              </a:rPr>
              <a:t>feed_dict</a:t>
            </a:r>
            <a:r>
              <a:rPr lang="en-US" sz="1600" dirty="0">
                <a:latin typeface="Microsoft YaHei UI" panose="020B0503020204020204" pitchFamily="34" charset="-122"/>
                <a:ea typeface="Microsoft YaHei UI" panose="020B0503020204020204" pitchFamily="34" charset="-122"/>
              </a:rPr>
              <a:t>=…) </a:t>
            </a:r>
          </a:p>
        </p:txBody>
      </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54111" y="5781964"/>
            <a:ext cx="1076036" cy="1076036"/>
          </a:xfrm>
          <a:prstGeom prst="rect">
            <a:avLst/>
          </a:prstGeom>
        </p:spPr>
      </p:pic>
      <p:sp>
        <p:nvSpPr>
          <p:cNvPr id="2" name="文本框 1"/>
          <p:cNvSpPr txBox="1"/>
          <p:nvPr/>
        </p:nvSpPr>
        <p:spPr>
          <a:xfrm>
            <a:off x="3556000" y="1016000"/>
            <a:ext cx="498764" cy="461665"/>
          </a:xfrm>
          <a:prstGeom prst="rect">
            <a:avLst/>
          </a:prstGeom>
          <a:noFill/>
        </p:spPr>
        <p:txBody>
          <a:bodyPr wrap="square" rtlCol="0">
            <a:spAutoFit/>
          </a:bodyPr>
          <a:lstStyle/>
          <a:p>
            <a:pPr algn="ctr"/>
            <a:r>
              <a:rPr lang="en-US" sz="2400" dirty="0">
                <a:solidFill>
                  <a:srgbClr val="3333FD"/>
                </a:solidFill>
                <a:latin typeface="Microsoft YaHei UI" panose="020B0503020204020204" pitchFamily="34" charset="-122"/>
                <a:ea typeface="Microsoft YaHei UI" panose="020B0503020204020204" pitchFamily="34" charset="-122"/>
              </a:rPr>
              <a:t>1</a:t>
            </a:r>
          </a:p>
        </p:txBody>
      </p:sp>
      <p:sp>
        <p:nvSpPr>
          <p:cNvPr id="7" name="文本框 6"/>
          <p:cNvSpPr txBox="1"/>
          <p:nvPr/>
        </p:nvSpPr>
        <p:spPr>
          <a:xfrm>
            <a:off x="955965" y="1513287"/>
            <a:ext cx="498764" cy="461665"/>
          </a:xfrm>
          <a:prstGeom prst="rect">
            <a:avLst/>
          </a:prstGeom>
          <a:noFill/>
        </p:spPr>
        <p:txBody>
          <a:bodyPr wrap="square" rtlCol="0">
            <a:spAutoFit/>
          </a:bodyPr>
          <a:lstStyle/>
          <a:p>
            <a:pPr algn="ctr"/>
            <a:r>
              <a:rPr lang="en-US" sz="2400" dirty="0">
                <a:solidFill>
                  <a:srgbClr val="3333FD"/>
                </a:solidFill>
                <a:latin typeface="Microsoft YaHei UI" panose="020B0503020204020204" pitchFamily="34" charset="-122"/>
                <a:ea typeface="Microsoft YaHei UI" panose="020B0503020204020204" pitchFamily="34" charset="-122"/>
              </a:rPr>
              <a:t>2</a:t>
            </a:r>
          </a:p>
        </p:txBody>
      </p:sp>
      <p:sp>
        <p:nvSpPr>
          <p:cNvPr id="9" name="文本框 8"/>
          <p:cNvSpPr txBox="1"/>
          <p:nvPr/>
        </p:nvSpPr>
        <p:spPr>
          <a:xfrm>
            <a:off x="3699163" y="2667449"/>
            <a:ext cx="498764" cy="461665"/>
          </a:xfrm>
          <a:prstGeom prst="rect">
            <a:avLst/>
          </a:prstGeom>
          <a:noFill/>
        </p:spPr>
        <p:txBody>
          <a:bodyPr wrap="square" rtlCol="0">
            <a:spAutoFit/>
          </a:bodyPr>
          <a:lstStyle/>
          <a:p>
            <a:pPr algn="ctr"/>
            <a:r>
              <a:rPr lang="en-US" sz="2400" dirty="0">
                <a:solidFill>
                  <a:srgbClr val="3333FD"/>
                </a:solidFill>
                <a:latin typeface="Microsoft YaHei UI" panose="020B0503020204020204" pitchFamily="34" charset="-122"/>
                <a:ea typeface="Microsoft YaHei UI" panose="020B0503020204020204" pitchFamily="34" charset="-122"/>
              </a:rPr>
              <a:t>3</a:t>
            </a:r>
          </a:p>
        </p:txBody>
      </p:sp>
      <p:sp>
        <p:nvSpPr>
          <p:cNvPr id="10" name="文本框 9"/>
          <p:cNvSpPr txBox="1"/>
          <p:nvPr/>
        </p:nvSpPr>
        <p:spPr>
          <a:xfrm>
            <a:off x="2673928" y="3625272"/>
            <a:ext cx="498764" cy="461665"/>
          </a:xfrm>
          <a:prstGeom prst="rect">
            <a:avLst/>
          </a:prstGeom>
          <a:noFill/>
        </p:spPr>
        <p:txBody>
          <a:bodyPr wrap="square" rtlCol="0">
            <a:spAutoFit/>
          </a:bodyPr>
          <a:lstStyle/>
          <a:p>
            <a:pPr algn="ctr"/>
            <a:r>
              <a:rPr lang="en-US" sz="2400" dirty="0">
                <a:solidFill>
                  <a:srgbClr val="3333FD"/>
                </a:solidFill>
                <a:latin typeface="Microsoft YaHei UI" panose="020B0503020204020204" pitchFamily="34" charset="-122"/>
                <a:ea typeface="Microsoft YaHei UI" panose="020B0503020204020204" pitchFamily="34" charset="-122"/>
              </a:rPr>
              <a:t>4</a:t>
            </a:r>
          </a:p>
        </p:txBody>
      </p:sp>
      <p:sp>
        <p:nvSpPr>
          <p:cNvPr id="11" name="文本框 10"/>
          <p:cNvSpPr txBox="1"/>
          <p:nvPr/>
        </p:nvSpPr>
        <p:spPr>
          <a:xfrm>
            <a:off x="4548910" y="4932217"/>
            <a:ext cx="498764" cy="461665"/>
          </a:xfrm>
          <a:prstGeom prst="rect">
            <a:avLst/>
          </a:prstGeom>
          <a:noFill/>
        </p:spPr>
        <p:txBody>
          <a:bodyPr wrap="square" rtlCol="0">
            <a:spAutoFit/>
          </a:bodyPr>
          <a:lstStyle/>
          <a:p>
            <a:pPr algn="ctr"/>
            <a:r>
              <a:rPr lang="en-US" sz="2400" dirty="0">
                <a:solidFill>
                  <a:srgbClr val="3333FD"/>
                </a:solidFill>
                <a:latin typeface="Microsoft YaHei UI" panose="020B0503020204020204" pitchFamily="34" charset="-122"/>
                <a:ea typeface="Microsoft YaHei UI" panose="020B0503020204020204" pitchFamily="34" charset="-122"/>
              </a:rPr>
              <a:t>5</a:t>
            </a:r>
          </a:p>
        </p:txBody>
      </p:sp>
      <p:sp>
        <p:nvSpPr>
          <p:cNvPr id="12" name="文本框 11"/>
          <p:cNvSpPr txBox="1"/>
          <p:nvPr/>
        </p:nvSpPr>
        <p:spPr>
          <a:xfrm>
            <a:off x="4548910" y="5643417"/>
            <a:ext cx="498764" cy="461665"/>
          </a:xfrm>
          <a:prstGeom prst="rect">
            <a:avLst/>
          </a:prstGeom>
          <a:noFill/>
        </p:spPr>
        <p:txBody>
          <a:bodyPr wrap="square" rtlCol="0">
            <a:spAutoFit/>
          </a:bodyPr>
          <a:lstStyle/>
          <a:p>
            <a:pPr algn="ctr"/>
            <a:r>
              <a:rPr lang="en-US" sz="2400" dirty="0">
                <a:solidFill>
                  <a:srgbClr val="3333FD"/>
                </a:solidFill>
                <a:latin typeface="Microsoft YaHei UI" panose="020B0503020204020204" pitchFamily="34" charset="-122"/>
                <a:ea typeface="Microsoft YaHei UI" panose="020B0503020204020204" pitchFamily="34" charset="-122"/>
              </a:rPr>
              <a:t>6</a:t>
            </a:r>
          </a:p>
        </p:txBody>
      </p:sp>
      <p:sp>
        <p:nvSpPr>
          <p:cNvPr id="13" name="文本框 12"/>
          <p:cNvSpPr txBox="1"/>
          <p:nvPr/>
        </p:nvSpPr>
        <p:spPr>
          <a:xfrm>
            <a:off x="4299528" y="1851730"/>
            <a:ext cx="498764" cy="461665"/>
          </a:xfrm>
          <a:prstGeom prst="rect">
            <a:avLst/>
          </a:prstGeom>
          <a:noFill/>
        </p:spPr>
        <p:txBody>
          <a:bodyPr wrap="square" rtlCol="0">
            <a:spAutoFit/>
          </a:bodyPr>
          <a:lstStyle/>
          <a:p>
            <a:pPr algn="ctr"/>
            <a:r>
              <a:rPr lang="en-US" sz="2400" dirty="0">
                <a:solidFill>
                  <a:srgbClr val="3333FD"/>
                </a:solidFill>
                <a:latin typeface="Microsoft YaHei UI" panose="020B0503020204020204" pitchFamily="34" charset="-122"/>
                <a:ea typeface="Microsoft YaHei UI" panose="020B0503020204020204" pitchFamily="34" charset="-122"/>
              </a:rPr>
              <a:t>7</a:t>
            </a:r>
          </a:p>
        </p:txBody>
      </p:sp>
    </p:spTree>
    <p:extLst>
      <p:ext uri="{BB962C8B-B14F-4D97-AF65-F5344CB8AC3E}">
        <p14:creationId xmlns:p14="http://schemas.microsoft.com/office/powerpoint/2010/main" val="2143369464"/>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FF"/>
              </a:buClr>
            </a:pPr>
            <a:r>
              <a:rPr lang="en-US" sz="2400" b="1" dirty="0">
                <a:solidFill>
                  <a:srgbClr val="C00000"/>
                </a:solidFill>
                <a:latin typeface="Microsoft YaHei UI" panose="020B0503020204020204" pitchFamily="34" charset="-122"/>
                <a:ea typeface="Microsoft YaHei UI" panose="020B0503020204020204" pitchFamily="34" charset="-122"/>
              </a:rPr>
              <a:t>How to use </a:t>
            </a:r>
            <a:r>
              <a:rPr lang="en-US" sz="2400" b="1" dirty="0" err="1">
                <a:solidFill>
                  <a:srgbClr val="C00000"/>
                </a:solidFill>
                <a:latin typeface="Microsoft YaHei UI" panose="020B0503020204020204" pitchFamily="34" charset="-122"/>
                <a:ea typeface="Microsoft YaHei UI" panose="020B0503020204020204" pitchFamily="34" charset="-122"/>
              </a:rPr>
              <a:t>Horovod</a:t>
            </a:r>
            <a:r>
              <a:rPr lang="en-US" sz="2400" b="1" dirty="0">
                <a:solidFill>
                  <a:srgbClr val="C00000"/>
                </a:solidFill>
                <a:latin typeface="Microsoft YaHei UI" panose="020B0503020204020204" pitchFamily="34" charset="-122"/>
                <a:ea typeface="Microsoft YaHei UI" panose="020B0503020204020204" pitchFamily="34" charset="-122"/>
              </a:rPr>
              <a:t> – Ensemble training</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509" y="1359460"/>
            <a:ext cx="4815453" cy="4399412"/>
          </a:xfrm>
          <a:prstGeom prst="rect">
            <a:avLst/>
          </a:prstGeom>
        </p:spPr>
      </p:pic>
      <p:sp>
        <p:nvSpPr>
          <p:cNvPr id="3" name="文本框 2"/>
          <p:cNvSpPr txBox="1"/>
          <p:nvPr/>
        </p:nvSpPr>
        <p:spPr>
          <a:xfrm>
            <a:off x="5147961" y="1173018"/>
            <a:ext cx="4882729" cy="584775"/>
          </a:xfrm>
          <a:prstGeom prst="rect">
            <a:avLst/>
          </a:prstGeom>
          <a:noFill/>
        </p:spPr>
        <p:txBody>
          <a:bodyPr wrap="square" rtlCol="0">
            <a:spAutoFit/>
          </a:bodyPr>
          <a:lstStyle/>
          <a:p>
            <a:r>
              <a:rPr lang="en-US" sz="1600" dirty="0">
                <a:solidFill>
                  <a:srgbClr val="3333FD"/>
                </a:solidFill>
                <a:latin typeface="Microsoft YaHei UI" panose="020B0503020204020204" pitchFamily="34" charset="-122"/>
                <a:ea typeface="Microsoft YaHei UI" panose="020B0503020204020204" pitchFamily="34" charset="-122"/>
              </a:rPr>
              <a:t>1.</a:t>
            </a:r>
            <a:r>
              <a:rPr lang="en-US" sz="1600" dirty="0">
                <a:latin typeface="Microsoft YaHei UI" panose="020B0503020204020204" pitchFamily="34" charset="-122"/>
                <a:ea typeface="Microsoft YaHei UI" panose="020B0503020204020204" pitchFamily="34" charset="-122"/>
              </a:rPr>
              <a:t> Run multiple copies of the training </a:t>
            </a:r>
          </a:p>
          <a:p>
            <a:r>
              <a:rPr lang="en-US" sz="1600" dirty="0">
                <a:latin typeface="Microsoft YaHei UI" panose="020B0503020204020204" pitchFamily="34" charset="-122"/>
                <a:ea typeface="Microsoft YaHei UI" panose="020B0503020204020204" pitchFamily="34" charset="-122"/>
              </a:rPr>
              <a:t>    scripts, and each copy:</a:t>
            </a:r>
          </a:p>
        </p:txBody>
      </p:sp>
      <p:sp>
        <p:nvSpPr>
          <p:cNvPr id="4" name="文本框 3"/>
          <p:cNvSpPr txBox="1"/>
          <p:nvPr/>
        </p:nvSpPr>
        <p:spPr>
          <a:xfrm>
            <a:off x="5495636" y="1781151"/>
            <a:ext cx="2743200" cy="1157305"/>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600" dirty="0">
                <a:latin typeface="Microsoft YaHei UI" panose="020B0503020204020204" pitchFamily="34" charset="-122"/>
                <a:ea typeface="Microsoft YaHei UI" panose="020B0503020204020204" pitchFamily="34" charset="-122"/>
              </a:rPr>
              <a:t>Reads a chunk of data</a:t>
            </a:r>
          </a:p>
          <a:p>
            <a:pPr marL="285750" indent="-285750">
              <a:lnSpc>
                <a:spcPct val="150000"/>
              </a:lnSpc>
              <a:buFont typeface="Arial" panose="020B0604020202020204" pitchFamily="34" charset="0"/>
              <a:buChar char="•"/>
            </a:pPr>
            <a:r>
              <a:rPr lang="en-US" sz="1600" dirty="0">
                <a:latin typeface="Microsoft YaHei UI" panose="020B0503020204020204" pitchFamily="34" charset="-122"/>
                <a:ea typeface="Microsoft YaHei UI" panose="020B0503020204020204" pitchFamily="34" charset="-122"/>
              </a:rPr>
              <a:t>Train the model</a:t>
            </a:r>
          </a:p>
          <a:p>
            <a:pPr marL="285750" indent="-285750">
              <a:lnSpc>
                <a:spcPct val="150000"/>
              </a:lnSpc>
              <a:buFont typeface="Arial" panose="020B0604020202020204" pitchFamily="34" charset="0"/>
              <a:buChar char="•"/>
            </a:pPr>
            <a:r>
              <a:rPr lang="en-US" sz="1600" dirty="0">
                <a:latin typeface="Microsoft YaHei UI" panose="020B0503020204020204" pitchFamily="34" charset="-122"/>
                <a:ea typeface="Microsoft YaHei UI" panose="020B0503020204020204" pitchFamily="34" charset="-122"/>
              </a:rPr>
              <a:t>Compute the gradients</a:t>
            </a:r>
          </a:p>
        </p:txBody>
      </p:sp>
      <p:sp>
        <p:nvSpPr>
          <p:cNvPr id="10" name="文本框 9"/>
          <p:cNvSpPr txBox="1"/>
          <p:nvPr/>
        </p:nvSpPr>
        <p:spPr>
          <a:xfrm>
            <a:off x="5212616" y="3203223"/>
            <a:ext cx="4818074" cy="584775"/>
          </a:xfrm>
          <a:prstGeom prst="rect">
            <a:avLst/>
          </a:prstGeom>
          <a:noFill/>
        </p:spPr>
        <p:txBody>
          <a:bodyPr wrap="square" rtlCol="0">
            <a:spAutoFit/>
          </a:bodyPr>
          <a:lstStyle/>
          <a:p>
            <a:r>
              <a:rPr lang="en-US" sz="1600" dirty="0">
                <a:solidFill>
                  <a:srgbClr val="3338FD"/>
                </a:solidFill>
                <a:latin typeface="Microsoft YaHei UI" panose="020B0503020204020204" pitchFamily="34" charset="-122"/>
                <a:ea typeface="Microsoft YaHei UI" panose="020B0503020204020204" pitchFamily="34" charset="-122"/>
              </a:rPr>
              <a:t>2. </a:t>
            </a:r>
            <a:r>
              <a:rPr lang="en-US" sz="1600" dirty="0">
                <a:latin typeface="Microsoft YaHei UI" panose="020B0503020204020204" pitchFamily="34" charset="-122"/>
                <a:ea typeface="Microsoft YaHei UI" panose="020B0503020204020204" pitchFamily="34" charset="-122"/>
              </a:rPr>
              <a:t>Update the model using its </a:t>
            </a:r>
          </a:p>
          <a:p>
            <a:r>
              <a:rPr lang="en-US" sz="1600" dirty="0">
                <a:latin typeface="Microsoft YaHei UI" panose="020B0503020204020204" pitchFamily="34" charset="-122"/>
                <a:ea typeface="Microsoft YaHei UI" panose="020B0503020204020204" pitchFamily="34" charset="-122"/>
              </a:rPr>
              <a:t>    own gradient</a:t>
            </a:r>
          </a:p>
        </p:txBody>
      </p:sp>
      <p:sp>
        <p:nvSpPr>
          <p:cNvPr id="11" name="文本框 10"/>
          <p:cNvSpPr txBox="1"/>
          <p:nvPr/>
        </p:nvSpPr>
        <p:spPr>
          <a:xfrm>
            <a:off x="5212616" y="3883488"/>
            <a:ext cx="4818074" cy="338554"/>
          </a:xfrm>
          <a:prstGeom prst="rect">
            <a:avLst/>
          </a:prstGeom>
          <a:noFill/>
        </p:spPr>
        <p:txBody>
          <a:bodyPr wrap="square" rtlCol="0">
            <a:spAutoFit/>
          </a:bodyPr>
          <a:lstStyle/>
          <a:p>
            <a:r>
              <a:rPr lang="en-US" sz="1600" dirty="0">
                <a:solidFill>
                  <a:srgbClr val="3338FD"/>
                </a:solidFill>
                <a:latin typeface="Microsoft YaHei UI" panose="020B0503020204020204" pitchFamily="34" charset="-122"/>
                <a:ea typeface="Microsoft YaHei UI" panose="020B0503020204020204" pitchFamily="34" charset="-122"/>
              </a:rPr>
              <a:t>3. </a:t>
            </a:r>
            <a:r>
              <a:rPr lang="en-US" sz="1600" dirty="0">
                <a:latin typeface="Microsoft YaHei UI" panose="020B0503020204020204" pitchFamily="34" charset="-122"/>
                <a:ea typeface="Microsoft YaHei UI" panose="020B0503020204020204" pitchFamily="34" charset="-122"/>
              </a:rPr>
              <a:t>Repeat 1-2</a:t>
            </a:r>
          </a:p>
        </p:txBody>
      </p:sp>
      <p:sp>
        <p:nvSpPr>
          <p:cNvPr id="5" name="乘号 4"/>
          <p:cNvSpPr/>
          <p:nvPr/>
        </p:nvSpPr>
        <p:spPr>
          <a:xfrm>
            <a:off x="762002" y="3495561"/>
            <a:ext cx="397163" cy="387927"/>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乘号 12"/>
          <p:cNvSpPr/>
          <p:nvPr/>
        </p:nvSpPr>
        <p:spPr>
          <a:xfrm>
            <a:off x="762002" y="1610456"/>
            <a:ext cx="397163" cy="387927"/>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乘号 13"/>
          <p:cNvSpPr/>
          <p:nvPr/>
        </p:nvSpPr>
        <p:spPr>
          <a:xfrm>
            <a:off x="2403108" y="1971876"/>
            <a:ext cx="397163" cy="387927"/>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乘号 14"/>
          <p:cNvSpPr/>
          <p:nvPr/>
        </p:nvSpPr>
        <p:spPr>
          <a:xfrm>
            <a:off x="4236527" y="1998383"/>
            <a:ext cx="397163" cy="387927"/>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4090481"/>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FF"/>
              </a:buClr>
            </a:pPr>
            <a:r>
              <a:rPr lang="en-US" sz="2400" b="1" dirty="0">
                <a:solidFill>
                  <a:srgbClr val="C00000"/>
                </a:solidFill>
                <a:latin typeface="Microsoft YaHei UI" panose="020B0503020204020204" pitchFamily="34" charset="-122"/>
                <a:ea typeface="Microsoft YaHei UI" panose="020B0503020204020204" pitchFamily="34" charset="-122"/>
              </a:rPr>
              <a:t>Show me the code: Ensemble training</a:t>
            </a:r>
          </a:p>
        </p:txBody>
      </p:sp>
      <p:sp>
        <p:nvSpPr>
          <p:cNvPr id="6" name="文本框 5"/>
          <p:cNvSpPr txBox="1"/>
          <p:nvPr/>
        </p:nvSpPr>
        <p:spPr>
          <a:xfrm>
            <a:off x="46185" y="820790"/>
            <a:ext cx="4793670" cy="5755422"/>
          </a:xfrm>
          <a:prstGeom prst="rect">
            <a:avLst/>
          </a:prstGeom>
          <a:noFill/>
        </p:spPr>
        <p:txBody>
          <a:bodyPr wrap="square" rtlCol="0">
            <a:spAutoFit/>
          </a:bodyPr>
          <a:lstStyle/>
          <a:p>
            <a:r>
              <a:rPr lang="en-US" sz="1600" dirty="0">
                <a:latin typeface="Microsoft YaHei UI" panose="020B0503020204020204" pitchFamily="34" charset="-122"/>
                <a:ea typeface="Microsoft YaHei UI" panose="020B0503020204020204" pitchFamily="34" charset="-122"/>
              </a:rPr>
              <a:t>import </a:t>
            </a:r>
            <a:r>
              <a:rPr lang="en-US" sz="1600" dirty="0" err="1">
                <a:latin typeface="Microsoft YaHei UI" panose="020B0503020204020204" pitchFamily="34" charset="-122"/>
                <a:ea typeface="Microsoft YaHei UI" panose="020B0503020204020204" pitchFamily="34" charset="-122"/>
              </a:rPr>
              <a:t>tensorflow</a:t>
            </a:r>
            <a:r>
              <a:rPr lang="en-US" sz="1600" dirty="0">
                <a:latin typeface="Microsoft YaHei UI" panose="020B0503020204020204" pitchFamily="34" charset="-122"/>
                <a:ea typeface="Microsoft YaHei UI" panose="020B0503020204020204" pitchFamily="34" charset="-122"/>
              </a:rPr>
              <a:t> as </a:t>
            </a:r>
            <a:r>
              <a:rPr lang="en-US" sz="1600" dirty="0" err="1">
                <a:latin typeface="Microsoft YaHei UI" panose="020B0503020204020204" pitchFamily="34" charset="-122"/>
                <a:ea typeface="Microsoft YaHei UI" panose="020B0503020204020204" pitchFamily="34" charset="-122"/>
              </a:rPr>
              <a:t>tf</a:t>
            </a:r>
            <a:endParaRPr lang="en-US" sz="1600" dirty="0">
              <a:latin typeface="Microsoft YaHei UI" panose="020B0503020204020204" pitchFamily="34" charset="-122"/>
              <a:ea typeface="Microsoft YaHei UI" panose="020B0503020204020204" pitchFamily="34" charset="-122"/>
            </a:endParaRPr>
          </a:p>
          <a:p>
            <a:r>
              <a:rPr lang="en-US" sz="1600" dirty="0">
                <a:latin typeface="Microsoft YaHei UI" panose="020B0503020204020204" pitchFamily="34" charset="-122"/>
                <a:ea typeface="Microsoft YaHei UI" panose="020B0503020204020204" pitchFamily="34" charset="-122"/>
              </a:rPr>
              <a:t>import </a:t>
            </a:r>
            <a:r>
              <a:rPr lang="en-US" sz="1600" dirty="0" err="1">
                <a:latin typeface="Microsoft YaHei UI" panose="020B0503020204020204" pitchFamily="34" charset="-122"/>
                <a:ea typeface="Microsoft YaHei UI" panose="020B0503020204020204" pitchFamily="34" charset="-122"/>
              </a:rPr>
              <a:t>horovod.tensorflow</a:t>
            </a:r>
            <a:r>
              <a:rPr lang="en-US" sz="1600" dirty="0">
                <a:latin typeface="Microsoft YaHei UI" panose="020B0503020204020204" pitchFamily="34" charset="-122"/>
                <a:ea typeface="Microsoft YaHei UI" panose="020B0503020204020204" pitchFamily="34" charset="-122"/>
              </a:rPr>
              <a:t> as </a:t>
            </a:r>
            <a:r>
              <a:rPr lang="en-US" sz="1600" dirty="0" err="1">
                <a:latin typeface="Microsoft YaHei UI" panose="020B0503020204020204" pitchFamily="34" charset="-122"/>
                <a:ea typeface="Microsoft YaHei UI" panose="020B0503020204020204" pitchFamily="34" charset="-122"/>
              </a:rPr>
              <a:t>hvd</a:t>
            </a:r>
            <a:endParaRPr lang="en-US" sz="1600" dirty="0">
              <a:latin typeface="Microsoft YaHei UI" panose="020B0503020204020204" pitchFamily="34" charset="-122"/>
              <a:ea typeface="Microsoft YaHei UI" panose="020B0503020204020204" pitchFamily="34" charset="-122"/>
            </a:endParaRPr>
          </a:p>
          <a:p>
            <a:endParaRPr lang="en-US" sz="1600" dirty="0">
              <a:latin typeface="Microsoft YaHei UI" panose="020B0503020204020204" pitchFamily="34" charset="-122"/>
              <a:ea typeface="Microsoft YaHei UI" panose="020B0503020204020204" pitchFamily="34" charset="-122"/>
            </a:endParaRPr>
          </a:p>
          <a:p>
            <a:r>
              <a:rPr lang="en-US" sz="1600" dirty="0" err="1">
                <a:latin typeface="Microsoft YaHei UI" panose="020B0503020204020204" pitchFamily="34" charset="-122"/>
                <a:ea typeface="Microsoft YaHei UI" panose="020B0503020204020204" pitchFamily="34" charset="-122"/>
              </a:rPr>
              <a:t>hvd.init</a:t>
            </a:r>
            <a:r>
              <a:rPr lang="en-US" sz="1600" dirty="0">
                <a:latin typeface="Microsoft YaHei UI" panose="020B0503020204020204" pitchFamily="34" charset="-122"/>
                <a:ea typeface="Microsoft YaHei UI" panose="020B0503020204020204" pitchFamily="34" charset="-122"/>
              </a:rPr>
              <a:t>() </a:t>
            </a:r>
            <a:r>
              <a:rPr lang="en-US" sz="1600" dirty="0">
                <a:solidFill>
                  <a:srgbClr val="3338FD"/>
                </a:solidFill>
                <a:latin typeface="Microsoft YaHei UI" panose="020B0503020204020204" pitchFamily="34" charset="-122"/>
                <a:ea typeface="Microsoft YaHei UI" panose="020B0503020204020204" pitchFamily="34" charset="-122"/>
              </a:rPr>
              <a:t>#initialize the environment</a:t>
            </a:r>
          </a:p>
          <a:p>
            <a:endParaRPr lang="en-US" sz="1600" dirty="0">
              <a:solidFill>
                <a:srgbClr val="3338FD"/>
              </a:solidFill>
              <a:latin typeface="Microsoft YaHei UI" panose="020B0503020204020204" pitchFamily="34" charset="-122"/>
              <a:ea typeface="Microsoft YaHei UI" panose="020B0503020204020204" pitchFamily="34" charset="-122"/>
            </a:endParaRPr>
          </a:p>
          <a:p>
            <a:r>
              <a:rPr lang="en-US" sz="1600" dirty="0">
                <a:solidFill>
                  <a:srgbClr val="3338FD"/>
                </a:solidFill>
                <a:latin typeface="Microsoft YaHei UI" panose="020B0503020204020204" pitchFamily="34" charset="-122"/>
                <a:ea typeface="Microsoft YaHei UI" panose="020B0503020204020204" pitchFamily="34" charset="-122"/>
              </a:rPr>
              <a:t>#pin one GPU to each </a:t>
            </a:r>
            <a:r>
              <a:rPr lang="en-US" sz="1600" dirty="0" err="1">
                <a:solidFill>
                  <a:srgbClr val="3338FD"/>
                </a:solidFill>
                <a:latin typeface="Microsoft YaHei UI" panose="020B0503020204020204" pitchFamily="34" charset="-122"/>
                <a:ea typeface="Microsoft YaHei UI" panose="020B0503020204020204" pitchFamily="34" charset="-122"/>
              </a:rPr>
              <a:t>tensorflow</a:t>
            </a:r>
            <a:r>
              <a:rPr lang="en-US" sz="1600" dirty="0">
                <a:solidFill>
                  <a:srgbClr val="3338FD"/>
                </a:solidFill>
                <a:latin typeface="Microsoft YaHei UI" panose="020B0503020204020204" pitchFamily="34" charset="-122"/>
                <a:ea typeface="Microsoft YaHei UI" panose="020B0503020204020204" pitchFamily="34" charset="-122"/>
              </a:rPr>
              <a:t> process</a:t>
            </a:r>
            <a:endParaRPr lang="en-US" sz="1600" dirty="0">
              <a:latin typeface="Microsoft YaHei UI" panose="020B0503020204020204" pitchFamily="34" charset="-122"/>
              <a:ea typeface="Microsoft YaHei UI" panose="020B0503020204020204" pitchFamily="34" charset="-122"/>
            </a:endParaRPr>
          </a:p>
          <a:p>
            <a:r>
              <a:rPr lang="en-US" sz="1600" dirty="0" err="1">
                <a:latin typeface="Microsoft YaHei UI" panose="020B0503020204020204" pitchFamily="34" charset="-122"/>
                <a:ea typeface="Microsoft YaHei UI" panose="020B0503020204020204" pitchFamily="34" charset="-122"/>
              </a:rPr>
              <a:t>config</a:t>
            </a:r>
            <a:r>
              <a:rPr lang="en-US" sz="1600" dirty="0">
                <a:latin typeface="Microsoft YaHei UI" panose="020B0503020204020204" pitchFamily="34" charset="-122"/>
                <a:ea typeface="Microsoft YaHei UI" panose="020B0503020204020204" pitchFamily="34" charset="-122"/>
              </a:rPr>
              <a:t> = </a:t>
            </a:r>
            <a:r>
              <a:rPr lang="en-US" sz="1600" dirty="0" err="1">
                <a:latin typeface="Microsoft YaHei UI" panose="020B0503020204020204" pitchFamily="34" charset="-122"/>
                <a:ea typeface="Microsoft YaHei UI" panose="020B0503020204020204" pitchFamily="34" charset="-122"/>
              </a:rPr>
              <a:t>tf.ConfigProto</a:t>
            </a:r>
            <a:r>
              <a:rPr lang="en-US" sz="1600" dirty="0">
                <a:latin typeface="Microsoft YaHei UI" panose="020B0503020204020204" pitchFamily="34" charset="-122"/>
                <a:ea typeface="Microsoft YaHei UI" panose="020B0503020204020204" pitchFamily="34" charset="-122"/>
              </a:rPr>
              <a:t>() </a:t>
            </a:r>
          </a:p>
          <a:p>
            <a:r>
              <a:rPr lang="en-US" sz="1600" dirty="0" err="1">
                <a:latin typeface="Microsoft YaHei UI" panose="020B0503020204020204" pitchFamily="34" charset="-122"/>
                <a:ea typeface="Microsoft YaHei UI" panose="020B0503020204020204" pitchFamily="34" charset="-122"/>
              </a:rPr>
              <a:t>config.gpu_options.visible_device_list</a:t>
            </a:r>
            <a:r>
              <a:rPr lang="en-US" sz="1600" dirty="0">
                <a:latin typeface="Microsoft YaHei UI" panose="020B0503020204020204" pitchFamily="34" charset="-122"/>
                <a:ea typeface="Microsoft YaHei UI" panose="020B0503020204020204" pitchFamily="34" charset="-122"/>
              </a:rPr>
              <a:t> </a:t>
            </a:r>
          </a:p>
          <a:p>
            <a:r>
              <a:rPr lang="en-US" sz="1600" dirty="0">
                <a:latin typeface="Microsoft YaHei UI" panose="020B0503020204020204" pitchFamily="34" charset="-122"/>
                <a:ea typeface="Microsoft YaHei UI" panose="020B0503020204020204" pitchFamily="34" charset="-122"/>
              </a:rPr>
              <a:t>= </a:t>
            </a:r>
            <a:r>
              <a:rPr lang="en-US" sz="1600" dirty="0" err="1">
                <a:latin typeface="Microsoft YaHei UI" panose="020B0503020204020204" pitchFamily="34" charset="-122"/>
                <a:ea typeface="Microsoft YaHei UI" panose="020B0503020204020204" pitchFamily="34" charset="-122"/>
              </a:rPr>
              <a:t>str</a:t>
            </a:r>
            <a:r>
              <a:rPr lang="en-US" sz="1600" dirty="0">
                <a:latin typeface="Microsoft YaHei UI" panose="020B0503020204020204" pitchFamily="34" charset="-122"/>
                <a:ea typeface="Microsoft YaHei UI" panose="020B0503020204020204" pitchFamily="34" charset="-122"/>
              </a:rPr>
              <a:t>(</a:t>
            </a:r>
            <a:r>
              <a:rPr lang="en-US" sz="1600" dirty="0" err="1">
                <a:latin typeface="Microsoft YaHei UI" panose="020B0503020204020204" pitchFamily="34" charset="-122"/>
                <a:ea typeface="Microsoft YaHei UI" panose="020B0503020204020204" pitchFamily="34" charset="-122"/>
              </a:rPr>
              <a:t>hvd.local_rank</a:t>
            </a:r>
            <a:r>
              <a:rPr lang="en-US" sz="1600" dirty="0">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r>
              <a:rPr lang="en-US" sz="1600" dirty="0">
                <a:latin typeface="Microsoft YaHei UI" panose="020B0503020204020204" pitchFamily="34" charset="-122"/>
                <a:ea typeface="Microsoft YaHei UI" panose="020B0503020204020204" pitchFamily="34" charset="-122"/>
              </a:rPr>
              <a:t>if </a:t>
            </a:r>
            <a:r>
              <a:rPr lang="en-US" sz="1600" dirty="0" err="1">
                <a:latin typeface="Microsoft YaHei UI" panose="020B0503020204020204" pitchFamily="34" charset="-122"/>
                <a:ea typeface="Microsoft YaHei UI" panose="020B0503020204020204" pitchFamily="34" charset="-122"/>
              </a:rPr>
              <a:t>hvd.rank</a:t>
            </a:r>
            <a:r>
              <a:rPr lang="en-US" sz="1600" dirty="0">
                <a:latin typeface="Microsoft YaHei UI" panose="020B0503020204020204" pitchFamily="34" charset="-122"/>
                <a:ea typeface="Microsoft YaHei UI" panose="020B0503020204020204" pitchFamily="34" charset="-122"/>
              </a:rPr>
              <a:t>() == 0: </a:t>
            </a:r>
            <a:r>
              <a:rPr lang="en-US" sz="1600" dirty="0">
                <a:solidFill>
                  <a:srgbClr val="3333FD"/>
                </a:solidFill>
                <a:latin typeface="Microsoft YaHei UI" panose="020B0503020204020204" pitchFamily="34" charset="-122"/>
                <a:ea typeface="Microsoft YaHei UI" panose="020B0503020204020204" pitchFamily="34" charset="-122"/>
              </a:rPr>
              <a:t>#read data</a:t>
            </a:r>
          </a:p>
          <a:p>
            <a:r>
              <a:rPr lang="en-US" sz="1600" dirty="0">
                <a:latin typeface="Microsoft YaHei UI" panose="020B0503020204020204" pitchFamily="34" charset="-122"/>
                <a:ea typeface="Microsoft YaHei UI" panose="020B0503020204020204" pitchFamily="34" charset="-122"/>
              </a:rPr>
              <a:t>	read_chunk_0</a:t>
            </a:r>
          </a:p>
          <a:p>
            <a:r>
              <a:rPr lang="en-US" sz="1600" dirty="0">
                <a:latin typeface="Microsoft YaHei UI" panose="020B0503020204020204" pitchFamily="34" charset="-122"/>
                <a:ea typeface="Microsoft YaHei UI" panose="020B0503020204020204" pitchFamily="34" charset="-122"/>
              </a:rPr>
              <a:t>else:</a:t>
            </a:r>
          </a:p>
          <a:p>
            <a:r>
              <a:rPr lang="en-US" sz="1600" dirty="0">
                <a:latin typeface="Microsoft YaHei UI" panose="020B0503020204020204" pitchFamily="34" charset="-122"/>
                <a:ea typeface="Microsoft YaHei UI" panose="020B0503020204020204" pitchFamily="34" charset="-122"/>
              </a:rPr>
              <a:t>	</a:t>
            </a:r>
            <a:r>
              <a:rPr lang="en-US" sz="1600" dirty="0" err="1">
                <a:latin typeface="Microsoft YaHei UI" panose="020B0503020204020204" pitchFamily="34" charset="-122"/>
                <a:ea typeface="Microsoft YaHei UI" panose="020B0503020204020204" pitchFamily="34" charset="-122"/>
              </a:rPr>
              <a:t>read_chunk_n</a:t>
            </a:r>
            <a:r>
              <a:rPr lang="en-US" sz="1600" dirty="0">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r>
              <a:rPr lang="en-US" sz="1600" dirty="0">
                <a:solidFill>
                  <a:srgbClr val="3338FD"/>
                </a:solidFill>
                <a:latin typeface="Microsoft YaHei UI" panose="020B0503020204020204" pitchFamily="34" charset="-122"/>
                <a:ea typeface="Microsoft YaHei UI" panose="020B0503020204020204" pitchFamily="34" charset="-122"/>
              </a:rPr>
              <a:t># Build model...</a:t>
            </a:r>
          </a:p>
          <a:p>
            <a:r>
              <a:rPr lang="en-US" sz="1600" dirty="0">
                <a:latin typeface="Microsoft YaHei UI" panose="020B0503020204020204" pitchFamily="34" charset="-122"/>
                <a:ea typeface="Microsoft YaHei UI" panose="020B0503020204020204" pitchFamily="34" charset="-122"/>
              </a:rPr>
              <a:t>loss = ...</a:t>
            </a:r>
          </a:p>
          <a:p>
            <a:r>
              <a:rPr lang="en-US" sz="1600" dirty="0">
                <a:latin typeface="Microsoft YaHei UI" panose="020B0503020204020204" pitchFamily="34" charset="-122"/>
                <a:ea typeface="Microsoft YaHei UI" panose="020B0503020204020204" pitchFamily="34" charset="-122"/>
              </a:rPr>
              <a:t>opt = </a:t>
            </a:r>
            <a:r>
              <a:rPr lang="en-US" sz="1600" dirty="0" err="1">
                <a:latin typeface="Microsoft YaHei UI" panose="020B0503020204020204" pitchFamily="34" charset="-122"/>
                <a:ea typeface="Microsoft YaHei UI" panose="020B0503020204020204" pitchFamily="34" charset="-122"/>
              </a:rPr>
              <a:t>tf.train.AdamOptimizer</a:t>
            </a:r>
            <a:r>
              <a:rPr lang="en-US" sz="1600" dirty="0">
                <a:latin typeface="Microsoft YaHei UI" panose="020B0503020204020204" pitchFamily="34" charset="-122"/>
                <a:ea typeface="Microsoft YaHei UI" panose="020B0503020204020204" pitchFamily="34" charset="-122"/>
              </a:rPr>
              <a:t>(</a:t>
            </a:r>
            <a:r>
              <a:rPr lang="en-US" sz="1600" dirty="0" err="1">
                <a:latin typeface="Microsoft YaHei UI" panose="020B0503020204020204" pitchFamily="34" charset="-122"/>
                <a:ea typeface="Microsoft YaHei UI" panose="020B0503020204020204" pitchFamily="34" charset="-122"/>
              </a:rPr>
              <a:t>learning_rate</a:t>
            </a:r>
            <a:r>
              <a:rPr lang="en-US" sz="1600" dirty="0">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r>
              <a:rPr lang="en-US" sz="1600" dirty="0">
                <a:latin typeface="Microsoft YaHei UI" panose="020B0503020204020204" pitchFamily="34" charset="-122"/>
                <a:ea typeface="Microsoft YaHei UI" panose="020B0503020204020204" pitchFamily="34" charset="-122"/>
              </a:rPr>
              <a:t># Add </a:t>
            </a:r>
            <a:r>
              <a:rPr lang="en-US" sz="1600" dirty="0" err="1">
                <a:latin typeface="Microsoft YaHei UI" panose="020B0503020204020204" pitchFamily="34" charset="-122"/>
                <a:ea typeface="Microsoft YaHei UI" panose="020B0503020204020204" pitchFamily="34" charset="-122"/>
              </a:rPr>
              <a:t>Horovod</a:t>
            </a:r>
            <a:r>
              <a:rPr lang="en-US" sz="1600" dirty="0">
                <a:latin typeface="Microsoft YaHei UI" panose="020B0503020204020204" pitchFamily="34" charset="-122"/>
                <a:ea typeface="Microsoft YaHei UI" panose="020B0503020204020204" pitchFamily="34" charset="-122"/>
              </a:rPr>
              <a:t> Distributed Optimizer</a:t>
            </a:r>
          </a:p>
          <a:p>
            <a:r>
              <a:rPr lang="en-US" sz="1600" dirty="0">
                <a:latin typeface="Microsoft YaHei UI" panose="020B0503020204020204" pitchFamily="34" charset="-122"/>
                <a:ea typeface="Microsoft YaHei UI" panose="020B0503020204020204" pitchFamily="34" charset="-122"/>
              </a:rPr>
              <a:t>#opt = </a:t>
            </a:r>
            <a:r>
              <a:rPr lang="en-US" sz="1600" dirty="0" err="1">
                <a:latin typeface="Microsoft YaHei UI" panose="020B0503020204020204" pitchFamily="34" charset="-122"/>
                <a:ea typeface="Microsoft YaHei UI" panose="020B0503020204020204" pitchFamily="34" charset="-122"/>
              </a:rPr>
              <a:t>hvd.DistributedOptimizer</a:t>
            </a:r>
            <a:r>
              <a:rPr lang="en-US" sz="1600" dirty="0">
                <a:latin typeface="Microsoft YaHei UI" panose="020B0503020204020204" pitchFamily="34" charset="-122"/>
                <a:ea typeface="Microsoft YaHei UI" panose="020B0503020204020204" pitchFamily="34" charset="-122"/>
              </a:rPr>
              <a:t>(opt)</a:t>
            </a:r>
          </a:p>
          <a:p>
            <a:endParaRPr lang="en-US" sz="1600" dirty="0">
              <a:latin typeface="Microsoft YaHei UI" panose="020B0503020204020204" pitchFamily="34" charset="-122"/>
              <a:ea typeface="Microsoft YaHei UI" panose="020B0503020204020204" pitchFamily="34" charset="-122"/>
            </a:endParaRPr>
          </a:p>
          <a:p>
            <a:r>
              <a:rPr lang="en-US" sz="1600" dirty="0">
                <a:latin typeface="Microsoft YaHei UI" panose="020B0503020204020204" pitchFamily="34" charset="-122"/>
                <a:ea typeface="Microsoft YaHei UI" panose="020B0503020204020204" pitchFamily="34" charset="-122"/>
              </a:rPr>
              <a:t>train = </a:t>
            </a:r>
            <a:r>
              <a:rPr lang="en-US" sz="1600" dirty="0" err="1">
                <a:latin typeface="Microsoft YaHei UI" panose="020B0503020204020204" pitchFamily="34" charset="-122"/>
                <a:ea typeface="Microsoft YaHei UI" panose="020B0503020204020204" pitchFamily="34" charset="-122"/>
              </a:rPr>
              <a:t>opt.minimize</a:t>
            </a:r>
            <a:r>
              <a:rPr lang="en-US" sz="1600" dirty="0">
                <a:latin typeface="Microsoft YaHei UI" panose="020B0503020204020204" pitchFamily="34" charset="-122"/>
                <a:ea typeface="Microsoft YaHei UI" panose="020B0503020204020204" pitchFamily="34" charset="-122"/>
              </a:rPr>
              <a:t>(loss)</a:t>
            </a:r>
          </a:p>
        </p:txBody>
      </p:sp>
      <p:sp>
        <p:nvSpPr>
          <p:cNvPr id="17" name="文本框 16"/>
          <p:cNvSpPr txBox="1"/>
          <p:nvPr/>
        </p:nvSpPr>
        <p:spPr>
          <a:xfrm>
            <a:off x="4668985" y="820790"/>
            <a:ext cx="4793670" cy="2308324"/>
          </a:xfrm>
          <a:prstGeom prst="rect">
            <a:avLst/>
          </a:prstGeom>
          <a:noFill/>
        </p:spPr>
        <p:txBody>
          <a:bodyPr wrap="square" rtlCol="0">
            <a:spAutoFit/>
          </a:bodyPr>
          <a:lstStyle/>
          <a:p>
            <a:r>
              <a:rPr lang="en-US" sz="1600" dirty="0" err="1">
                <a:latin typeface="Microsoft YaHei UI" panose="020B0503020204020204" pitchFamily="34" charset="-122"/>
                <a:ea typeface="Microsoft YaHei UI" panose="020B0503020204020204" pitchFamily="34" charset="-122"/>
              </a:rPr>
              <a:t>init</a:t>
            </a:r>
            <a:r>
              <a:rPr lang="en-US" sz="1600" dirty="0">
                <a:latin typeface="Microsoft YaHei UI" panose="020B0503020204020204" pitchFamily="34" charset="-122"/>
                <a:ea typeface="Microsoft YaHei UI" panose="020B0503020204020204" pitchFamily="34" charset="-122"/>
              </a:rPr>
              <a:t> = </a:t>
            </a:r>
            <a:r>
              <a:rPr lang="en-US" sz="1600" dirty="0" err="1">
                <a:latin typeface="Microsoft YaHei UI" panose="020B0503020204020204" pitchFamily="34" charset="-122"/>
                <a:ea typeface="Microsoft YaHei UI" panose="020B0503020204020204" pitchFamily="34" charset="-122"/>
              </a:rPr>
              <a:t>tf.global_variables_initializer</a:t>
            </a:r>
            <a:r>
              <a:rPr lang="en-US" sz="1600" dirty="0">
                <a:latin typeface="Microsoft YaHei UI" panose="020B0503020204020204" pitchFamily="34" charset="-122"/>
                <a:ea typeface="Microsoft YaHei UI" panose="020B0503020204020204" pitchFamily="34" charset="-122"/>
              </a:rPr>
              <a:t>()</a:t>
            </a:r>
          </a:p>
          <a:p>
            <a:r>
              <a:rPr lang="en-US" sz="1600" dirty="0" err="1">
                <a:latin typeface="Microsoft YaHei UI" panose="020B0503020204020204" pitchFamily="34" charset="-122"/>
                <a:ea typeface="Microsoft YaHei UI" panose="020B0503020204020204" pitchFamily="34" charset="-122"/>
              </a:rPr>
              <a:t>sess.run</a:t>
            </a:r>
            <a:r>
              <a:rPr lang="en-US" sz="1600" dirty="0">
                <a:latin typeface="Microsoft YaHei UI" panose="020B0503020204020204" pitchFamily="34" charset="-122"/>
                <a:ea typeface="Microsoft YaHei UI" panose="020B0503020204020204" pitchFamily="34" charset="-122"/>
              </a:rPr>
              <a:t>(</a:t>
            </a:r>
            <a:r>
              <a:rPr lang="en-US" sz="1600" dirty="0" err="1">
                <a:latin typeface="Microsoft YaHei UI" panose="020B0503020204020204" pitchFamily="34" charset="-122"/>
                <a:ea typeface="Microsoft YaHei UI" panose="020B0503020204020204" pitchFamily="34" charset="-122"/>
              </a:rPr>
              <a:t>init</a:t>
            </a:r>
            <a:r>
              <a:rPr lang="en-US" sz="1600" dirty="0">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r>
              <a:rPr lang="en-US" sz="1600" dirty="0">
                <a:solidFill>
                  <a:srgbClr val="3333FD"/>
                </a:solidFill>
                <a:latin typeface="Microsoft YaHei UI" panose="020B0503020204020204" pitchFamily="34" charset="-122"/>
                <a:ea typeface="Microsoft YaHei UI" panose="020B0503020204020204" pitchFamily="34" charset="-122"/>
              </a:rPr>
              <a:t>#broadcast the initialization to all processes</a:t>
            </a:r>
          </a:p>
          <a:p>
            <a:r>
              <a:rPr lang="en-US" sz="1600" dirty="0" err="1">
                <a:latin typeface="Microsoft YaHei UI" panose="020B0503020204020204" pitchFamily="34" charset="-122"/>
                <a:ea typeface="Microsoft YaHei UI" panose="020B0503020204020204" pitchFamily="34" charset="-122"/>
              </a:rPr>
              <a:t>bcast</a:t>
            </a:r>
            <a:r>
              <a:rPr lang="en-US" sz="1600" dirty="0">
                <a:latin typeface="Microsoft YaHei UI" panose="020B0503020204020204" pitchFamily="34" charset="-122"/>
                <a:ea typeface="Microsoft YaHei UI" panose="020B0503020204020204" pitchFamily="34" charset="-122"/>
              </a:rPr>
              <a:t> = </a:t>
            </a:r>
            <a:r>
              <a:rPr lang="en-US" sz="1600" dirty="0" err="1">
                <a:latin typeface="Microsoft YaHei UI" panose="020B0503020204020204" pitchFamily="34" charset="-122"/>
                <a:ea typeface="Microsoft YaHei UI" panose="020B0503020204020204" pitchFamily="34" charset="-122"/>
              </a:rPr>
              <a:t>hvd.broadcast_global_variables</a:t>
            </a:r>
            <a:r>
              <a:rPr lang="en-US" sz="1600" dirty="0">
                <a:latin typeface="Microsoft YaHei UI" panose="020B0503020204020204" pitchFamily="34" charset="-122"/>
                <a:ea typeface="Microsoft YaHei UI" panose="020B0503020204020204" pitchFamily="34" charset="-122"/>
              </a:rPr>
              <a:t>(0)</a:t>
            </a:r>
          </a:p>
          <a:p>
            <a:r>
              <a:rPr lang="en-US" sz="1600" dirty="0" err="1">
                <a:latin typeface="Microsoft YaHei UI" panose="020B0503020204020204" pitchFamily="34" charset="-122"/>
                <a:ea typeface="Microsoft YaHei UI" panose="020B0503020204020204" pitchFamily="34" charset="-122"/>
              </a:rPr>
              <a:t>sess.run</a:t>
            </a:r>
            <a:r>
              <a:rPr lang="en-US" sz="1600" dirty="0">
                <a:latin typeface="Microsoft YaHei UI" panose="020B0503020204020204" pitchFamily="34" charset="-122"/>
                <a:ea typeface="Microsoft YaHei UI" panose="020B0503020204020204" pitchFamily="34" charset="-122"/>
              </a:rPr>
              <a:t>(</a:t>
            </a:r>
            <a:r>
              <a:rPr lang="en-US" sz="1600" dirty="0" err="1">
                <a:latin typeface="Microsoft YaHei UI" panose="020B0503020204020204" pitchFamily="34" charset="-122"/>
                <a:ea typeface="Microsoft YaHei UI" panose="020B0503020204020204" pitchFamily="34" charset="-122"/>
              </a:rPr>
              <a:t>bcast</a:t>
            </a:r>
            <a:r>
              <a:rPr lang="en-US" sz="1600" dirty="0">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r>
              <a:rPr lang="en-US" sz="1600" dirty="0">
                <a:latin typeface="Microsoft YaHei UI" panose="020B0503020204020204" pitchFamily="34" charset="-122"/>
                <a:ea typeface="Microsoft YaHei UI" panose="020B0503020204020204" pitchFamily="34" charset="-122"/>
              </a:rPr>
              <a:t>while </a:t>
            </a:r>
            <a:r>
              <a:rPr lang="en-US" sz="1600" dirty="0" err="1">
                <a:latin typeface="Microsoft YaHei UI" panose="020B0503020204020204" pitchFamily="34" charset="-122"/>
                <a:ea typeface="Microsoft YaHei UI" panose="020B0503020204020204" pitchFamily="34" charset="-122"/>
              </a:rPr>
              <a:t>train_step</a:t>
            </a:r>
            <a:r>
              <a:rPr lang="en-US" sz="1600" dirty="0">
                <a:latin typeface="Microsoft YaHei UI" panose="020B0503020204020204" pitchFamily="34" charset="-122"/>
                <a:ea typeface="Microsoft YaHei UI" panose="020B0503020204020204" pitchFamily="34" charset="-122"/>
              </a:rPr>
              <a:t> &lt; </a:t>
            </a:r>
            <a:r>
              <a:rPr lang="en-US" sz="1600" dirty="0" err="1">
                <a:latin typeface="Microsoft YaHei UI" panose="020B0503020204020204" pitchFamily="34" charset="-122"/>
                <a:ea typeface="Microsoft YaHei UI" panose="020B0503020204020204" pitchFamily="34" charset="-122"/>
              </a:rPr>
              <a:t>step_max</a:t>
            </a:r>
            <a:r>
              <a:rPr lang="en-US" sz="1600" dirty="0">
                <a:latin typeface="Microsoft YaHei UI" panose="020B0503020204020204" pitchFamily="34" charset="-122"/>
                <a:ea typeface="Microsoft YaHei UI" panose="020B0503020204020204" pitchFamily="34" charset="-122"/>
              </a:rPr>
              <a:t>:</a:t>
            </a:r>
          </a:p>
          <a:p>
            <a:r>
              <a:rPr lang="en-US" sz="1600" dirty="0">
                <a:latin typeface="Microsoft YaHei UI" panose="020B0503020204020204" pitchFamily="34" charset="-122"/>
                <a:ea typeface="Microsoft YaHei UI" panose="020B0503020204020204" pitchFamily="34" charset="-122"/>
              </a:rPr>
              <a:t>	</a:t>
            </a:r>
            <a:r>
              <a:rPr lang="en-US" sz="1600" dirty="0" err="1">
                <a:latin typeface="Microsoft YaHei UI" panose="020B0503020204020204" pitchFamily="34" charset="-122"/>
                <a:ea typeface="Microsoft YaHei UI" panose="020B0503020204020204" pitchFamily="34" charset="-122"/>
              </a:rPr>
              <a:t>sess.run</a:t>
            </a:r>
            <a:r>
              <a:rPr lang="en-US" sz="1600" dirty="0">
                <a:latin typeface="Microsoft YaHei UI" panose="020B0503020204020204" pitchFamily="34" charset="-122"/>
                <a:ea typeface="Microsoft YaHei UI" panose="020B0503020204020204" pitchFamily="34" charset="-122"/>
              </a:rPr>
              <a:t>([train, loss], </a:t>
            </a:r>
            <a:r>
              <a:rPr lang="en-US" sz="1600" dirty="0" err="1">
                <a:latin typeface="Microsoft YaHei UI" panose="020B0503020204020204" pitchFamily="34" charset="-122"/>
                <a:ea typeface="Microsoft YaHei UI" panose="020B0503020204020204" pitchFamily="34" charset="-122"/>
              </a:rPr>
              <a:t>feed_dict</a:t>
            </a:r>
            <a:r>
              <a:rPr lang="en-US" sz="1600" dirty="0">
                <a:latin typeface="Microsoft YaHei UI" panose="020B0503020204020204" pitchFamily="34" charset="-122"/>
                <a:ea typeface="Microsoft YaHei UI" panose="020B0503020204020204" pitchFamily="34" charset="-122"/>
              </a:rPr>
              <a:t>=…) </a:t>
            </a:r>
          </a:p>
        </p:txBody>
      </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54111" y="5781964"/>
            <a:ext cx="1076036" cy="1076036"/>
          </a:xfrm>
          <a:prstGeom prst="rect">
            <a:avLst/>
          </a:prstGeom>
        </p:spPr>
      </p:pic>
    </p:spTree>
    <p:extLst>
      <p:ext uri="{BB962C8B-B14F-4D97-AF65-F5344CB8AC3E}">
        <p14:creationId xmlns:p14="http://schemas.microsoft.com/office/powerpoint/2010/main" val="446642263"/>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FF"/>
              </a:buClr>
            </a:pPr>
            <a:r>
              <a:rPr lang="en-US" sz="2400" b="1" dirty="0">
                <a:solidFill>
                  <a:srgbClr val="C00000"/>
                </a:solidFill>
                <a:latin typeface="Microsoft YaHei UI" panose="020B0503020204020204" pitchFamily="34" charset="-122"/>
                <a:ea typeface="Microsoft YaHei UI" panose="020B0503020204020204" pitchFamily="34" charset="-122"/>
              </a:rPr>
              <a:t>Show me the code: Ensemble training</a:t>
            </a:r>
          </a:p>
        </p:txBody>
      </p:sp>
      <p:sp>
        <p:nvSpPr>
          <p:cNvPr id="6" name="文本框 5"/>
          <p:cNvSpPr txBox="1"/>
          <p:nvPr/>
        </p:nvSpPr>
        <p:spPr>
          <a:xfrm>
            <a:off x="46185" y="820790"/>
            <a:ext cx="4793670" cy="5509200"/>
          </a:xfrm>
          <a:prstGeom prst="rect">
            <a:avLst/>
          </a:prstGeom>
          <a:noFill/>
        </p:spPr>
        <p:txBody>
          <a:bodyPr wrap="square" rtlCol="0">
            <a:spAutoFit/>
          </a:bodyPr>
          <a:lstStyle/>
          <a:p>
            <a:r>
              <a:rPr lang="en-US" sz="1600" dirty="0">
                <a:latin typeface="Microsoft YaHei UI" panose="020B0503020204020204" pitchFamily="34" charset="-122"/>
                <a:ea typeface="Microsoft YaHei UI" panose="020B0503020204020204" pitchFamily="34" charset="-122"/>
              </a:rPr>
              <a:t>import </a:t>
            </a:r>
            <a:r>
              <a:rPr lang="en-US" sz="1600" dirty="0" err="1">
                <a:latin typeface="Microsoft YaHei UI" panose="020B0503020204020204" pitchFamily="34" charset="-122"/>
                <a:ea typeface="Microsoft YaHei UI" panose="020B0503020204020204" pitchFamily="34" charset="-122"/>
              </a:rPr>
              <a:t>tensorflow</a:t>
            </a:r>
            <a:r>
              <a:rPr lang="en-US" sz="1600" dirty="0">
                <a:latin typeface="Microsoft YaHei UI" panose="020B0503020204020204" pitchFamily="34" charset="-122"/>
                <a:ea typeface="Microsoft YaHei UI" panose="020B0503020204020204" pitchFamily="34" charset="-122"/>
              </a:rPr>
              <a:t> as </a:t>
            </a:r>
            <a:r>
              <a:rPr lang="en-US" sz="1600" dirty="0" err="1">
                <a:latin typeface="Microsoft YaHei UI" panose="020B0503020204020204" pitchFamily="34" charset="-122"/>
                <a:ea typeface="Microsoft YaHei UI" panose="020B0503020204020204" pitchFamily="34" charset="-122"/>
              </a:rPr>
              <a:t>tf</a:t>
            </a:r>
            <a:endParaRPr lang="en-US" sz="1600" dirty="0">
              <a:latin typeface="Microsoft YaHei UI" panose="020B0503020204020204" pitchFamily="34" charset="-122"/>
              <a:ea typeface="Microsoft YaHei UI" panose="020B0503020204020204" pitchFamily="34" charset="-122"/>
            </a:endParaRPr>
          </a:p>
          <a:p>
            <a:r>
              <a:rPr lang="en-US" sz="1600" dirty="0">
                <a:solidFill>
                  <a:srgbClr val="00B050"/>
                </a:solidFill>
                <a:latin typeface="Microsoft YaHei UI" panose="020B0503020204020204" pitchFamily="34" charset="-122"/>
                <a:ea typeface="Microsoft YaHei UI" panose="020B0503020204020204" pitchFamily="34" charset="-122"/>
              </a:rPr>
              <a:t>import </a:t>
            </a:r>
            <a:r>
              <a:rPr lang="en-US" sz="1600" dirty="0" err="1">
                <a:solidFill>
                  <a:srgbClr val="00B050"/>
                </a:solidFill>
                <a:latin typeface="Microsoft YaHei UI" panose="020B0503020204020204" pitchFamily="34" charset="-122"/>
                <a:ea typeface="Microsoft YaHei UI" panose="020B0503020204020204" pitchFamily="34" charset="-122"/>
              </a:rPr>
              <a:t>horovod.tensorflow</a:t>
            </a:r>
            <a:r>
              <a:rPr lang="en-US" sz="1600" dirty="0">
                <a:solidFill>
                  <a:srgbClr val="00B050"/>
                </a:solidFill>
                <a:latin typeface="Microsoft YaHei UI" panose="020B0503020204020204" pitchFamily="34" charset="-122"/>
                <a:ea typeface="Microsoft YaHei UI" panose="020B0503020204020204" pitchFamily="34" charset="-122"/>
              </a:rPr>
              <a:t> as </a:t>
            </a:r>
            <a:r>
              <a:rPr lang="en-US" sz="1600" dirty="0" err="1">
                <a:solidFill>
                  <a:srgbClr val="00B050"/>
                </a:solidFill>
                <a:latin typeface="Microsoft YaHei UI" panose="020B0503020204020204" pitchFamily="34" charset="-122"/>
                <a:ea typeface="Microsoft YaHei UI" panose="020B0503020204020204" pitchFamily="34" charset="-122"/>
              </a:rPr>
              <a:t>hvd</a:t>
            </a:r>
            <a:endParaRPr lang="en-US" sz="1600" dirty="0">
              <a:solidFill>
                <a:srgbClr val="00B050"/>
              </a:solidFill>
              <a:latin typeface="Microsoft YaHei UI" panose="020B0503020204020204" pitchFamily="34" charset="-122"/>
              <a:ea typeface="Microsoft YaHei UI" panose="020B0503020204020204" pitchFamily="34" charset="-122"/>
            </a:endParaRPr>
          </a:p>
          <a:p>
            <a:endParaRPr lang="en-US" sz="1600" dirty="0">
              <a:latin typeface="Microsoft YaHei UI" panose="020B0503020204020204" pitchFamily="34" charset="-122"/>
              <a:ea typeface="Microsoft YaHei UI" panose="020B0503020204020204" pitchFamily="34" charset="-122"/>
            </a:endParaRPr>
          </a:p>
          <a:p>
            <a:r>
              <a:rPr lang="en-US" sz="1600" dirty="0" err="1">
                <a:solidFill>
                  <a:srgbClr val="00B050"/>
                </a:solidFill>
                <a:latin typeface="Microsoft YaHei UI" panose="020B0503020204020204" pitchFamily="34" charset="-122"/>
                <a:ea typeface="Microsoft YaHei UI" panose="020B0503020204020204" pitchFamily="34" charset="-122"/>
              </a:rPr>
              <a:t>hvd.init</a:t>
            </a:r>
            <a:r>
              <a:rPr lang="en-US" sz="1600" dirty="0">
                <a:solidFill>
                  <a:srgbClr val="00B050"/>
                </a:solidFill>
                <a:latin typeface="Microsoft YaHei UI" panose="020B0503020204020204" pitchFamily="34" charset="-122"/>
                <a:ea typeface="Microsoft YaHei UI" panose="020B0503020204020204" pitchFamily="34" charset="-122"/>
              </a:rPr>
              <a:t>()</a:t>
            </a:r>
          </a:p>
          <a:p>
            <a:endParaRPr lang="en-US" sz="1600" dirty="0">
              <a:solidFill>
                <a:srgbClr val="3338FD"/>
              </a:solidFill>
              <a:latin typeface="Microsoft YaHei UI" panose="020B0503020204020204" pitchFamily="34" charset="-122"/>
              <a:ea typeface="Microsoft YaHei UI" panose="020B0503020204020204" pitchFamily="34" charset="-122"/>
            </a:endParaRPr>
          </a:p>
          <a:p>
            <a:endParaRPr lang="en-US" sz="1600" dirty="0">
              <a:latin typeface="Microsoft YaHei UI" panose="020B0503020204020204" pitchFamily="34" charset="-122"/>
              <a:ea typeface="Microsoft YaHei UI" panose="020B0503020204020204" pitchFamily="34" charset="-122"/>
            </a:endParaRPr>
          </a:p>
          <a:p>
            <a:r>
              <a:rPr lang="en-US" sz="1600" dirty="0" err="1">
                <a:latin typeface="Microsoft YaHei UI" panose="020B0503020204020204" pitchFamily="34" charset="-122"/>
                <a:ea typeface="Microsoft YaHei UI" panose="020B0503020204020204" pitchFamily="34" charset="-122"/>
              </a:rPr>
              <a:t>config</a:t>
            </a:r>
            <a:r>
              <a:rPr lang="en-US" sz="1600" dirty="0">
                <a:latin typeface="Microsoft YaHei UI" panose="020B0503020204020204" pitchFamily="34" charset="-122"/>
                <a:ea typeface="Microsoft YaHei UI" panose="020B0503020204020204" pitchFamily="34" charset="-122"/>
              </a:rPr>
              <a:t> = </a:t>
            </a:r>
            <a:r>
              <a:rPr lang="en-US" sz="1600" dirty="0" err="1">
                <a:latin typeface="Microsoft YaHei UI" panose="020B0503020204020204" pitchFamily="34" charset="-122"/>
                <a:ea typeface="Microsoft YaHei UI" panose="020B0503020204020204" pitchFamily="34" charset="-122"/>
              </a:rPr>
              <a:t>tf.ConfigProto</a:t>
            </a:r>
            <a:r>
              <a:rPr lang="en-US" sz="1600" dirty="0">
                <a:latin typeface="Microsoft YaHei UI" panose="020B0503020204020204" pitchFamily="34" charset="-122"/>
                <a:ea typeface="Microsoft YaHei UI" panose="020B0503020204020204" pitchFamily="34" charset="-122"/>
              </a:rPr>
              <a:t>() </a:t>
            </a:r>
          </a:p>
          <a:p>
            <a:r>
              <a:rPr lang="en-US" sz="1600" dirty="0" err="1">
                <a:solidFill>
                  <a:srgbClr val="00B050"/>
                </a:solidFill>
                <a:latin typeface="Microsoft YaHei UI" panose="020B0503020204020204" pitchFamily="34" charset="-122"/>
                <a:ea typeface="Microsoft YaHei UI" panose="020B0503020204020204" pitchFamily="34" charset="-122"/>
              </a:rPr>
              <a:t>config.gpu_options.visible_device_list</a:t>
            </a:r>
            <a:r>
              <a:rPr lang="en-US" sz="1600" dirty="0">
                <a:solidFill>
                  <a:srgbClr val="00B050"/>
                </a:solidFill>
                <a:latin typeface="Microsoft YaHei UI" panose="020B0503020204020204" pitchFamily="34" charset="-122"/>
                <a:ea typeface="Microsoft YaHei UI" panose="020B0503020204020204" pitchFamily="34" charset="-122"/>
              </a:rPr>
              <a:t> </a:t>
            </a:r>
          </a:p>
          <a:p>
            <a:r>
              <a:rPr lang="en-US" sz="1600" dirty="0">
                <a:solidFill>
                  <a:srgbClr val="00B050"/>
                </a:solidFill>
                <a:latin typeface="Microsoft YaHei UI" panose="020B0503020204020204" pitchFamily="34" charset="-122"/>
                <a:ea typeface="Microsoft YaHei UI" panose="020B0503020204020204" pitchFamily="34" charset="-122"/>
              </a:rPr>
              <a:t>= </a:t>
            </a:r>
            <a:r>
              <a:rPr lang="en-US" sz="1600" dirty="0" err="1">
                <a:solidFill>
                  <a:srgbClr val="00B050"/>
                </a:solidFill>
                <a:latin typeface="Microsoft YaHei UI" panose="020B0503020204020204" pitchFamily="34" charset="-122"/>
                <a:ea typeface="Microsoft YaHei UI" panose="020B0503020204020204" pitchFamily="34" charset="-122"/>
              </a:rPr>
              <a:t>str</a:t>
            </a:r>
            <a:r>
              <a:rPr lang="en-US" sz="1600" dirty="0">
                <a:solidFill>
                  <a:srgbClr val="00B050"/>
                </a:solidFill>
                <a:latin typeface="Microsoft YaHei UI" panose="020B0503020204020204" pitchFamily="34" charset="-122"/>
                <a:ea typeface="Microsoft YaHei UI" panose="020B0503020204020204" pitchFamily="34" charset="-122"/>
              </a:rPr>
              <a:t>(</a:t>
            </a:r>
            <a:r>
              <a:rPr lang="en-US" sz="1600" dirty="0" err="1">
                <a:solidFill>
                  <a:srgbClr val="00B050"/>
                </a:solidFill>
                <a:latin typeface="Microsoft YaHei UI" panose="020B0503020204020204" pitchFamily="34" charset="-122"/>
                <a:ea typeface="Microsoft YaHei UI" panose="020B0503020204020204" pitchFamily="34" charset="-122"/>
              </a:rPr>
              <a:t>hvd.local_rank</a:t>
            </a:r>
            <a:r>
              <a:rPr lang="en-US" sz="1600" dirty="0">
                <a:solidFill>
                  <a:srgbClr val="00B050"/>
                </a:solidFill>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r>
              <a:rPr lang="en-US" sz="1600" dirty="0">
                <a:solidFill>
                  <a:srgbClr val="00B050"/>
                </a:solidFill>
                <a:latin typeface="Microsoft YaHei UI" panose="020B0503020204020204" pitchFamily="34" charset="-122"/>
                <a:ea typeface="Microsoft YaHei UI" panose="020B0503020204020204" pitchFamily="34" charset="-122"/>
              </a:rPr>
              <a:t>if </a:t>
            </a:r>
            <a:r>
              <a:rPr lang="en-US" sz="1600" dirty="0" err="1">
                <a:solidFill>
                  <a:srgbClr val="00B050"/>
                </a:solidFill>
                <a:latin typeface="Microsoft YaHei UI" panose="020B0503020204020204" pitchFamily="34" charset="-122"/>
                <a:ea typeface="Microsoft YaHei UI" panose="020B0503020204020204" pitchFamily="34" charset="-122"/>
              </a:rPr>
              <a:t>hvd.rank</a:t>
            </a:r>
            <a:r>
              <a:rPr lang="en-US" sz="1600" dirty="0">
                <a:solidFill>
                  <a:srgbClr val="00B050"/>
                </a:solidFill>
                <a:latin typeface="Microsoft YaHei UI" panose="020B0503020204020204" pitchFamily="34" charset="-122"/>
                <a:ea typeface="Microsoft YaHei UI" panose="020B0503020204020204" pitchFamily="34" charset="-122"/>
              </a:rPr>
              <a:t>() == 0:</a:t>
            </a:r>
          </a:p>
          <a:p>
            <a:r>
              <a:rPr lang="en-US" sz="1600" dirty="0">
                <a:solidFill>
                  <a:srgbClr val="00B050"/>
                </a:solidFill>
                <a:latin typeface="Microsoft YaHei UI" panose="020B0503020204020204" pitchFamily="34" charset="-122"/>
                <a:ea typeface="Microsoft YaHei UI" panose="020B0503020204020204" pitchFamily="34" charset="-122"/>
              </a:rPr>
              <a:t>	read_chunk_0</a:t>
            </a:r>
          </a:p>
          <a:p>
            <a:r>
              <a:rPr lang="en-US" sz="1600" dirty="0">
                <a:solidFill>
                  <a:srgbClr val="00B050"/>
                </a:solidFill>
                <a:latin typeface="Microsoft YaHei UI" panose="020B0503020204020204" pitchFamily="34" charset="-122"/>
                <a:ea typeface="Microsoft YaHei UI" panose="020B0503020204020204" pitchFamily="34" charset="-122"/>
              </a:rPr>
              <a:t>else:</a:t>
            </a:r>
          </a:p>
          <a:p>
            <a:r>
              <a:rPr lang="en-US" sz="1600" dirty="0">
                <a:solidFill>
                  <a:srgbClr val="00B050"/>
                </a:solidFill>
                <a:latin typeface="Microsoft YaHei UI" panose="020B0503020204020204" pitchFamily="34" charset="-122"/>
                <a:ea typeface="Microsoft YaHei UI" panose="020B0503020204020204" pitchFamily="34" charset="-122"/>
              </a:rPr>
              <a:t>	</a:t>
            </a:r>
            <a:r>
              <a:rPr lang="en-US" sz="1600" dirty="0" err="1">
                <a:solidFill>
                  <a:srgbClr val="00B050"/>
                </a:solidFill>
                <a:latin typeface="Microsoft YaHei UI" panose="020B0503020204020204" pitchFamily="34" charset="-122"/>
                <a:ea typeface="Microsoft YaHei UI" panose="020B0503020204020204" pitchFamily="34" charset="-122"/>
              </a:rPr>
              <a:t>read_chunk_n</a:t>
            </a:r>
            <a:r>
              <a:rPr lang="en-US" sz="1600" dirty="0">
                <a:solidFill>
                  <a:srgbClr val="00B050"/>
                </a:solidFill>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endParaRPr lang="en-US" sz="1600" dirty="0">
              <a:latin typeface="Microsoft YaHei UI" panose="020B0503020204020204" pitchFamily="34" charset="-122"/>
              <a:ea typeface="Microsoft YaHei UI" panose="020B0503020204020204" pitchFamily="34" charset="-122"/>
            </a:endParaRPr>
          </a:p>
          <a:p>
            <a:r>
              <a:rPr lang="en-US" sz="1600" dirty="0">
                <a:latin typeface="Microsoft YaHei UI" panose="020B0503020204020204" pitchFamily="34" charset="-122"/>
                <a:ea typeface="Microsoft YaHei UI" panose="020B0503020204020204" pitchFamily="34" charset="-122"/>
              </a:rPr>
              <a:t>loss = ...</a:t>
            </a:r>
          </a:p>
          <a:p>
            <a:r>
              <a:rPr lang="en-US" sz="1600" dirty="0">
                <a:latin typeface="Microsoft YaHei UI" panose="020B0503020204020204" pitchFamily="34" charset="-122"/>
                <a:ea typeface="Microsoft YaHei UI" panose="020B0503020204020204" pitchFamily="34" charset="-122"/>
              </a:rPr>
              <a:t>opt = </a:t>
            </a:r>
            <a:r>
              <a:rPr lang="en-US" sz="1600" dirty="0" err="1">
                <a:latin typeface="Microsoft YaHei UI" panose="020B0503020204020204" pitchFamily="34" charset="-122"/>
                <a:ea typeface="Microsoft YaHei UI" panose="020B0503020204020204" pitchFamily="34" charset="-122"/>
              </a:rPr>
              <a:t>tf.train.AdamOptimizer</a:t>
            </a:r>
            <a:r>
              <a:rPr lang="en-US" sz="1600" dirty="0">
                <a:latin typeface="Microsoft YaHei UI" panose="020B0503020204020204" pitchFamily="34" charset="-122"/>
                <a:ea typeface="Microsoft YaHei UI" panose="020B0503020204020204" pitchFamily="34" charset="-122"/>
              </a:rPr>
              <a:t>(</a:t>
            </a:r>
            <a:r>
              <a:rPr lang="en-US" sz="1600" dirty="0" err="1">
                <a:latin typeface="Microsoft YaHei UI" panose="020B0503020204020204" pitchFamily="34" charset="-122"/>
                <a:ea typeface="Microsoft YaHei UI" panose="020B0503020204020204" pitchFamily="34" charset="-122"/>
              </a:rPr>
              <a:t>learning_rate</a:t>
            </a:r>
            <a:r>
              <a:rPr lang="en-US" sz="1600" dirty="0">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r>
              <a:rPr lang="en-US" sz="1600" dirty="0">
                <a:latin typeface="Microsoft YaHei UI" panose="020B0503020204020204" pitchFamily="34" charset="-122"/>
                <a:ea typeface="Microsoft YaHei UI" panose="020B0503020204020204" pitchFamily="34" charset="-122"/>
              </a:rPr>
              <a:t>#opt = </a:t>
            </a:r>
            <a:r>
              <a:rPr lang="en-US" sz="1600" dirty="0" err="1">
                <a:latin typeface="Microsoft YaHei UI" panose="020B0503020204020204" pitchFamily="34" charset="-122"/>
                <a:ea typeface="Microsoft YaHei UI" panose="020B0503020204020204" pitchFamily="34" charset="-122"/>
              </a:rPr>
              <a:t>hvd.DistributedOptimizer</a:t>
            </a:r>
            <a:r>
              <a:rPr lang="en-US" sz="1600" dirty="0">
                <a:latin typeface="Microsoft YaHei UI" panose="020B0503020204020204" pitchFamily="34" charset="-122"/>
                <a:ea typeface="Microsoft YaHei UI" panose="020B0503020204020204" pitchFamily="34" charset="-122"/>
              </a:rPr>
              <a:t>(opt)</a:t>
            </a:r>
          </a:p>
          <a:p>
            <a:endParaRPr lang="en-US" sz="1600" dirty="0">
              <a:latin typeface="Microsoft YaHei UI" panose="020B0503020204020204" pitchFamily="34" charset="-122"/>
              <a:ea typeface="Microsoft YaHei UI" panose="020B0503020204020204" pitchFamily="34" charset="-122"/>
            </a:endParaRPr>
          </a:p>
          <a:p>
            <a:r>
              <a:rPr lang="en-US" sz="1600" dirty="0">
                <a:latin typeface="Microsoft YaHei UI" panose="020B0503020204020204" pitchFamily="34" charset="-122"/>
                <a:ea typeface="Microsoft YaHei UI" panose="020B0503020204020204" pitchFamily="34" charset="-122"/>
              </a:rPr>
              <a:t>train = </a:t>
            </a:r>
            <a:r>
              <a:rPr lang="en-US" sz="1600" dirty="0" err="1">
                <a:latin typeface="Microsoft YaHei UI" panose="020B0503020204020204" pitchFamily="34" charset="-122"/>
                <a:ea typeface="Microsoft YaHei UI" panose="020B0503020204020204" pitchFamily="34" charset="-122"/>
              </a:rPr>
              <a:t>opt.minimize</a:t>
            </a:r>
            <a:r>
              <a:rPr lang="en-US" sz="1600" dirty="0">
                <a:latin typeface="Microsoft YaHei UI" panose="020B0503020204020204" pitchFamily="34" charset="-122"/>
                <a:ea typeface="Microsoft YaHei UI" panose="020B0503020204020204" pitchFamily="34" charset="-122"/>
              </a:rPr>
              <a:t>(loss)</a:t>
            </a:r>
          </a:p>
        </p:txBody>
      </p:sp>
      <p:sp>
        <p:nvSpPr>
          <p:cNvPr id="17" name="文本框 16"/>
          <p:cNvSpPr txBox="1"/>
          <p:nvPr/>
        </p:nvSpPr>
        <p:spPr>
          <a:xfrm>
            <a:off x="4668985" y="820790"/>
            <a:ext cx="4793670" cy="2308324"/>
          </a:xfrm>
          <a:prstGeom prst="rect">
            <a:avLst/>
          </a:prstGeom>
          <a:noFill/>
        </p:spPr>
        <p:txBody>
          <a:bodyPr wrap="square" rtlCol="0">
            <a:spAutoFit/>
          </a:bodyPr>
          <a:lstStyle/>
          <a:p>
            <a:r>
              <a:rPr lang="en-US" sz="1600" dirty="0" err="1">
                <a:latin typeface="Microsoft YaHei UI" panose="020B0503020204020204" pitchFamily="34" charset="-122"/>
                <a:ea typeface="Microsoft YaHei UI" panose="020B0503020204020204" pitchFamily="34" charset="-122"/>
              </a:rPr>
              <a:t>init</a:t>
            </a:r>
            <a:r>
              <a:rPr lang="en-US" sz="1600" dirty="0">
                <a:latin typeface="Microsoft YaHei UI" panose="020B0503020204020204" pitchFamily="34" charset="-122"/>
                <a:ea typeface="Microsoft YaHei UI" panose="020B0503020204020204" pitchFamily="34" charset="-122"/>
              </a:rPr>
              <a:t> = </a:t>
            </a:r>
            <a:r>
              <a:rPr lang="en-US" sz="1600" dirty="0" err="1">
                <a:latin typeface="Microsoft YaHei UI" panose="020B0503020204020204" pitchFamily="34" charset="-122"/>
                <a:ea typeface="Microsoft YaHei UI" panose="020B0503020204020204" pitchFamily="34" charset="-122"/>
              </a:rPr>
              <a:t>tf.global_variables_initializer</a:t>
            </a:r>
            <a:r>
              <a:rPr lang="en-US" sz="1600" dirty="0">
                <a:latin typeface="Microsoft YaHei UI" panose="020B0503020204020204" pitchFamily="34" charset="-122"/>
                <a:ea typeface="Microsoft YaHei UI" panose="020B0503020204020204" pitchFamily="34" charset="-122"/>
              </a:rPr>
              <a:t>()</a:t>
            </a:r>
          </a:p>
          <a:p>
            <a:r>
              <a:rPr lang="en-US" sz="1600" dirty="0" err="1">
                <a:latin typeface="Microsoft YaHei UI" panose="020B0503020204020204" pitchFamily="34" charset="-122"/>
                <a:ea typeface="Microsoft YaHei UI" panose="020B0503020204020204" pitchFamily="34" charset="-122"/>
              </a:rPr>
              <a:t>sess.run</a:t>
            </a:r>
            <a:r>
              <a:rPr lang="en-US" sz="1600" dirty="0">
                <a:latin typeface="Microsoft YaHei UI" panose="020B0503020204020204" pitchFamily="34" charset="-122"/>
                <a:ea typeface="Microsoft YaHei UI" panose="020B0503020204020204" pitchFamily="34" charset="-122"/>
              </a:rPr>
              <a:t>(</a:t>
            </a:r>
            <a:r>
              <a:rPr lang="en-US" sz="1600" dirty="0" err="1">
                <a:latin typeface="Microsoft YaHei UI" panose="020B0503020204020204" pitchFamily="34" charset="-122"/>
                <a:ea typeface="Microsoft YaHei UI" panose="020B0503020204020204" pitchFamily="34" charset="-122"/>
              </a:rPr>
              <a:t>init</a:t>
            </a:r>
            <a:r>
              <a:rPr lang="en-US" sz="1600" dirty="0">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endParaRPr lang="en-US" sz="1600" dirty="0">
              <a:latin typeface="Microsoft YaHei UI" panose="020B0503020204020204" pitchFamily="34" charset="-122"/>
              <a:ea typeface="Microsoft YaHei UI" panose="020B0503020204020204" pitchFamily="34" charset="-122"/>
            </a:endParaRPr>
          </a:p>
          <a:p>
            <a:r>
              <a:rPr lang="en-US" sz="1600" dirty="0" err="1">
                <a:solidFill>
                  <a:srgbClr val="00B050"/>
                </a:solidFill>
                <a:latin typeface="Microsoft YaHei UI" panose="020B0503020204020204" pitchFamily="34" charset="-122"/>
                <a:ea typeface="Microsoft YaHei UI" panose="020B0503020204020204" pitchFamily="34" charset="-122"/>
              </a:rPr>
              <a:t>bcast</a:t>
            </a:r>
            <a:r>
              <a:rPr lang="en-US" sz="1600" dirty="0">
                <a:solidFill>
                  <a:srgbClr val="00B050"/>
                </a:solidFill>
                <a:latin typeface="Microsoft YaHei UI" panose="020B0503020204020204" pitchFamily="34" charset="-122"/>
                <a:ea typeface="Microsoft YaHei UI" panose="020B0503020204020204" pitchFamily="34" charset="-122"/>
              </a:rPr>
              <a:t> = </a:t>
            </a:r>
            <a:r>
              <a:rPr lang="en-US" sz="1600" dirty="0" err="1">
                <a:solidFill>
                  <a:srgbClr val="00B050"/>
                </a:solidFill>
                <a:latin typeface="Microsoft YaHei UI" panose="020B0503020204020204" pitchFamily="34" charset="-122"/>
                <a:ea typeface="Microsoft YaHei UI" panose="020B0503020204020204" pitchFamily="34" charset="-122"/>
              </a:rPr>
              <a:t>hvd.broadcast_global_variables</a:t>
            </a:r>
            <a:r>
              <a:rPr lang="en-US" sz="1600" dirty="0">
                <a:solidFill>
                  <a:srgbClr val="00B050"/>
                </a:solidFill>
                <a:latin typeface="Microsoft YaHei UI" panose="020B0503020204020204" pitchFamily="34" charset="-122"/>
                <a:ea typeface="Microsoft YaHei UI" panose="020B0503020204020204" pitchFamily="34" charset="-122"/>
              </a:rPr>
              <a:t>(0)</a:t>
            </a:r>
          </a:p>
          <a:p>
            <a:r>
              <a:rPr lang="en-US" sz="1600" dirty="0" err="1">
                <a:solidFill>
                  <a:srgbClr val="00B050"/>
                </a:solidFill>
                <a:latin typeface="Microsoft YaHei UI" panose="020B0503020204020204" pitchFamily="34" charset="-122"/>
                <a:ea typeface="Microsoft YaHei UI" panose="020B0503020204020204" pitchFamily="34" charset="-122"/>
              </a:rPr>
              <a:t>sess.run</a:t>
            </a:r>
            <a:r>
              <a:rPr lang="en-US" sz="1600" dirty="0">
                <a:solidFill>
                  <a:srgbClr val="00B050"/>
                </a:solidFill>
                <a:latin typeface="Microsoft YaHei UI" panose="020B0503020204020204" pitchFamily="34" charset="-122"/>
                <a:ea typeface="Microsoft YaHei UI" panose="020B0503020204020204" pitchFamily="34" charset="-122"/>
              </a:rPr>
              <a:t>(</a:t>
            </a:r>
            <a:r>
              <a:rPr lang="en-US" sz="1600" dirty="0" err="1">
                <a:solidFill>
                  <a:srgbClr val="00B050"/>
                </a:solidFill>
                <a:latin typeface="Microsoft YaHei UI" panose="020B0503020204020204" pitchFamily="34" charset="-122"/>
                <a:ea typeface="Microsoft YaHei UI" panose="020B0503020204020204" pitchFamily="34" charset="-122"/>
              </a:rPr>
              <a:t>bcast</a:t>
            </a:r>
            <a:r>
              <a:rPr lang="en-US" sz="1600" dirty="0">
                <a:solidFill>
                  <a:srgbClr val="00B050"/>
                </a:solidFill>
                <a:latin typeface="Microsoft YaHei UI" panose="020B0503020204020204" pitchFamily="34" charset="-122"/>
                <a:ea typeface="Microsoft YaHei UI" panose="020B0503020204020204" pitchFamily="34" charset="-122"/>
              </a:rPr>
              <a:t>)</a:t>
            </a:r>
          </a:p>
          <a:p>
            <a:endParaRPr lang="en-US" sz="1600" dirty="0">
              <a:latin typeface="Microsoft YaHei UI" panose="020B0503020204020204" pitchFamily="34" charset="-122"/>
              <a:ea typeface="Microsoft YaHei UI" panose="020B0503020204020204" pitchFamily="34" charset="-122"/>
            </a:endParaRPr>
          </a:p>
          <a:p>
            <a:r>
              <a:rPr lang="en-US" sz="1600" dirty="0">
                <a:latin typeface="Microsoft YaHei UI" panose="020B0503020204020204" pitchFamily="34" charset="-122"/>
                <a:ea typeface="Microsoft YaHei UI" panose="020B0503020204020204" pitchFamily="34" charset="-122"/>
              </a:rPr>
              <a:t>while </a:t>
            </a:r>
            <a:r>
              <a:rPr lang="en-US" sz="1600" dirty="0" err="1">
                <a:latin typeface="Microsoft YaHei UI" panose="020B0503020204020204" pitchFamily="34" charset="-122"/>
                <a:ea typeface="Microsoft YaHei UI" panose="020B0503020204020204" pitchFamily="34" charset="-122"/>
              </a:rPr>
              <a:t>train_step</a:t>
            </a:r>
            <a:r>
              <a:rPr lang="en-US" sz="1600" dirty="0">
                <a:latin typeface="Microsoft YaHei UI" panose="020B0503020204020204" pitchFamily="34" charset="-122"/>
                <a:ea typeface="Microsoft YaHei UI" panose="020B0503020204020204" pitchFamily="34" charset="-122"/>
              </a:rPr>
              <a:t> &lt; </a:t>
            </a:r>
            <a:r>
              <a:rPr lang="en-US" sz="1600" dirty="0" err="1">
                <a:latin typeface="Microsoft YaHei UI" panose="020B0503020204020204" pitchFamily="34" charset="-122"/>
                <a:ea typeface="Microsoft YaHei UI" panose="020B0503020204020204" pitchFamily="34" charset="-122"/>
              </a:rPr>
              <a:t>step_max</a:t>
            </a:r>
            <a:r>
              <a:rPr lang="en-US" sz="1600" dirty="0">
                <a:latin typeface="Microsoft YaHei UI" panose="020B0503020204020204" pitchFamily="34" charset="-122"/>
                <a:ea typeface="Microsoft YaHei UI" panose="020B0503020204020204" pitchFamily="34" charset="-122"/>
              </a:rPr>
              <a:t>:</a:t>
            </a:r>
          </a:p>
          <a:p>
            <a:r>
              <a:rPr lang="en-US" sz="1600" dirty="0">
                <a:latin typeface="Microsoft YaHei UI" panose="020B0503020204020204" pitchFamily="34" charset="-122"/>
                <a:ea typeface="Microsoft YaHei UI" panose="020B0503020204020204" pitchFamily="34" charset="-122"/>
              </a:rPr>
              <a:t>	</a:t>
            </a:r>
            <a:r>
              <a:rPr lang="en-US" sz="1600" dirty="0" err="1">
                <a:latin typeface="Microsoft YaHei UI" panose="020B0503020204020204" pitchFamily="34" charset="-122"/>
                <a:ea typeface="Microsoft YaHei UI" panose="020B0503020204020204" pitchFamily="34" charset="-122"/>
              </a:rPr>
              <a:t>sess.run</a:t>
            </a:r>
            <a:r>
              <a:rPr lang="en-US" sz="1600" dirty="0">
                <a:latin typeface="Microsoft YaHei UI" panose="020B0503020204020204" pitchFamily="34" charset="-122"/>
                <a:ea typeface="Microsoft YaHei UI" panose="020B0503020204020204" pitchFamily="34" charset="-122"/>
              </a:rPr>
              <a:t>([train, loss], </a:t>
            </a:r>
            <a:r>
              <a:rPr lang="en-US" sz="1600" dirty="0" err="1">
                <a:latin typeface="Microsoft YaHei UI" panose="020B0503020204020204" pitchFamily="34" charset="-122"/>
                <a:ea typeface="Microsoft YaHei UI" panose="020B0503020204020204" pitchFamily="34" charset="-122"/>
              </a:rPr>
              <a:t>feed_dict</a:t>
            </a:r>
            <a:r>
              <a:rPr lang="en-US" sz="1600" dirty="0">
                <a:latin typeface="Microsoft YaHei UI" panose="020B0503020204020204" pitchFamily="34" charset="-122"/>
                <a:ea typeface="Microsoft YaHei UI" panose="020B0503020204020204" pitchFamily="34" charset="-122"/>
              </a:rPr>
              <a:t>=…) </a:t>
            </a:r>
          </a:p>
        </p:txBody>
      </p:sp>
      <p:pic>
        <p:nvPicPr>
          <p:cNvPr id="18" name="图片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54111" y="5781964"/>
            <a:ext cx="1076036" cy="1076036"/>
          </a:xfrm>
          <a:prstGeom prst="rect">
            <a:avLst/>
          </a:prstGeom>
        </p:spPr>
      </p:pic>
      <p:sp>
        <p:nvSpPr>
          <p:cNvPr id="2" name="文本框 1"/>
          <p:cNvSpPr txBox="1"/>
          <p:nvPr/>
        </p:nvSpPr>
        <p:spPr>
          <a:xfrm>
            <a:off x="3556000" y="1016000"/>
            <a:ext cx="498764" cy="461665"/>
          </a:xfrm>
          <a:prstGeom prst="rect">
            <a:avLst/>
          </a:prstGeom>
          <a:noFill/>
        </p:spPr>
        <p:txBody>
          <a:bodyPr wrap="square" rtlCol="0">
            <a:spAutoFit/>
          </a:bodyPr>
          <a:lstStyle/>
          <a:p>
            <a:pPr algn="ctr"/>
            <a:r>
              <a:rPr lang="en-US" sz="2400" dirty="0">
                <a:solidFill>
                  <a:srgbClr val="3333FD"/>
                </a:solidFill>
                <a:latin typeface="Microsoft YaHei UI" panose="020B0503020204020204" pitchFamily="34" charset="-122"/>
                <a:ea typeface="Microsoft YaHei UI" panose="020B0503020204020204" pitchFamily="34" charset="-122"/>
              </a:rPr>
              <a:t>1</a:t>
            </a:r>
          </a:p>
        </p:txBody>
      </p:sp>
      <p:sp>
        <p:nvSpPr>
          <p:cNvPr id="7" name="文本框 6"/>
          <p:cNvSpPr txBox="1"/>
          <p:nvPr/>
        </p:nvSpPr>
        <p:spPr>
          <a:xfrm>
            <a:off x="955965" y="1513287"/>
            <a:ext cx="498764" cy="461665"/>
          </a:xfrm>
          <a:prstGeom prst="rect">
            <a:avLst/>
          </a:prstGeom>
          <a:noFill/>
        </p:spPr>
        <p:txBody>
          <a:bodyPr wrap="square" rtlCol="0">
            <a:spAutoFit/>
          </a:bodyPr>
          <a:lstStyle/>
          <a:p>
            <a:pPr algn="ctr"/>
            <a:r>
              <a:rPr lang="en-US" sz="2400" dirty="0">
                <a:solidFill>
                  <a:srgbClr val="3333FD"/>
                </a:solidFill>
                <a:latin typeface="Microsoft YaHei UI" panose="020B0503020204020204" pitchFamily="34" charset="-122"/>
                <a:ea typeface="Microsoft YaHei UI" panose="020B0503020204020204" pitchFamily="34" charset="-122"/>
              </a:rPr>
              <a:t>2</a:t>
            </a:r>
          </a:p>
        </p:txBody>
      </p:sp>
      <p:sp>
        <p:nvSpPr>
          <p:cNvPr id="9" name="文本框 8"/>
          <p:cNvSpPr txBox="1"/>
          <p:nvPr/>
        </p:nvSpPr>
        <p:spPr>
          <a:xfrm>
            <a:off x="3699163" y="2667449"/>
            <a:ext cx="498764" cy="461665"/>
          </a:xfrm>
          <a:prstGeom prst="rect">
            <a:avLst/>
          </a:prstGeom>
          <a:noFill/>
        </p:spPr>
        <p:txBody>
          <a:bodyPr wrap="square" rtlCol="0">
            <a:spAutoFit/>
          </a:bodyPr>
          <a:lstStyle/>
          <a:p>
            <a:pPr algn="ctr"/>
            <a:r>
              <a:rPr lang="en-US" sz="2400" dirty="0">
                <a:solidFill>
                  <a:srgbClr val="3333FD"/>
                </a:solidFill>
                <a:latin typeface="Microsoft YaHei UI" panose="020B0503020204020204" pitchFamily="34" charset="-122"/>
                <a:ea typeface="Microsoft YaHei UI" panose="020B0503020204020204" pitchFamily="34" charset="-122"/>
              </a:rPr>
              <a:t>3</a:t>
            </a:r>
          </a:p>
        </p:txBody>
      </p:sp>
      <p:sp>
        <p:nvSpPr>
          <p:cNvPr id="10" name="文本框 9"/>
          <p:cNvSpPr txBox="1"/>
          <p:nvPr/>
        </p:nvSpPr>
        <p:spPr>
          <a:xfrm>
            <a:off x="2673928" y="3625272"/>
            <a:ext cx="498764" cy="461665"/>
          </a:xfrm>
          <a:prstGeom prst="rect">
            <a:avLst/>
          </a:prstGeom>
          <a:noFill/>
        </p:spPr>
        <p:txBody>
          <a:bodyPr wrap="square" rtlCol="0">
            <a:spAutoFit/>
          </a:bodyPr>
          <a:lstStyle/>
          <a:p>
            <a:pPr algn="ctr"/>
            <a:r>
              <a:rPr lang="en-US" sz="2400" dirty="0">
                <a:solidFill>
                  <a:srgbClr val="3333FD"/>
                </a:solidFill>
                <a:latin typeface="Microsoft YaHei UI" panose="020B0503020204020204" pitchFamily="34" charset="-122"/>
                <a:ea typeface="Microsoft YaHei UI" panose="020B0503020204020204" pitchFamily="34" charset="-122"/>
              </a:rPr>
              <a:t>4</a:t>
            </a:r>
          </a:p>
        </p:txBody>
      </p:sp>
      <p:sp>
        <p:nvSpPr>
          <p:cNvPr id="13" name="文本框 12"/>
          <p:cNvSpPr txBox="1"/>
          <p:nvPr/>
        </p:nvSpPr>
        <p:spPr>
          <a:xfrm>
            <a:off x="4299528" y="1851730"/>
            <a:ext cx="498764" cy="461665"/>
          </a:xfrm>
          <a:prstGeom prst="rect">
            <a:avLst/>
          </a:prstGeom>
          <a:noFill/>
        </p:spPr>
        <p:txBody>
          <a:bodyPr wrap="square" rtlCol="0">
            <a:spAutoFit/>
          </a:bodyPr>
          <a:lstStyle/>
          <a:p>
            <a:pPr algn="ctr"/>
            <a:r>
              <a:rPr lang="en-US" sz="2400" dirty="0">
                <a:solidFill>
                  <a:srgbClr val="3333FD"/>
                </a:solidFill>
                <a:latin typeface="Microsoft YaHei UI" panose="020B0503020204020204" pitchFamily="34" charset="-122"/>
                <a:ea typeface="Microsoft YaHei UI" panose="020B0503020204020204" pitchFamily="34" charset="-122"/>
              </a:rPr>
              <a:t>5</a:t>
            </a:r>
          </a:p>
        </p:txBody>
      </p:sp>
    </p:spTree>
    <p:extLst>
      <p:ext uri="{BB962C8B-B14F-4D97-AF65-F5344CB8AC3E}">
        <p14:creationId xmlns:p14="http://schemas.microsoft.com/office/powerpoint/2010/main" val="2311025534"/>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rgbClr val="C00000"/>
                </a:solidFill>
                <a:latin typeface="Microsoft YaHei UI" panose="020B0503020204020204" pitchFamily="34" charset="-122"/>
                <a:ea typeface="Microsoft YaHei UI" panose="020B0503020204020204" pitchFamily="34" charset="-122"/>
                <a:cs typeface="Times New Roman" panose="02020603050405020304" pitchFamily="18" charset="0"/>
              </a:rPr>
              <a:t>Outline</a:t>
            </a:r>
          </a:p>
        </p:txBody>
      </p:sp>
      <p:sp>
        <p:nvSpPr>
          <p:cNvPr id="3" name="文本框 2"/>
          <p:cNvSpPr txBox="1"/>
          <p:nvPr/>
        </p:nvSpPr>
        <p:spPr>
          <a:xfrm>
            <a:off x="193963" y="1052945"/>
            <a:ext cx="8562109" cy="3785652"/>
          </a:xfrm>
          <a:prstGeom prst="rect">
            <a:avLst/>
          </a:prstGeom>
          <a:noFill/>
        </p:spPr>
        <p:txBody>
          <a:bodyPr wrap="square" rtlCol="0">
            <a:spAutoFit/>
          </a:bodyPr>
          <a:lstStyle/>
          <a:p>
            <a:pPr marL="285750" indent="-285750">
              <a:buClr>
                <a:srgbClr val="0000FF"/>
              </a:buClr>
              <a:buFont typeface="Wingdings" panose="05000000000000000000" pitchFamily="2" charset="2"/>
              <a:buChar char="Ø"/>
            </a:pPr>
            <a:r>
              <a:rPr lang="en-US" sz="2400" dirty="0">
                <a:latin typeface="Microsoft YaHei UI" panose="020B0503020204020204" pitchFamily="34" charset="-122"/>
                <a:ea typeface="Microsoft YaHei UI" panose="020B0503020204020204" pitchFamily="34" charset="-122"/>
              </a:rPr>
              <a:t>What’s </a:t>
            </a:r>
            <a:r>
              <a:rPr lang="en-US" sz="2400" dirty="0" err="1">
                <a:latin typeface="Microsoft YaHei UI" panose="020B0503020204020204" pitchFamily="34" charset="-122"/>
                <a:ea typeface="Microsoft YaHei UI" panose="020B0503020204020204" pitchFamily="34" charset="-122"/>
              </a:rPr>
              <a:t>Horovod</a:t>
            </a:r>
            <a:r>
              <a:rPr lang="en-US" sz="2400" dirty="0">
                <a:latin typeface="Microsoft YaHei UI" panose="020B0503020204020204" pitchFamily="34" charset="-122"/>
                <a:ea typeface="Microsoft YaHei UI" panose="020B0503020204020204" pitchFamily="34" charset="-122"/>
              </a:rPr>
              <a:t>?</a:t>
            </a:r>
            <a:br>
              <a:rPr lang="en-US" sz="2400" dirty="0">
                <a:latin typeface="Microsoft YaHei UI" panose="020B0503020204020204" pitchFamily="34" charset="-122"/>
                <a:ea typeface="Microsoft YaHei UI" panose="020B0503020204020204" pitchFamily="34" charset="-122"/>
              </a:rPr>
            </a:br>
            <a:endParaRPr lang="en-US" sz="2400" dirty="0">
              <a:latin typeface="Microsoft YaHei UI" panose="020B0503020204020204" pitchFamily="34" charset="-122"/>
              <a:ea typeface="Microsoft YaHei UI" panose="020B0503020204020204" pitchFamily="34" charset="-122"/>
            </a:endParaRPr>
          </a:p>
          <a:p>
            <a:pPr marL="285750" indent="-285750">
              <a:buFont typeface="Wingdings" panose="05000000000000000000" pitchFamily="2" charset="2"/>
              <a:buChar char="Ø"/>
            </a:pPr>
            <a:endParaRPr lang="en-US" sz="2400" dirty="0">
              <a:latin typeface="Microsoft YaHei UI" panose="020B0503020204020204" pitchFamily="34" charset="-122"/>
              <a:ea typeface="Microsoft YaHei UI" panose="020B0503020204020204" pitchFamily="34" charset="-122"/>
            </a:endParaRPr>
          </a:p>
          <a:p>
            <a:pPr marL="285750" indent="-285750">
              <a:buClr>
                <a:srgbClr val="0000FF"/>
              </a:buClr>
              <a:buFont typeface="Wingdings" panose="05000000000000000000" pitchFamily="2" charset="2"/>
              <a:buChar char="Ø"/>
            </a:pPr>
            <a:r>
              <a:rPr lang="en-US" sz="2400" dirty="0">
                <a:latin typeface="Microsoft YaHei UI" panose="020B0503020204020204" pitchFamily="34" charset="-122"/>
                <a:ea typeface="Microsoft YaHei UI" panose="020B0503020204020204" pitchFamily="34" charset="-122"/>
              </a:rPr>
              <a:t>How to use?</a:t>
            </a:r>
            <a:br>
              <a:rPr lang="en-US" sz="2400" dirty="0">
                <a:latin typeface="Microsoft YaHei UI" panose="020B0503020204020204" pitchFamily="34" charset="-122"/>
                <a:ea typeface="Microsoft YaHei UI" panose="020B0503020204020204" pitchFamily="34" charset="-122"/>
              </a:rPr>
            </a:br>
            <a:endParaRPr lang="en-US" sz="2400" dirty="0">
              <a:latin typeface="Microsoft YaHei UI" panose="020B0503020204020204" pitchFamily="34" charset="-122"/>
              <a:ea typeface="Microsoft YaHei UI" panose="020B0503020204020204" pitchFamily="34" charset="-122"/>
            </a:endParaRPr>
          </a:p>
          <a:p>
            <a:pPr marL="285750" indent="-285750">
              <a:buClr>
                <a:srgbClr val="0000FF"/>
              </a:buClr>
              <a:buFont typeface="Wingdings" panose="05000000000000000000" pitchFamily="2" charset="2"/>
              <a:buChar char="Ø"/>
            </a:pPr>
            <a:endParaRPr lang="en-US" sz="2400" dirty="0">
              <a:latin typeface="Microsoft YaHei UI" panose="020B0503020204020204" pitchFamily="34" charset="-122"/>
              <a:ea typeface="Microsoft YaHei UI" panose="020B0503020204020204" pitchFamily="34" charset="-122"/>
            </a:endParaRPr>
          </a:p>
          <a:p>
            <a:pPr marL="285750" indent="-285750">
              <a:buClr>
                <a:srgbClr val="0000FF"/>
              </a:buClr>
              <a:buFont typeface="Wingdings" panose="05000000000000000000" pitchFamily="2" charset="2"/>
              <a:buChar char="Ø"/>
            </a:pPr>
            <a:endParaRPr lang="en-US" sz="2400" dirty="0">
              <a:latin typeface="Microsoft YaHei UI" panose="020B0503020204020204" pitchFamily="34" charset="-122"/>
              <a:ea typeface="Microsoft YaHei UI" panose="020B0503020204020204" pitchFamily="34" charset="-122"/>
            </a:endParaRPr>
          </a:p>
          <a:p>
            <a:pPr marL="285750" indent="-285750">
              <a:buFont typeface="Wingdings" panose="05000000000000000000" pitchFamily="2" charset="2"/>
              <a:buChar char="Ø"/>
            </a:pPr>
            <a:endParaRPr lang="en-US" sz="2400" dirty="0">
              <a:latin typeface="Microsoft YaHei UI" panose="020B0503020204020204" pitchFamily="34" charset="-122"/>
              <a:ea typeface="Microsoft YaHei UI" panose="020B0503020204020204" pitchFamily="34" charset="-122"/>
            </a:endParaRPr>
          </a:p>
          <a:p>
            <a:pPr marL="285750" indent="-285750">
              <a:buFont typeface="Wingdings" panose="05000000000000000000" pitchFamily="2" charset="2"/>
              <a:buChar char="Ø"/>
            </a:pPr>
            <a:endParaRPr lang="en-US" sz="2400" dirty="0">
              <a:latin typeface="Microsoft YaHei UI" panose="020B0503020204020204" pitchFamily="34" charset="-122"/>
              <a:ea typeface="Microsoft YaHei UI" panose="020B0503020204020204" pitchFamily="34" charset="-122"/>
            </a:endParaRPr>
          </a:p>
          <a:p>
            <a:pPr marL="285750" indent="-285750">
              <a:buClr>
                <a:srgbClr val="0000FF"/>
              </a:buClr>
              <a:buFont typeface="Wingdings" panose="05000000000000000000" pitchFamily="2" charset="2"/>
              <a:buChar char="Ø"/>
            </a:pPr>
            <a:r>
              <a:rPr lang="en-US" sz="2400" dirty="0">
                <a:solidFill>
                  <a:srgbClr val="FF0000"/>
                </a:solidFill>
                <a:latin typeface="Microsoft YaHei UI" panose="020B0503020204020204" pitchFamily="34" charset="-122"/>
                <a:ea typeface="Microsoft YaHei UI" panose="020B0503020204020204" pitchFamily="34" charset="-122"/>
              </a:rPr>
              <a:t>Examples for function approximation/PINN</a:t>
            </a:r>
          </a:p>
        </p:txBody>
      </p:sp>
      <p:sp>
        <p:nvSpPr>
          <p:cNvPr id="9" name="文本框 8"/>
          <p:cNvSpPr txBox="1"/>
          <p:nvPr/>
        </p:nvSpPr>
        <p:spPr>
          <a:xfrm>
            <a:off x="517236" y="2761105"/>
            <a:ext cx="3519055" cy="1015663"/>
          </a:xfrm>
          <a:prstGeom prst="rect">
            <a:avLst/>
          </a:prstGeom>
          <a:noFill/>
        </p:spPr>
        <p:txBody>
          <a:bodyPr wrap="square" rtlCol="0">
            <a:spAutoFit/>
          </a:bodyPr>
          <a:lstStyle/>
          <a:p>
            <a:pPr marL="342900" indent="-342900">
              <a:buClr>
                <a:srgbClr val="0000FF"/>
              </a:buClr>
              <a:buFont typeface="+mj-lt"/>
              <a:buAutoNum type="arabicPeriod"/>
            </a:pPr>
            <a:r>
              <a:rPr lang="en-US" sz="2000" dirty="0">
                <a:latin typeface="Microsoft YaHei UI" panose="020B0503020204020204" pitchFamily="34" charset="-122"/>
                <a:ea typeface="Microsoft YaHei UI" panose="020B0503020204020204" pitchFamily="34" charset="-122"/>
              </a:rPr>
              <a:t>Data parallelism</a:t>
            </a:r>
          </a:p>
          <a:p>
            <a:pPr marL="342900" indent="-342900">
              <a:buClr>
                <a:srgbClr val="0000FF"/>
              </a:buClr>
              <a:buFont typeface="+mj-lt"/>
              <a:buAutoNum type="arabicPeriod"/>
            </a:pPr>
            <a:endParaRPr lang="en-US" sz="2000" dirty="0">
              <a:latin typeface="Microsoft YaHei UI" panose="020B0503020204020204" pitchFamily="34" charset="-122"/>
              <a:ea typeface="Microsoft YaHei UI" panose="020B0503020204020204" pitchFamily="34" charset="-122"/>
            </a:endParaRPr>
          </a:p>
          <a:p>
            <a:pPr marL="342900" indent="-342900">
              <a:buClr>
                <a:srgbClr val="0000FF"/>
              </a:buClr>
              <a:buFont typeface="+mj-lt"/>
              <a:buAutoNum type="arabicPeriod"/>
            </a:pPr>
            <a:r>
              <a:rPr lang="en-US" sz="2000" dirty="0">
                <a:latin typeface="Microsoft YaHei UI" panose="020B0503020204020204" pitchFamily="34" charset="-122"/>
                <a:ea typeface="Microsoft YaHei UI" panose="020B0503020204020204" pitchFamily="34" charset="-122"/>
              </a:rPr>
              <a:t>Ensemble training</a:t>
            </a:r>
          </a:p>
        </p:txBody>
      </p:sp>
      <p:sp>
        <p:nvSpPr>
          <p:cNvPr id="10" name="文本框 9"/>
          <p:cNvSpPr txBox="1"/>
          <p:nvPr/>
        </p:nvSpPr>
        <p:spPr>
          <a:xfrm>
            <a:off x="517236" y="4958623"/>
            <a:ext cx="3519055" cy="1015663"/>
          </a:xfrm>
          <a:prstGeom prst="rect">
            <a:avLst/>
          </a:prstGeom>
          <a:noFill/>
        </p:spPr>
        <p:txBody>
          <a:bodyPr wrap="square" rtlCol="0">
            <a:spAutoFit/>
          </a:bodyPr>
          <a:lstStyle/>
          <a:p>
            <a:pPr marL="342900" indent="-342900">
              <a:buClr>
                <a:srgbClr val="0000FF"/>
              </a:buClr>
              <a:buFont typeface="+mj-lt"/>
              <a:buAutoNum type="arabicPeriod"/>
            </a:pPr>
            <a:r>
              <a:rPr lang="en-US" sz="2000" dirty="0">
                <a:latin typeface="Microsoft YaHei UI" panose="020B0503020204020204" pitchFamily="34" charset="-122"/>
                <a:ea typeface="Microsoft YaHei UI" panose="020B0503020204020204" pitchFamily="34" charset="-122"/>
              </a:rPr>
              <a:t>Data parallelism</a:t>
            </a:r>
          </a:p>
          <a:p>
            <a:pPr marL="342900" indent="-342900">
              <a:buClr>
                <a:srgbClr val="0000FF"/>
              </a:buClr>
              <a:buFont typeface="+mj-lt"/>
              <a:buAutoNum type="arabicPeriod"/>
            </a:pPr>
            <a:endParaRPr lang="en-US" sz="2000" dirty="0">
              <a:latin typeface="Microsoft YaHei UI" panose="020B0503020204020204" pitchFamily="34" charset="-122"/>
              <a:ea typeface="Microsoft YaHei UI" panose="020B0503020204020204" pitchFamily="34" charset="-122"/>
            </a:endParaRPr>
          </a:p>
          <a:p>
            <a:pPr marL="342900" indent="-342900">
              <a:buClr>
                <a:srgbClr val="0000FF"/>
              </a:buClr>
              <a:buFont typeface="+mj-lt"/>
              <a:buAutoNum type="arabicPeriod"/>
            </a:pPr>
            <a:r>
              <a:rPr lang="en-US" sz="2000" dirty="0">
                <a:latin typeface="Microsoft YaHei UI" panose="020B0503020204020204" pitchFamily="34" charset="-122"/>
                <a:ea typeface="Microsoft YaHei UI" panose="020B0503020204020204" pitchFamily="34" charset="-122"/>
              </a:rPr>
              <a:t>Ensemble training</a:t>
            </a:r>
          </a:p>
        </p:txBody>
      </p:sp>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54111" y="5781964"/>
            <a:ext cx="1076036" cy="1076036"/>
          </a:xfrm>
          <a:prstGeom prst="rect">
            <a:avLst/>
          </a:prstGeom>
        </p:spPr>
      </p:pic>
    </p:spTree>
    <p:extLst>
      <p:ext uri="{BB962C8B-B14F-4D97-AF65-F5344CB8AC3E}">
        <p14:creationId xmlns:p14="http://schemas.microsoft.com/office/powerpoint/2010/main" val="4236466990"/>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FF"/>
              </a:buClr>
            </a:pPr>
            <a:r>
              <a:rPr lang="en-US" sz="2400" b="1" dirty="0">
                <a:solidFill>
                  <a:srgbClr val="C00000"/>
                </a:solidFill>
                <a:latin typeface="Microsoft YaHei UI" panose="020B0503020204020204" pitchFamily="34" charset="-122"/>
                <a:ea typeface="Microsoft YaHei UI" panose="020B0503020204020204" pitchFamily="34" charset="-122"/>
              </a:rPr>
              <a:t>Example 1: Function approximation </a:t>
            </a:r>
            <a:r>
              <a:rPr lang="en-US" sz="1600" b="1" dirty="0">
                <a:solidFill>
                  <a:srgbClr val="C00000"/>
                </a:solidFill>
                <a:latin typeface="Microsoft YaHei UI" panose="020B0503020204020204" pitchFamily="34" charset="-122"/>
                <a:ea typeface="Microsoft YaHei UI" panose="020B0503020204020204" pitchFamily="34" charset="-122"/>
              </a:rPr>
              <a:t>(Data parallelism)</a:t>
            </a:r>
          </a:p>
        </p:txBody>
      </p:sp>
      <p:graphicFrame>
        <p:nvGraphicFramePr>
          <p:cNvPr id="2" name="对象 1"/>
          <p:cNvGraphicFramePr>
            <a:graphicFrameLocks noChangeAspect="1"/>
          </p:cNvGraphicFramePr>
          <p:nvPr>
            <p:extLst>
              <p:ext uri="{D42A27DB-BD31-4B8C-83A1-F6EECF244321}">
                <p14:modId xmlns:p14="http://schemas.microsoft.com/office/powerpoint/2010/main" val="3623455401"/>
              </p:ext>
            </p:extLst>
          </p:nvPr>
        </p:nvGraphicFramePr>
        <p:xfrm>
          <a:off x="644047" y="1265499"/>
          <a:ext cx="4340516" cy="501794"/>
        </p:xfrm>
        <a:graphic>
          <a:graphicData uri="http://schemas.openxmlformats.org/presentationml/2006/ole">
            <mc:AlternateContent xmlns:mc="http://schemas.openxmlformats.org/markup-compatibility/2006">
              <mc:Choice xmlns:v="urn:schemas-microsoft-com:vml" Requires="v">
                <p:oleObj name="Equation" r:id="rId2" imgW="2197080" imgH="253800" progId="Equation.DSMT4">
                  <p:embed/>
                </p:oleObj>
              </mc:Choice>
              <mc:Fallback>
                <p:oleObj name="Equation" r:id="rId2" imgW="2197080" imgH="253800" progId="Equation.DSMT4">
                  <p:embed/>
                  <p:pic>
                    <p:nvPicPr>
                      <p:cNvPr id="0" name=""/>
                      <p:cNvPicPr/>
                      <p:nvPr/>
                    </p:nvPicPr>
                    <p:blipFill>
                      <a:blip r:embed="rId3"/>
                      <a:stretch>
                        <a:fillRect/>
                      </a:stretch>
                    </p:blipFill>
                    <p:spPr>
                      <a:xfrm>
                        <a:off x="644047" y="1265499"/>
                        <a:ext cx="4340516" cy="501794"/>
                      </a:xfrm>
                      <a:prstGeom prst="rect">
                        <a:avLst/>
                      </a:prstGeom>
                    </p:spPr>
                  </p:pic>
                </p:oleObj>
              </mc:Fallback>
            </mc:AlternateContent>
          </a:graphicData>
        </a:graphic>
      </p:graphicFrame>
      <p:grpSp>
        <p:nvGrpSpPr>
          <p:cNvPr id="40" name="组合 39"/>
          <p:cNvGrpSpPr/>
          <p:nvPr/>
        </p:nvGrpSpPr>
        <p:grpSpPr>
          <a:xfrm>
            <a:off x="5338907" y="958391"/>
            <a:ext cx="2788360" cy="1681018"/>
            <a:chOff x="5338907" y="958391"/>
            <a:chExt cx="2788360" cy="1681018"/>
          </a:xfrm>
        </p:grpSpPr>
        <p:grpSp>
          <p:nvGrpSpPr>
            <p:cNvPr id="28" name="组合 27"/>
            <p:cNvGrpSpPr/>
            <p:nvPr/>
          </p:nvGrpSpPr>
          <p:grpSpPr>
            <a:xfrm>
              <a:off x="5338907" y="958391"/>
              <a:ext cx="1293092" cy="1681018"/>
              <a:chOff x="1930399" y="1921164"/>
              <a:chExt cx="1293092" cy="1681018"/>
            </a:xfrm>
          </p:grpSpPr>
          <p:sp>
            <p:nvSpPr>
              <p:cNvPr id="4" name="圆角矩形 3"/>
              <p:cNvSpPr/>
              <p:nvPr/>
            </p:nvSpPr>
            <p:spPr>
              <a:xfrm>
                <a:off x="1930399" y="1921164"/>
                <a:ext cx="1293092" cy="1681018"/>
              </a:xfrm>
              <a:prstGeom prst="roundRect">
                <a:avLst/>
              </a:prstGeom>
              <a:solidFill>
                <a:schemeClr val="accent5">
                  <a:lumMod val="20000"/>
                  <a:lumOff val="80000"/>
                </a:schemeClr>
              </a:solidFill>
              <a:ln w="15875">
                <a:solidFill>
                  <a:schemeClr val="accent5">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圆角矩形 4"/>
              <p:cNvSpPr/>
              <p:nvPr/>
            </p:nvSpPr>
            <p:spPr>
              <a:xfrm>
                <a:off x="2262033" y="2196666"/>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圆角矩形 8"/>
              <p:cNvSpPr/>
              <p:nvPr/>
            </p:nvSpPr>
            <p:spPr>
              <a:xfrm>
                <a:off x="1965783" y="2595418"/>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圆角矩形 9"/>
              <p:cNvSpPr/>
              <p:nvPr/>
            </p:nvSpPr>
            <p:spPr>
              <a:xfrm>
                <a:off x="2599911" y="2602345"/>
                <a:ext cx="577849" cy="152400"/>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圆角矩形 10"/>
              <p:cNvSpPr/>
              <p:nvPr/>
            </p:nvSpPr>
            <p:spPr>
              <a:xfrm>
                <a:off x="2256254" y="2954047"/>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文本框 5"/>
              <p:cNvSpPr txBox="1"/>
              <p:nvPr/>
            </p:nvSpPr>
            <p:spPr>
              <a:xfrm>
                <a:off x="2101272" y="3224547"/>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1</a:t>
                </a:r>
              </a:p>
            </p:txBody>
          </p:sp>
          <p:cxnSp>
            <p:nvCxnSpPr>
              <p:cNvPr id="13" name="直接箭头连接符 12"/>
              <p:cNvCxnSpPr>
                <a:stCxn id="11" idx="0"/>
              </p:cNvCxnSpPr>
              <p:nvPr/>
            </p:nvCxnSpPr>
            <p:spPr>
              <a:xfrm flipH="1" flipV="1">
                <a:off x="2224228" y="2761673"/>
                <a:ext cx="320951" cy="19237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11" idx="0"/>
                <a:endCxn id="10" idx="2"/>
              </p:cNvCxnSpPr>
              <p:nvPr/>
            </p:nvCxnSpPr>
            <p:spPr>
              <a:xfrm flipV="1">
                <a:off x="2545179" y="2754745"/>
                <a:ext cx="343657" cy="19930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9" idx="0"/>
                <a:endCxn id="5" idx="2"/>
              </p:cNvCxnSpPr>
              <p:nvPr/>
            </p:nvCxnSpPr>
            <p:spPr>
              <a:xfrm flipV="1">
                <a:off x="2254708" y="2362921"/>
                <a:ext cx="296250" cy="23249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10" idx="0"/>
                <a:endCxn id="5" idx="2"/>
              </p:cNvCxnSpPr>
              <p:nvPr/>
            </p:nvCxnSpPr>
            <p:spPr>
              <a:xfrm flipH="1" flipV="1">
                <a:off x="2550958" y="2362921"/>
                <a:ext cx="337878" cy="23942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6834175" y="958391"/>
              <a:ext cx="1293092" cy="1681018"/>
              <a:chOff x="1930399" y="1921164"/>
              <a:chExt cx="1293092" cy="1681018"/>
            </a:xfrm>
          </p:grpSpPr>
          <p:sp>
            <p:nvSpPr>
              <p:cNvPr id="30" name="圆角矩形 29"/>
              <p:cNvSpPr/>
              <p:nvPr/>
            </p:nvSpPr>
            <p:spPr>
              <a:xfrm>
                <a:off x="1930399" y="1921164"/>
                <a:ext cx="1293092" cy="1681018"/>
              </a:xfrm>
              <a:prstGeom prst="roundRect">
                <a:avLst/>
              </a:prstGeom>
              <a:solidFill>
                <a:schemeClr val="accent5">
                  <a:lumMod val="20000"/>
                  <a:lumOff val="80000"/>
                </a:schemeClr>
              </a:solidFill>
              <a:ln w="15875">
                <a:solidFill>
                  <a:schemeClr val="accent5">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圆角矩形 30"/>
              <p:cNvSpPr/>
              <p:nvPr/>
            </p:nvSpPr>
            <p:spPr>
              <a:xfrm>
                <a:off x="2262033" y="2196666"/>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圆角矩形 31"/>
              <p:cNvSpPr/>
              <p:nvPr/>
            </p:nvSpPr>
            <p:spPr>
              <a:xfrm>
                <a:off x="1965783" y="2595418"/>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圆角矩形 32"/>
              <p:cNvSpPr/>
              <p:nvPr/>
            </p:nvSpPr>
            <p:spPr>
              <a:xfrm>
                <a:off x="2599911" y="2602345"/>
                <a:ext cx="577849" cy="152400"/>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圆角矩形 33"/>
              <p:cNvSpPr/>
              <p:nvPr/>
            </p:nvSpPr>
            <p:spPr>
              <a:xfrm>
                <a:off x="2256254" y="2954047"/>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文本框 34"/>
              <p:cNvSpPr txBox="1"/>
              <p:nvPr/>
            </p:nvSpPr>
            <p:spPr>
              <a:xfrm>
                <a:off x="2128287" y="3223181"/>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2</a:t>
                </a:r>
              </a:p>
            </p:txBody>
          </p:sp>
          <p:cxnSp>
            <p:nvCxnSpPr>
              <p:cNvPr id="36" name="直接箭头连接符 35"/>
              <p:cNvCxnSpPr>
                <a:stCxn id="34" idx="0"/>
              </p:cNvCxnSpPr>
              <p:nvPr/>
            </p:nvCxnSpPr>
            <p:spPr>
              <a:xfrm flipH="1" flipV="1">
                <a:off x="2224228" y="2761673"/>
                <a:ext cx="320951" cy="19237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a:stCxn id="34" idx="0"/>
                <a:endCxn id="33" idx="2"/>
              </p:cNvCxnSpPr>
              <p:nvPr/>
            </p:nvCxnSpPr>
            <p:spPr>
              <a:xfrm flipV="1">
                <a:off x="2545179" y="2754745"/>
                <a:ext cx="343657" cy="19930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a:stCxn id="32" idx="0"/>
                <a:endCxn id="31" idx="2"/>
              </p:cNvCxnSpPr>
              <p:nvPr/>
            </p:nvCxnSpPr>
            <p:spPr>
              <a:xfrm flipV="1">
                <a:off x="2254708" y="2362921"/>
                <a:ext cx="296250" cy="23249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33" idx="0"/>
                <a:endCxn id="31" idx="2"/>
              </p:cNvCxnSpPr>
              <p:nvPr/>
            </p:nvCxnSpPr>
            <p:spPr>
              <a:xfrm flipH="1" flipV="1">
                <a:off x="2550958" y="2362921"/>
                <a:ext cx="337878" cy="23942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45" name="组合 44"/>
          <p:cNvGrpSpPr/>
          <p:nvPr/>
        </p:nvGrpSpPr>
        <p:grpSpPr>
          <a:xfrm>
            <a:off x="583373" y="1881407"/>
            <a:ext cx="3084208" cy="748333"/>
            <a:chOff x="649416" y="2075742"/>
            <a:chExt cx="3084208" cy="748333"/>
          </a:xfrm>
        </p:grpSpPr>
        <p:sp>
          <p:nvSpPr>
            <p:cNvPr id="41" name="文本框 40"/>
            <p:cNvSpPr txBox="1"/>
            <p:nvPr/>
          </p:nvSpPr>
          <p:spPr>
            <a:xfrm>
              <a:off x="649416" y="2075742"/>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1</a:t>
              </a:r>
            </a:p>
          </p:txBody>
        </p:sp>
        <p:graphicFrame>
          <p:nvGraphicFramePr>
            <p:cNvPr id="42" name="对象 41"/>
            <p:cNvGraphicFramePr>
              <a:graphicFrameLocks noChangeAspect="1"/>
            </p:cNvGraphicFramePr>
            <p:nvPr>
              <p:extLst>
                <p:ext uri="{D42A27DB-BD31-4B8C-83A1-F6EECF244321}">
                  <p14:modId xmlns:p14="http://schemas.microsoft.com/office/powerpoint/2010/main" val="3311977118"/>
                </p:ext>
              </p:extLst>
            </p:nvPr>
          </p:nvGraphicFramePr>
          <p:xfrm>
            <a:off x="1598437" y="2097689"/>
            <a:ext cx="2135187" cy="325437"/>
          </p:xfrm>
          <a:graphic>
            <a:graphicData uri="http://schemas.openxmlformats.org/presentationml/2006/ole">
              <mc:AlternateContent xmlns:mc="http://schemas.openxmlformats.org/markup-compatibility/2006">
                <mc:Choice xmlns:v="urn:schemas-microsoft-com:vml" Requires="v">
                  <p:oleObj name="Equation" r:id="rId4" imgW="1333440" imgH="203040" progId="Equation.DSMT4">
                    <p:embed/>
                  </p:oleObj>
                </mc:Choice>
                <mc:Fallback>
                  <p:oleObj name="Equation" r:id="rId4" imgW="1333440" imgH="203040" progId="Equation.DSMT4">
                    <p:embed/>
                    <p:pic>
                      <p:nvPicPr>
                        <p:cNvPr id="0" name=""/>
                        <p:cNvPicPr/>
                        <p:nvPr/>
                      </p:nvPicPr>
                      <p:blipFill>
                        <a:blip r:embed="rId5"/>
                        <a:stretch>
                          <a:fillRect/>
                        </a:stretch>
                      </p:blipFill>
                      <p:spPr>
                        <a:xfrm>
                          <a:off x="1598437" y="2097689"/>
                          <a:ext cx="2135187" cy="325437"/>
                        </a:xfrm>
                        <a:prstGeom prst="rect">
                          <a:avLst/>
                        </a:prstGeom>
                      </p:spPr>
                    </p:pic>
                  </p:oleObj>
                </mc:Fallback>
              </mc:AlternateContent>
            </a:graphicData>
          </a:graphic>
        </p:graphicFrame>
        <p:sp>
          <p:nvSpPr>
            <p:cNvPr id="43" name="文本框 42"/>
            <p:cNvSpPr txBox="1"/>
            <p:nvPr/>
          </p:nvSpPr>
          <p:spPr>
            <a:xfrm>
              <a:off x="649416" y="2454743"/>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2</a:t>
              </a:r>
            </a:p>
          </p:txBody>
        </p:sp>
        <p:graphicFrame>
          <p:nvGraphicFramePr>
            <p:cNvPr id="44" name="对象 43"/>
            <p:cNvGraphicFramePr>
              <a:graphicFrameLocks noChangeAspect="1"/>
            </p:cNvGraphicFramePr>
            <p:nvPr>
              <p:extLst>
                <p:ext uri="{D42A27DB-BD31-4B8C-83A1-F6EECF244321}">
                  <p14:modId xmlns:p14="http://schemas.microsoft.com/office/powerpoint/2010/main" val="216691002"/>
                </p:ext>
              </p:extLst>
            </p:nvPr>
          </p:nvGraphicFramePr>
          <p:xfrm>
            <a:off x="1598437" y="2454743"/>
            <a:ext cx="1973263" cy="325438"/>
          </p:xfrm>
          <a:graphic>
            <a:graphicData uri="http://schemas.openxmlformats.org/presentationml/2006/ole">
              <mc:AlternateContent xmlns:mc="http://schemas.openxmlformats.org/markup-compatibility/2006">
                <mc:Choice xmlns:v="urn:schemas-microsoft-com:vml" Requires="v">
                  <p:oleObj name="Equation" r:id="rId6" imgW="1231560" imgH="203040" progId="Equation.DSMT4">
                    <p:embed/>
                  </p:oleObj>
                </mc:Choice>
                <mc:Fallback>
                  <p:oleObj name="Equation" r:id="rId6" imgW="1231560" imgH="203040" progId="Equation.DSMT4">
                    <p:embed/>
                    <p:pic>
                      <p:nvPicPr>
                        <p:cNvPr id="42" name="对象 41"/>
                        <p:cNvPicPr/>
                        <p:nvPr/>
                      </p:nvPicPr>
                      <p:blipFill>
                        <a:blip r:embed="rId7"/>
                        <a:stretch>
                          <a:fillRect/>
                        </a:stretch>
                      </p:blipFill>
                      <p:spPr>
                        <a:xfrm>
                          <a:off x="1598437" y="2454743"/>
                          <a:ext cx="1973263" cy="325438"/>
                        </a:xfrm>
                        <a:prstGeom prst="rect">
                          <a:avLst/>
                        </a:prstGeom>
                      </p:spPr>
                    </p:pic>
                  </p:oleObj>
                </mc:Fallback>
              </mc:AlternateContent>
            </a:graphicData>
          </a:graphic>
        </p:graphicFrame>
      </p:grpSp>
      <p:graphicFrame>
        <p:nvGraphicFramePr>
          <p:cNvPr id="46" name="对象 45"/>
          <p:cNvGraphicFramePr>
            <a:graphicFrameLocks noChangeAspect="1"/>
          </p:cNvGraphicFramePr>
          <p:nvPr>
            <p:extLst>
              <p:ext uri="{D42A27DB-BD31-4B8C-83A1-F6EECF244321}">
                <p14:modId xmlns:p14="http://schemas.microsoft.com/office/powerpoint/2010/main" val="1104934458"/>
              </p:ext>
            </p:extLst>
          </p:nvPr>
        </p:nvGraphicFramePr>
        <p:xfrm>
          <a:off x="4016472" y="2112099"/>
          <a:ext cx="600130" cy="233384"/>
        </p:xfrm>
        <a:graphic>
          <a:graphicData uri="http://schemas.openxmlformats.org/presentationml/2006/ole">
            <mc:AlternateContent xmlns:mc="http://schemas.openxmlformats.org/markup-compatibility/2006">
              <mc:Choice xmlns:v="urn:schemas-microsoft-com:vml" Requires="v">
                <p:oleObj name="Equation" r:id="rId8" imgW="457200" imgH="177480" progId="Equation.DSMT4">
                  <p:embed/>
                </p:oleObj>
              </mc:Choice>
              <mc:Fallback>
                <p:oleObj name="Equation" r:id="rId8" imgW="457200" imgH="177480" progId="Equation.DSMT4">
                  <p:embed/>
                  <p:pic>
                    <p:nvPicPr>
                      <p:cNvPr id="0" name=""/>
                      <p:cNvPicPr/>
                      <p:nvPr/>
                    </p:nvPicPr>
                    <p:blipFill>
                      <a:blip r:embed="rId9"/>
                      <a:stretch>
                        <a:fillRect/>
                      </a:stretch>
                    </p:blipFill>
                    <p:spPr>
                      <a:xfrm>
                        <a:off x="4016472" y="2112099"/>
                        <a:ext cx="600130" cy="233384"/>
                      </a:xfrm>
                      <a:prstGeom prst="rect">
                        <a:avLst/>
                      </a:prstGeom>
                    </p:spPr>
                  </p:pic>
                </p:oleObj>
              </mc:Fallback>
            </mc:AlternateContent>
          </a:graphicData>
        </a:graphic>
      </p:graphicFrame>
      <p:pic>
        <p:nvPicPr>
          <p:cNvPr id="47" name="图片 46"/>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97164" y="3545377"/>
            <a:ext cx="3851563" cy="3081251"/>
          </a:xfrm>
          <a:prstGeom prst="rect">
            <a:avLst/>
          </a:prstGeom>
        </p:spPr>
      </p:pic>
      <p:graphicFrame>
        <p:nvGraphicFramePr>
          <p:cNvPr id="48" name="对象 47"/>
          <p:cNvGraphicFramePr>
            <a:graphicFrameLocks noChangeAspect="1"/>
          </p:cNvGraphicFramePr>
          <p:nvPr>
            <p:extLst>
              <p:ext uri="{D42A27DB-BD31-4B8C-83A1-F6EECF244321}">
                <p14:modId xmlns:p14="http://schemas.microsoft.com/office/powerpoint/2010/main" val="147155861"/>
              </p:ext>
            </p:extLst>
          </p:nvPr>
        </p:nvGraphicFramePr>
        <p:xfrm>
          <a:off x="3035300" y="2900363"/>
          <a:ext cx="2541588" cy="387350"/>
        </p:xfrm>
        <a:graphic>
          <a:graphicData uri="http://schemas.openxmlformats.org/presentationml/2006/ole">
            <mc:AlternateContent xmlns:mc="http://schemas.openxmlformats.org/markup-compatibility/2006">
              <mc:Choice xmlns:v="urn:schemas-microsoft-com:vml" Requires="v">
                <p:oleObj name="Equation" r:id="rId11" imgW="1587240" imgH="241200" progId="Equation.DSMT4">
                  <p:embed/>
                </p:oleObj>
              </mc:Choice>
              <mc:Fallback>
                <p:oleObj name="Equation" r:id="rId11" imgW="1587240" imgH="241200" progId="Equation.DSMT4">
                  <p:embed/>
                  <p:pic>
                    <p:nvPicPr>
                      <p:cNvPr id="42" name="对象 41"/>
                      <p:cNvPicPr/>
                      <p:nvPr/>
                    </p:nvPicPr>
                    <p:blipFill>
                      <a:blip r:embed="rId12"/>
                      <a:stretch>
                        <a:fillRect/>
                      </a:stretch>
                    </p:blipFill>
                    <p:spPr>
                      <a:xfrm>
                        <a:off x="3035300" y="2900363"/>
                        <a:ext cx="2541588" cy="387350"/>
                      </a:xfrm>
                      <a:prstGeom prst="rect">
                        <a:avLst/>
                      </a:prstGeom>
                    </p:spPr>
                  </p:pic>
                </p:oleObj>
              </mc:Fallback>
            </mc:AlternateContent>
          </a:graphicData>
        </a:graphic>
      </p:graphicFrame>
      <p:pic>
        <p:nvPicPr>
          <p:cNvPr id="49" name="图片 48"/>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706044" y="3544373"/>
            <a:ext cx="3851910" cy="3081528"/>
          </a:xfrm>
          <a:prstGeom prst="rect">
            <a:avLst/>
          </a:prstGeom>
        </p:spPr>
      </p:pic>
      <p:sp>
        <p:nvSpPr>
          <p:cNvPr id="50" name="文本框 49"/>
          <p:cNvSpPr txBox="1"/>
          <p:nvPr/>
        </p:nvSpPr>
        <p:spPr>
          <a:xfrm>
            <a:off x="5338907" y="4945764"/>
            <a:ext cx="3350790" cy="276999"/>
          </a:xfrm>
          <a:prstGeom prst="rect">
            <a:avLst/>
          </a:prstGeom>
          <a:noFill/>
        </p:spPr>
        <p:txBody>
          <a:bodyPr wrap="square" rtlCol="0">
            <a:spAutoFit/>
          </a:bodyPr>
          <a:lstStyle/>
          <a:p>
            <a:pPr algn="ctr"/>
            <a:r>
              <a:rPr lang="en-US" sz="1200" b="1" dirty="0" err="1">
                <a:latin typeface="Microsoft YaHei UI" panose="020B0503020204020204" pitchFamily="34" charset="-122"/>
                <a:ea typeface="Microsoft YaHei UI" panose="020B0503020204020204" pitchFamily="34" charset="-122"/>
              </a:rPr>
              <a:t>y_pred</a:t>
            </a:r>
            <a:r>
              <a:rPr lang="en-US" sz="1200" b="1" dirty="0">
                <a:latin typeface="Microsoft YaHei UI" panose="020B0503020204020204" pitchFamily="34" charset="-122"/>
                <a:ea typeface="Microsoft YaHei UI" panose="020B0503020204020204" pitchFamily="34" charset="-122"/>
              </a:rPr>
              <a:t> (GPU 1) – </a:t>
            </a:r>
            <a:r>
              <a:rPr lang="en-US" sz="1200" b="1" dirty="0" err="1">
                <a:latin typeface="Microsoft YaHei UI" panose="020B0503020204020204" pitchFamily="34" charset="-122"/>
                <a:ea typeface="Microsoft YaHei UI" panose="020B0503020204020204" pitchFamily="34" charset="-122"/>
              </a:rPr>
              <a:t>y_pred</a:t>
            </a:r>
            <a:r>
              <a:rPr lang="en-US" sz="1200" b="1" dirty="0">
                <a:latin typeface="Microsoft YaHei UI" panose="020B0503020204020204" pitchFamily="34" charset="-122"/>
                <a:ea typeface="Microsoft YaHei UI" panose="020B0503020204020204" pitchFamily="34" charset="-122"/>
              </a:rPr>
              <a:t> (GPU 2)</a:t>
            </a:r>
          </a:p>
        </p:txBody>
      </p:sp>
    </p:spTree>
    <p:extLst>
      <p:ext uri="{BB962C8B-B14F-4D97-AF65-F5344CB8AC3E}">
        <p14:creationId xmlns:p14="http://schemas.microsoft.com/office/powerpoint/2010/main" val="3657277004"/>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FF"/>
              </a:buClr>
            </a:pPr>
            <a:r>
              <a:rPr lang="en-US" sz="2400" b="1" dirty="0">
                <a:solidFill>
                  <a:srgbClr val="C00000"/>
                </a:solidFill>
                <a:latin typeface="Microsoft YaHei UI" panose="020B0503020204020204" pitchFamily="34" charset="-122"/>
                <a:ea typeface="Microsoft YaHei UI" panose="020B0503020204020204" pitchFamily="34" charset="-122"/>
              </a:rPr>
              <a:t>Example 2: Function approximation </a:t>
            </a:r>
            <a:r>
              <a:rPr lang="en-US" sz="1600" b="1" dirty="0">
                <a:solidFill>
                  <a:srgbClr val="C00000"/>
                </a:solidFill>
                <a:latin typeface="Microsoft YaHei UI" panose="020B0503020204020204" pitchFamily="34" charset="-122"/>
                <a:ea typeface="Microsoft YaHei UI" panose="020B0503020204020204" pitchFamily="34" charset="-122"/>
              </a:rPr>
              <a:t>(Ensemble training)</a:t>
            </a:r>
          </a:p>
        </p:txBody>
      </p:sp>
      <p:graphicFrame>
        <p:nvGraphicFramePr>
          <p:cNvPr id="3" name="对象 2"/>
          <p:cNvGraphicFramePr>
            <a:graphicFrameLocks noChangeAspect="1"/>
          </p:cNvGraphicFramePr>
          <p:nvPr>
            <p:extLst>
              <p:ext uri="{D42A27DB-BD31-4B8C-83A1-F6EECF244321}">
                <p14:modId xmlns:p14="http://schemas.microsoft.com/office/powerpoint/2010/main" val="4027358598"/>
              </p:ext>
            </p:extLst>
          </p:nvPr>
        </p:nvGraphicFramePr>
        <p:xfrm>
          <a:off x="644047" y="1265499"/>
          <a:ext cx="4340516" cy="501794"/>
        </p:xfrm>
        <a:graphic>
          <a:graphicData uri="http://schemas.openxmlformats.org/presentationml/2006/ole">
            <mc:AlternateContent xmlns:mc="http://schemas.openxmlformats.org/markup-compatibility/2006">
              <mc:Choice xmlns:v="urn:schemas-microsoft-com:vml" Requires="v">
                <p:oleObj name="Equation" r:id="rId2" imgW="2197080" imgH="253800" progId="Equation.DSMT4">
                  <p:embed/>
                </p:oleObj>
              </mc:Choice>
              <mc:Fallback>
                <p:oleObj name="Equation" r:id="rId2" imgW="2197080" imgH="253800" progId="Equation.DSMT4">
                  <p:embed/>
                  <p:pic>
                    <p:nvPicPr>
                      <p:cNvPr id="2" name="对象 1"/>
                      <p:cNvPicPr/>
                      <p:nvPr/>
                    </p:nvPicPr>
                    <p:blipFill>
                      <a:blip r:embed="rId3"/>
                      <a:stretch>
                        <a:fillRect/>
                      </a:stretch>
                    </p:blipFill>
                    <p:spPr>
                      <a:xfrm>
                        <a:off x="644047" y="1265499"/>
                        <a:ext cx="4340516" cy="501794"/>
                      </a:xfrm>
                      <a:prstGeom prst="rect">
                        <a:avLst/>
                      </a:prstGeom>
                    </p:spPr>
                  </p:pic>
                </p:oleObj>
              </mc:Fallback>
            </mc:AlternateContent>
          </a:graphicData>
        </a:graphic>
      </p:graphicFrame>
      <p:grpSp>
        <p:nvGrpSpPr>
          <p:cNvPr id="4" name="组合 3"/>
          <p:cNvGrpSpPr/>
          <p:nvPr/>
        </p:nvGrpSpPr>
        <p:grpSpPr>
          <a:xfrm>
            <a:off x="5338907" y="958391"/>
            <a:ext cx="2788360" cy="1681018"/>
            <a:chOff x="5338907" y="958391"/>
            <a:chExt cx="2788360" cy="1681018"/>
          </a:xfrm>
        </p:grpSpPr>
        <p:grpSp>
          <p:nvGrpSpPr>
            <p:cNvPr id="5" name="组合 4"/>
            <p:cNvGrpSpPr/>
            <p:nvPr/>
          </p:nvGrpSpPr>
          <p:grpSpPr>
            <a:xfrm>
              <a:off x="5338907" y="958391"/>
              <a:ext cx="1293092" cy="1681018"/>
              <a:chOff x="1930399" y="1921164"/>
              <a:chExt cx="1293092" cy="1681018"/>
            </a:xfrm>
          </p:grpSpPr>
          <p:sp>
            <p:nvSpPr>
              <p:cNvPr id="18" name="圆角矩形 17"/>
              <p:cNvSpPr/>
              <p:nvPr/>
            </p:nvSpPr>
            <p:spPr>
              <a:xfrm>
                <a:off x="1930399" y="1921164"/>
                <a:ext cx="1293092" cy="1681018"/>
              </a:xfrm>
              <a:prstGeom prst="roundRect">
                <a:avLst/>
              </a:prstGeom>
              <a:solidFill>
                <a:schemeClr val="accent5">
                  <a:lumMod val="20000"/>
                  <a:lumOff val="80000"/>
                </a:schemeClr>
              </a:solidFill>
              <a:ln w="15875">
                <a:solidFill>
                  <a:schemeClr val="accent5">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圆角矩形 18"/>
              <p:cNvSpPr/>
              <p:nvPr/>
            </p:nvSpPr>
            <p:spPr>
              <a:xfrm>
                <a:off x="2262033" y="2196666"/>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圆角矩形 19"/>
              <p:cNvSpPr/>
              <p:nvPr/>
            </p:nvSpPr>
            <p:spPr>
              <a:xfrm>
                <a:off x="1965783" y="2595418"/>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圆角矩形 20"/>
              <p:cNvSpPr/>
              <p:nvPr/>
            </p:nvSpPr>
            <p:spPr>
              <a:xfrm>
                <a:off x="2599911" y="2602345"/>
                <a:ext cx="577849" cy="152400"/>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圆角矩形 21"/>
              <p:cNvSpPr/>
              <p:nvPr/>
            </p:nvSpPr>
            <p:spPr>
              <a:xfrm>
                <a:off x="2256254" y="2954047"/>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22"/>
              <p:cNvSpPr txBox="1"/>
              <p:nvPr/>
            </p:nvSpPr>
            <p:spPr>
              <a:xfrm>
                <a:off x="2101272" y="3224547"/>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1</a:t>
                </a:r>
              </a:p>
            </p:txBody>
          </p:sp>
          <p:cxnSp>
            <p:nvCxnSpPr>
              <p:cNvPr id="24" name="直接箭头连接符 23"/>
              <p:cNvCxnSpPr>
                <a:stCxn id="22" idx="0"/>
              </p:cNvCxnSpPr>
              <p:nvPr/>
            </p:nvCxnSpPr>
            <p:spPr>
              <a:xfrm flipH="1" flipV="1">
                <a:off x="2224228" y="2761673"/>
                <a:ext cx="320951" cy="19237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22" idx="0"/>
                <a:endCxn id="21" idx="2"/>
              </p:cNvCxnSpPr>
              <p:nvPr/>
            </p:nvCxnSpPr>
            <p:spPr>
              <a:xfrm flipV="1">
                <a:off x="2545179" y="2754745"/>
                <a:ext cx="343657" cy="19930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20" idx="0"/>
                <a:endCxn id="19" idx="2"/>
              </p:cNvCxnSpPr>
              <p:nvPr/>
            </p:nvCxnSpPr>
            <p:spPr>
              <a:xfrm flipV="1">
                <a:off x="2254708" y="2362921"/>
                <a:ext cx="296250" cy="23249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21" idx="0"/>
                <a:endCxn id="19" idx="2"/>
              </p:cNvCxnSpPr>
              <p:nvPr/>
            </p:nvCxnSpPr>
            <p:spPr>
              <a:xfrm flipH="1" flipV="1">
                <a:off x="2550958" y="2362921"/>
                <a:ext cx="337878" cy="23942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6834175" y="958391"/>
              <a:ext cx="1293092" cy="1681018"/>
              <a:chOff x="1930399" y="1921164"/>
              <a:chExt cx="1293092" cy="1681018"/>
            </a:xfrm>
          </p:grpSpPr>
          <p:sp>
            <p:nvSpPr>
              <p:cNvPr id="7" name="圆角矩形 6"/>
              <p:cNvSpPr/>
              <p:nvPr/>
            </p:nvSpPr>
            <p:spPr>
              <a:xfrm>
                <a:off x="1930399" y="1921164"/>
                <a:ext cx="1293092" cy="1681018"/>
              </a:xfrm>
              <a:prstGeom prst="roundRect">
                <a:avLst/>
              </a:prstGeom>
              <a:solidFill>
                <a:schemeClr val="accent5">
                  <a:lumMod val="20000"/>
                  <a:lumOff val="80000"/>
                </a:schemeClr>
              </a:solidFill>
              <a:ln w="15875">
                <a:solidFill>
                  <a:schemeClr val="accent5">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圆角矩形 8"/>
              <p:cNvSpPr/>
              <p:nvPr/>
            </p:nvSpPr>
            <p:spPr>
              <a:xfrm>
                <a:off x="2262033" y="2196666"/>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圆角矩形 9"/>
              <p:cNvSpPr/>
              <p:nvPr/>
            </p:nvSpPr>
            <p:spPr>
              <a:xfrm>
                <a:off x="1965783" y="2595418"/>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圆角矩形 10"/>
              <p:cNvSpPr/>
              <p:nvPr/>
            </p:nvSpPr>
            <p:spPr>
              <a:xfrm>
                <a:off x="2599911" y="2602345"/>
                <a:ext cx="577849" cy="152400"/>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圆角矩形 11"/>
              <p:cNvSpPr/>
              <p:nvPr/>
            </p:nvSpPr>
            <p:spPr>
              <a:xfrm>
                <a:off x="2256254" y="2954047"/>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p:cNvSpPr txBox="1"/>
              <p:nvPr/>
            </p:nvSpPr>
            <p:spPr>
              <a:xfrm>
                <a:off x="2128287" y="3223181"/>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2</a:t>
                </a:r>
              </a:p>
            </p:txBody>
          </p:sp>
          <p:cxnSp>
            <p:nvCxnSpPr>
              <p:cNvPr id="14" name="直接箭头连接符 13"/>
              <p:cNvCxnSpPr>
                <a:stCxn id="12" idx="0"/>
              </p:cNvCxnSpPr>
              <p:nvPr/>
            </p:nvCxnSpPr>
            <p:spPr>
              <a:xfrm flipH="1" flipV="1">
                <a:off x="2224228" y="2761673"/>
                <a:ext cx="320951" cy="19237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12" idx="0"/>
                <a:endCxn id="11" idx="2"/>
              </p:cNvCxnSpPr>
              <p:nvPr/>
            </p:nvCxnSpPr>
            <p:spPr>
              <a:xfrm flipV="1">
                <a:off x="2545179" y="2754745"/>
                <a:ext cx="343657" cy="19930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0" idx="0"/>
                <a:endCxn id="9" idx="2"/>
              </p:cNvCxnSpPr>
              <p:nvPr/>
            </p:nvCxnSpPr>
            <p:spPr>
              <a:xfrm flipV="1">
                <a:off x="2254708" y="2362921"/>
                <a:ext cx="296250" cy="23249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1" idx="0"/>
                <a:endCxn id="9" idx="2"/>
              </p:cNvCxnSpPr>
              <p:nvPr/>
            </p:nvCxnSpPr>
            <p:spPr>
              <a:xfrm flipH="1" flipV="1">
                <a:off x="2550958" y="2362921"/>
                <a:ext cx="337878" cy="23942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8" name="组合 27"/>
          <p:cNvGrpSpPr/>
          <p:nvPr/>
        </p:nvGrpSpPr>
        <p:grpSpPr>
          <a:xfrm>
            <a:off x="583373" y="1881407"/>
            <a:ext cx="3084208" cy="748333"/>
            <a:chOff x="649416" y="2075742"/>
            <a:chExt cx="3084208" cy="748333"/>
          </a:xfrm>
        </p:grpSpPr>
        <p:sp>
          <p:nvSpPr>
            <p:cNvPr id="29" name="文本框 28"/>
            <p:cNvSpPr txBox="1"/>
            <p:nvPr/>
          </p:nvSpPr>
          <p:spPr>
            <a:xfrm>
              <a:off x="649416" y="2075742"/>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1</a:t>
              </a:r>
            </a:p>
          </p:txBody>
        </p:sp>
        <p:graphicFrame>
          <p:nvGraphicFramePr>
            <p:cNvPr id="30" name="对象 29"/>
            <p:cNvGraphicFramePr>
              <a:graphicFrameLocks noChangeAspect="1"/>
            </p:cNvGraphicFramePr>
            <p:nvPr>
              <p:extLst>
                <p:ext uri="{D42A27DB-BD31-4B8C-83A1-F6EECF244321}">
                  <p14:modId xmlns:p14="http://schemas.microsoft.com/office/powerpoint/2010/main" val="2577561939"/>
                </p:ext>
              </p:extLst>
            </p:nvPr>
          </p:nvGraphicFramePr>
          <p:xfrm>
            <a:off x="1598437" y="2097689"/>
            <a:ext cx="2135187" cy="325437"/>
          </p:xfrm>
          <a:graphic>
            <a:graphicData uri="http://schemas.openxmlformats.org/presentationml/2006/ole">
              <mc:AlternateContent xmlns:mc="http://schemas.openxmlformats.org/markup-compatibility/2006">
                <mc:Choice xmlns:v="urn:schemas-microsoft-com:vml" Requires="v">
                  <p:oleObj name="Equation" r:id="rId4" imgW="1333440" imgH="203040" progId="Equation.DSMT4">
                    <p:embed/>
                  </p:oleObj>
                </mc:Choice>
                <mc:Fallback>
                  <p:oleObj name="Equation" r:id="rId4" imgW="1333440" imgH="203040" progId="Equation.DSMT4">
                    <p:embed/>
                    <p:pic>
                      <p:nvPicPr>
                        <p:cNvPr id="42" name="对象 41"/>
                        <p:cNvPicPr/>
                        <p:nvPr/>
                      </p:nvPicPr>
                      <p:blipFill>
                        <a:blip r:embed="rId5"/>
                        <a:stretch>
                          <a:fillRect/>
                        </a:stretch>
                      </p:blipFill>
                      <p:spPr>
                        <a:xfrm>
                          <a:off x="1598437" y="2097689"/>
                          <a:ext cx="2135187" cy="325437"/>
                        </a:xfrm>
                        <a:prstGeom prst="rect">
                          <a:avLst/>
                        </a:prstGeom>
                      </p:spPr>
                    </p:pic>
                  </p:oleObj>
                </mc:Fallback>
              </mc:AlternateContent>
            </a:graphicData>
          </a:graphic>
        </p:graphicFrame>
        <p:sp>
          <p:nvSpPr>
            <p:cNvPr id="31" name="文本框 30"/>
            <p:cNvSpPr txBox="1"/>
            <p:nvPr/>
          </p:nvSpPr>
          <p:spPr>
            <a:xfrm>
              <a:off x="649416" y="2454743"/>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2</a:t>
              </a:r>
            </a:p>
          </p:txBody>
        </p:sp>
        <p:graphicFrame>
          <p:nvGraphicFramePr>
            <p:cNvPr id="32" name="对象 31"/>
            <p:cNvGraphicFramePr>
              <a:graphicFrameLocks noChangeAspect="1"/>
            </p:cNvGraphicFramePr>
            <p:nvPr>
              <p:extLst>
                <p:ext uri="{D42A27DB-BD31-4B8C-83A1-F6EECF244321}">
                  <p14:modId xmlns:p14="http://schemas.microsoft.com/office/powerpoint/2010/main" val="2315972114"/>
                </p:ext>
              </p:extLst>
            </p:nvPr>
          </p:nvGraphicFramePr>
          <p:xfrm>
            <a:off x="1598437" y="2454743"/>
            <a:ext cx="1973263" cy="325438"/>
          </p:xfrm>
          <a:graphic>
            <a:graphicData uri="http://schemas.openxmlformats.org/presentationml/2006/ole">
              <mc:AlternateContent xmlns:mc="http://schemas.openxmlformats.org/markup-compatibility/2006">
                <mc:Choice xmlns:v="urn:schemas-microsoft-com:vml" Requires="v">
                  <p:oleObj name="Equation" r:id="rId6" imgW="1231560" imgH="203040" progId="Equation.DSMT4">
                    <p:embed/>
                  </p:oleObj>
                </mc:Choice>
                <mc:Fallback>
                  <p:oleObj name="Equation" r:id="rId6" imgW="1231560" imgH="203040" progId="Equation.DSMT4">
                    <p:embed/>
                    <p:pic>
                      <p:nvPicPr>
                        <p:cNvPr id="44" name="对象 43"/>
                        <p:cNvPicPr/>
                        <p:nvPr/>
                      </p:nvPicPr>
                      <p:blipFill>
                        <a:blip r:embed="rId7"/>
                        <a:stretch>
                          <a:fillRect/>
                        </a:stretch>
                      </p:blipFill>
                      <p:spPr>
                        <a:xfrm>
                          <a:off x="1598437" y="2454743"/>
                          <a:ext cx="1973263" cy="325438"/>
                        </a:xfrm>
                        <a:prstGeom prst="rect">
                          <a:avLst/>
                        </a:prstGeom>
                      </p:spPr>
                    </p:pic>
                  </p:oleObj>
                </mc:Fallback>
              </mc:AlternateContent>
            </a:graphicData>
          </a:graphic>
        </p:graphicFrame>
      </p:grpSp>
      <p:graphicFrame>
        <p:nvGraphicFramePr>
          <p:cNvPr id="34" name="对象 33"/>
          <p:cNvGraphicFramePr>
            <a:graphicFrameLocks noChangeAspect="1"/>
          </p:cNvGraphicFramePr>
          <p:nvPr>
            <p:extLst>
              <p:ext uri="{D42A27DB-BD31-4B8C-83A1-F6EECF244321}">
                <p14:modId xmlns:p14="http://schemas.microsoft.com/office/powerpoint/2010/main" val="3130404920"/>
              </p:ext>
            </p:extLst>
          </p:nvPr>
        </p:nvGraphicFramePr>
        <p:xfrm>
          <a:off x="4016472" y="2112099"/>
          <a:ext cx="600130" cy="233384"/>
        </p:xfrm>
        <a:graphic>
          <a:graphicData uri="http://schemas.openxmlformats.org/presentationml/2006/ole">
            <mc:AlternateContent xmlns:mc="http://schemas.openxmlformats.org/markup-compatibility/2006">
              <mc:Choice xmlns:v="urn:schemas-microsoft-com:vml" Requires="v">
                <p:oleObj name="Equation" r:id="rId8" imgW="457200" imgH="177480" progId="Equation.DSMT4">
                  <p:embed/>
                </p:oleObj>
              </mc:Choice>
              <mc:Fallback>
                <p:oleObj name="Equation" r:id="rId8" imgW="457200" imgH="177480" progId="Equation.DSMT4">
                  <p:embed/>
                  <p:pic>
                    <p:nvPicPr>
                      <p:cNvPr id="46" name="对象 45"/>
                      <p:cNvPicPr/>
                      <p:nvPr/>
                    </p:nvPicPr>
                    <p:blipFill>
                      <a:blip r:embed="rId9"/>
                      <a:stretch>
                        <a:fillRect/>
                      </a:stretch>
                    </p:blipFill>
                    <p:spPr>
                      <a:xfrm>
                        <a:off x="4016472" y="2112099"/>
                        <a:ext cx="600130" cy="233384"/>
                      </a:xfrm>
                      <a:prstGeom prst="rect">
                        <a:avLst/>
                      </a:prstGeom>
                    </p:spPr>
                  </p:pic>
                </p:oleObj>
              </mc:Fallback>
            </mc:AlternateContent>
          </a:graphicData>
        </a:graphic>
      </p:graphicFrame>
      <p:grpSp>
        <p:nvGrpSpPr>
          <p:cNvPr id="35" name="组合 34"/>
          <p:cNvGrpSpPr/>
          <p:nvPr/>
        </p:nvGrpSpPr>
        <p:grpSpPr>
          <a:xfrm>
            <a:off x="644047" y="4308626"/>
            <a:ext cx="3476736" cy="766351"/>
            <a:chOff x="649416" y="2057724"/>
            <a:chExt cx="3476736" cy="766351"/>
          </a:xfrm>
        </p:grpSpPr>
        <p:sp>
          <p:nvSpPr>
            <p:cNvPr id="36" name="文本框 35"/>
            <p:cNvSpPr txBox="1"/>
            <p:nvPr/>
          </p:nvSpPr>
          <p:spPr>
            <a:xfrm>
              <a:off x="649416" y="2075742"/>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1</a:t>
              </a:r>
            </a:p>
          </p:txBody>
        </p:sp>
        <p:graphicFrame>
          <p:nvGraphicFramePr>
            <p:cNvPr id="37" name="对象 36"/>
            <p:cNvGraphicFramePr>
              <a:graphicFrameLocks noChangeAspect="1"/>
            </p:cNvGraphicFramePr>
            <p:nvPr>
              <p:extLst>
                <p:ext uri="{D42A27DB-BD31-4B8C-83A1-F6EECF244321}">
                  <p14:modId xmlns:p14="http://schemas.microsoft.com/office/powerpoint/2010/main" val="3721238741"/>
                </p:ext>
              </p:extLst>
            </p:nvPr>
          </p:nvGraphicFramePr>
          <p:xfrm>
            <a:off x="1543290" y="2057724"/>
            <a:ext cx="2582862" cy="387350"/>
          </p:xfrm>
          <a:graphic>
            <a:graphicData uri="http://schemas.openxmlformats.org/presentationml/2006/ole">
              <mc:AlternateContent xmlns:mc="http://schemas.openxmlformats.org/markup-compatibility/2006">
                <mc:Choice xmlns:v="urn:schemas-microsoft-com:vml" Requires="v">
                  <p:oleObj name="Equation" r:id="rId10" imgW="1612800" imgH="241200" progId="Equation.DSMT4">
                    <p:embed/>
                  </p:oleObj>
                </mc:Choice>
                <mc:Fallback>
                  <p:oleObj name="Equation" r:id="rId10" imgW="1612800" imgH="241200" progId="Equation.DSMT4">
                    <p:embed/>
                    <p:pic>
                      <p:nvPicPr>
                        <p:cNvPr id="30" name="对象 29"/>
                        <p:cNvPicPr/>
                        <p:nvPr/>
                      </p:nvPicPr>
                      <p:blipFill>
                        <a:blip r:embed="rId11"/>
                        <a:stretch>
                          <a:fillRect/>
                        </a:stretch>
                      </p:blipFill>
                      <p:spPr>
                        <a:xfrm>
                          <a:off x="1543290" y="2057724"/>
                          <a:ext cx="2582862" cy="387350"/>
                        </a:xfrm>
                        <a:prstGeom prst="rect">
                          <a:avLst/>
                        </a:prstGeom>
                      </p:spPr>
                    </p:pic>
                  </p:oleObj>
                </mc:Fallback>
              </mc:AlternateContent>
            </a:graphicData>
          </a:graphic>
        </p:graphicFrame>
        <p:sp>
          <p:nvSpPr>
            <p:cNvPr id="38" name="文本框 37"/>
            <p:cNvSpPr txBox="1"/>
            <p:nvPr/>
          </p:nvSpPr>
          <p:spPr>
            <a:xfrm>
              <a:off x="649416" y="2454743"/>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2</a:t>
              </a:r>
            </a:p>
          </p:txBody>
        </p:sp>
        <p:graphicFrame>
          <p:nvGraphicFramePr>
            <p:cNvPr id="39" name="对象 38"/>
            <p:cNvGraphicFramePr>
              <a:graphicFrameLocks noChangeAspect="1"/>
            </p:cNvGraphicFramePr>
            <p:nvPr>
              <p:extLst>
                <p:ext uri="{D42A27DB-BD31-4B8C-83A1-F6EECF244321}">
                  <p14:modId xmlns:p14="http://schemas.microsoft.com/office/powerpoint/2010/main" val="1358662748"/>
                </p:ext>
              </p:extLst>
            </p:nvPr>
          </p:nvGraphicFramePr>
          <p:xfrm>
            <a:off x="1623459" y="2423126"/>
            <a:ext cx="2422525" cy="387350"/>
          </p:xfrm>
          <a:graphic>
            <a:graphicData uri="http://schemas.openxmlformats.org/presentationml/2006/ole">
              <mc:AlternateContent xmlns:mc="http://schemas.openxmlformats.org/markup-compatibility/2006">
                <mc:Choice xmlns:v="urn:schemas-microsoft-com:vml" Requires="v">
                  <p:oleObj name="Equation" r:id="rId12" imgW="1511280" imgH="241200" progId="Equation.DSMT4">
                    <p:embed/>
                  </p:oleObj>
                </mc:Choice>
                <mc:Fallback>
                  <p:oleObj name="Equation" r:id="rId12" imgW="1511280" imgH="241200" progId="Equation.DSMT4">
                    <p:embed/>
                    <p:pic>
                      <p:nvPicPr>
                        <p:cNvPr id="32" name="对象 31"/>
                        <p:cNvPicPr/>
                        <p:nvPr/>
                      </p:nvPicPr>
                      <p:blipFill>
                        <a:blip r:embed="rId13"/>
                        <a:stretch>
                          <a:fillRect/>
                        </a:stretch>
                      </p:blipFill>
                      <p:spPr>
                        <a:xfrm>
                          <a:off x="1623459" y="2423126"/>
                          <a:ext cx="2422525" cy="387350"/>
                        </a:xfrm>
                        <a:prstGeom prst="rect">
                          <a:avLst/>
                        </a:prstGeom>
                      </p:spPr>
                    </p:pic>
                  </p:oleObj>
                </mc:Fallback>
              </mc:AlternateContent>
            </a:graphicData>
          </a:graphic>
        </p:graphicFrame>
      </p:grpSp>
      <p:graphicFrame>
        <p:nvGraphicFramePr>
          <p:cNvPr id="40" name="对象 39"/>
          <p:cNvGraphicFramePr>
            <a:graphicFrameLocks noChangeAspect="1"/>
          </p:cNvGraphicFramePr>
          <p:nvPr>
            <p:extLst>
              <p:ext uri="{D42A27DB-BD31-4B8C-83A1-F6EECF244321}">
                <p14:modId xmlns:p14="http://schemas.microsoft.com/office/powerpoint/2010/main" val="3666432834"/>
              </p:ext>
            </p:extLst>
          </p:nvPr>
        </p:nvGraphicFramePr>
        <p:xfrm>
          <a:off x="5920007" y="2766153"/>
          <a:ext cx="1817872" cy="277009"/>
        </p:xfrm>
        <a:graphic>
          <a:graphicData uri="http://schemas.openxmlformats.org/presentationml/2006/ole">
            <mc:AlternateContent xmlns:mc="http://schemas.openxmlformats.org/markup-compatibility/2006">
              <mc:Choice xmlns:v="urn:schemas-microsoft-com:vml" Requires="v">
                <p:oleObj name="Equation" r:id="rId14" imgW="1333440" imgH="203040" progId="Equation.DSMT4">
                  <p:embed/>
                </p:oleObj>
              </mc:Choice>
              <mc:Fallback>
                <p:oleObj name="Equation" r:id="rId14" imgW="1333440" imgH="203040" progId="Equation.DSMT4">
                  <p:embed/>
                  <p:pic>
                    <p:nvPicPr>
                      <p:cNvPr id="51" name="对象 50"/>
                      <p:cNvPicPr/>
                      <p:nvPr/>
                    </p:nvPicPr>
                    <p:blipFill>
                      <a:blip r:embed="rId15"/>
                      <a:stretch>
                        <a:fillRect/>
                      </a:stretch>
                    </p:blipFill>
                    <p:spPr>
                      <a:xfrm>
                        <a:off x="5920007" y="2766153"/>
                        <a:ext cx="1817872" cy="277009"/>
                      </a:xfrm>
                      <a:prstGeom prst="rect">
                        <a:avLst/>
                      </a:prstGeom>
                    </p:spPr>
                  </p:pic>
                </p:oleObj>
              </mc:Fallback>
            </mc:AlternateContent>
          </a:graphicData>
        </a:graphic>
      </p:graphicFrame>
      <p:pic>
        <p:nvPicPr>
          <p:cNvPr id="2" name="图片 1"/>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586018" y="3410163"/>
            <a:ext cx="4000500" cy="3200400"/>
          </a:xfrm>
          <a:prstGeom prst="rect">
            <a:avLst/>
          </a:prstGeom>
        </p:spPr>
      </p:pic>
    </p:spTree>
    <p:extLst>
      <p:ext uri="{BB962C8B-B14F-4D97-AF65-F5344CB8AC3E}">
        <p14:creationId xmlns:p14="http://schemas.microsoft.com/office/powerpoint/2010/main" val="111590111"/>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FF"/>
              </a:buClr>
            </a:pPr>
            <a:r>
              <a:rPr lang="en-US" sz="2400" b="1" dirty="0">
                <a:solidFill>
                  <a:srgbClr val="C00000"/>
                </a:solidFill>
                <a:latin typeface="Microsoft YaHei UI" panose="020B0503020204020204" pitchFamily="34" charset="-122"/>
                <a:ea typeface="Microsoft YaHei UI" panose="020B0503020204020204" pitchFamily="34" charset="-122"/>
              </a:rPr>
              <a:t>Example 2: Function approximation </a:t>
            </a:r>
            <a:r>
              <a:rPr lang="en-US" sz="1600" b="1" dirty="0">
                <a:solidFill>
                  <a:srgbClr val="C00000"/>
                </a:solidFill>
                <a:latin typeface="Microsoft YaHei UI" panose="020B0503020204020204" pitchFamily="34" charset="-122"/>
                <a:ea typeface="Microsoft YaHei UI" panose="020B0503020204020204" pitchFamily="34" charset="-122"/>
              </a:rPr>
              <a:t>(Ensemble training)</a:t>
            </a:r>
          </a:p>
        </p:txBody>
      </p:sp>
      <p:graphicFrame>
        <p:nvGraphicFramePr>
          <p:cNvPr id="3" name="对象 2"/>
          <p:cNvGraphicFramePr>
            <a:graphicFrameLocks noChangeAspect="1"/>
          </p:cNvGraphicFramePr>
          <p:nvPr/>
        </p:nvGraphicFramePr>
        <p:xfrm>
          <a:off x="644047" y="1265499"/>
          <a:ext cx="4340516" cy="501794"/>
        </p:xfrm>
        <a:graphic>
          <a:graphicData uri="http://schemas.openxmlformats.org/presentationml/2006/ole">
            <mc:AlternateContent xmlns:mc="http://schemas.openxmlformats.org/markup-compatibility/2006">
              <mc:Choice xmlns:v="urn:schemas-microsoft-com:vml" Requires="v">
                <p:oleObj name="Equation" r:id="rId2" imgW="2197080" imgH="253800" progId="Equation.DSMT4">
                  <p:embed/>
                </p:oleObj>
              </mc:Choice>
              <mc:Fallback>
                <p:oleObj name="Equation" r:id="rId2" imgW="2197080" imgH="253800" progId="Equation.DSMT4">
                  <p:embed/>
                  <p:pic>
                    <p:nvPicPr>
                      <p:cNvPr id="3" name="对象 2"/>
                      <p:cNvPicPr/>
                      <p:nvPr/>
                    </p:nvPicPr>
                    <p:blipFill>
                      <a:blip r:embed="rId3"/>
                      <a:stretch>
                        <a:fillRect/>
                      </a:stretch>
                    </p:blipFill>
                    <p:spPr>
                      <a:xfrm>
                        <a:off x="644047" y="1265499"/>
                        <a:ext cx="4340516" cy="501794"/>
                      </a:xfrm>
                      <a:prstGeom prst="rect">
                        <a:avLst/>
                      </a:prstGeom>
                    </p:spPr>
                  </p:pic>
                </p:oleObj>
              </mc:Fallback>
            </mc:AlternateContent>
          </a:graphicData>
        </a:graphic>
      </p:graphicFrame>
      <p:grpSp>
        <p:nvGrpSpPr>
          <p:cNvPr id="4" name="组合 3"/>
          <p:cNvGrpSpPr/>
          <p:nvPr/>
        </p:nvGrpSpPr>
        <p:grpSpPr>
          <a:xfrm>
            <a:off x="5338907" y="958391"/>
            <a:ext cx="2788360" cy="1681018"/>
            <a:chOff x="5338907" y="958391"/>
            <a:chExt cx="2788360" cy="1681018"/>
          </a:xfrm>
        </p:grpSpPr>
        <p:grpSp>
          <p:nvGrpSpPr>
            <p:cNvPr id="5" name="组合 4"/>
            <p:cNvGrpSpPr/>
            <p:nvPr/>
          </p:nvGrpSpPr>
          <p:grpSpPr>
            <a:xfrm>
              <a:off x="5338907" y="958391"/>
              <a:ext cx="1293092" cy="1681018"/>
              <a:chOff x="1930399" y="1921164"/>
              <a:chExt cx="1293092" cy="1681018"/>
            </a:xfrm>
          </p:grpSpPr>
          <p:sp>
            <p:nvSpPr>
              <p:cNvPr id="18" name="圆角矩形 17"/>
              <p:cNvSpPr/>
              <p:nvPr/>
            </p:nvSpPr>
            <p:spPr>
              <a:xfrm>
                <a:off x="1930399" y="1921164"/>
                <a:ext cx="1293092" cy="1681018"/>
              </a:xfrm>
              <a:prstGeom prst="roundRect">
                <a:avLst/>
              </a:prstGeom>
              <a:solidFill>
                <a:schemeClr val="accent5">
                  <a:lumMod val="20000"/>
                  <a:lumOff val="80000"/>
                </a:schemeClr>
              </a:solidFill>
              <a:ln w="15875">
                <a:solidFill>
                  <a:schemeClr val="accent5">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圆角矩形 18"/>
              <p:cNvSpPr/>
              <p:nvPr/>
            </p:nvSpPr>
            <p:spPr>
              <a:xfrm>
                <a:off x="2262033" y="2196666"/>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圆角矩形 19"/>
              <p:cNvSpPr/>
              <p:nvPr/>
            </p:nvSpPr>
            <p:spPr>
              <a:xfrm>
                <a:off x="1965783" y="2595418"/>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圆角矩形 20"/>
              <p:cNvSpPr/>
              <p:nvPr/>
            </p:nvSpPr>
            <p:spPr>
              <a:xfrm>
                <a:off x="2599911" y="2602345"/>
                <a:ext cx="577849" cy="152400"/>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圆角矩形 21"/>
              <p:cNvSpPr/>
              <p:nvPr/>
            </p:nvSpPr>
            <p:spPr>
              <a:xfrm>
                <a:off x="2256254" y="2954047"/>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22"/>
              <p:cNvSpPr txBox="1"/>
              <p:nvPr/>
            </p:nvSpPr>
            <p:spPr>
              <a:xfrm>
                <a:off x="2101272" y="3224547"/>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1</a:t>
                </a:r>
              </a:p>
            </p:txBody>
          </p:sp>
          <p:cxnSp>
            <p:nvCxnSpPr>
              <p:cNvPr id="24" name="直接箭头连接符 23"/>
              <p:cNvCxnSpPr>
                <a:stCxn id="22" idx="0"/>
              </p:cNvCxnSpPr>
              <p:nvPr/>
            </p:nvCxnSpPr>
            <p:spPr>
              <a:xfrm flipH="1" flipV="1">
                <a:off x="2224228" y="2761673"/>
                <a:ext cx="320951" cy="19237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22" idx="0"/>
                <a:endCxn id="21" idx="2"/>
              </p:cNvCxnSpPr>
              <p:nvPr/>
            </p:nvCxnSpPr>
            <p:spPr>
              <a:xfrm flipV="1">
                <a:off x="2545179" y="2754745"/>
                <a:ext cx="343657" cy="19930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20" idx="0"/>
                <a:endCxn id="19" idx="2"/>
              </p:cNvCxnSpPr>
              <p:nvPr/>
            </p:nvCxnSpPr>
            <p:spPr>
              <a:xfrm flipV="1">
                <a:off x="2254708" y="2362921"/>
                <a:ext cx="296250" cy="23249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21" idx="0"/>
                <a:endCxn id="19" idx="2"/>
              </p:cNvCxnSpPr>
              <p:nvPr/>
            </p:nvCxnSpPr>
            <p:spPr>
              <a:xfrm flipH="1" flipV="1">
                <a:off x="2550958" y="2362921"/>
                <a:ext cx="337878" cy="23942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6834175" y="958391"/>
              <a:ext cx="1293092" cy="1681018"/>
              <a:chOff x="1930399" y="1921164"/>
              <a:chExt cx="1293092" cy="1681018"/>
            </a:xfrm>
          </p:grpSpPr>
          <p:sp>
            <p:nvSpPr>
              <p:cNvPr id="7" name="圆角矩形 6"/>
              <p:cNvSpPr/>
              <p:nvPr/>
            </p:nvSpPr>
            <p:spPr>
              <a:xfrm>
                <a:off x="1930399" y="1921164"/>
                <a:ext cx="1293092" cy="1681018"/>
              </a:xfrm>
              <a:prstGeom prst="roundRect">
                <a:avLst/>
              </a:prstGeom>
              <a:solidFill>
                <a:schemeClr val="accent5">
                  <a:lumMod val="20000"/>
                  <a:lumOff val="80000"/>
                </a:schemeClr>
              </a:solidFill>
              <a:ln w="15875">
                <a:solidFill>
                  <a:schemeClr val="accent5">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圆角矩形 8"/>
              <p:cNvSpPr/>
              <p:nvPr/>
            </p:nvSpPr>
            <p:spPr>
              <a:xfrm>
                <a:off x="2262033" y="2196666"/>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圆角矩形 9"/>
              <p:cNvSpPr/>
              <p:nvPr/>
            </p:nvSpPr>
            <p:spPr>
              <a:xfrm>
                <a:off x="1965783" y="2595418"/>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圆角矩形 10"/>
              <p:cNvSpPr/>
              <p:nvPr/>
            </p:nvSpPr>
            <p:spPr>
              <a:xfrm>
                <a:off x="2599911" y="2602345"/>
                <a:ext cx="577849" cy="152400"/>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圆角矩形 11"/>
              <p:cNvSpPr/>
              <p:nvPr/>
            </p:nvSpPr>
            <p:spPr>
              <a:xfrm>
                <a:off x="2256254" y="2954047"/>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p:cNvSpPr txBox="1"/>
              <p:nvPr/>
            </p:nvSpPr>
            <p:spPr>
              <a:xfrm>
                <a:off x="2128287" y="3223181"/>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2</a:t>
                </a:r>
              </a:p>
            </p:txBody>
          </p:sp>
          <p:cxnSp>
            <p:nvCxnSpPr>
              <p:cNvPr id="14" name="直接箭头连接符 13"/>
              <p:cNvCxnSpPr>
                <a:stCxn id="12" idx="0"/>
              </p:cNvCxnSpPr>
              <p:nvPr/>
            </p:nvCxnSpPr>
            <p:spPr>
              <a:xfrm flipH="1" flipV="1">
                <a:off x="2224228" y="2761673"/>
                <a:ext cx="320951" cy="19237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12" idx="0"/>
                <a:endCxn id="11" idx="2"/>
              </p:cNvCxnSpPr>
              <p:nvPr/>
            </p:nvCxnSpPr>
            <p:spPr>
              <a:xfrm flipV="1">
                <a:off x="2545179" y="2754745"/>
                <a:ext cx="343657" cy="19930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0" idx="0"/>
                <a:endCxn id="9" idx="2"/>
              </p:cNvCxnSpPr>
              <p:nvPr/>
            </p:nvCxnSpPr>
            <p:spPr>
              <a:xfrm flipV="1">
                <a:off x="2254708" y="2362921"/>
                <a:ext cx="296250" cy="23249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1" idx="0"/>
                <a:endCxn id="9" idx="2"/>
              </p:cNvCxnSpPr>
              <p:nvPr/>
            </p:nvCxnSpPr>
            <p:spPr>
              <a:xfrm flipH="1" flipV="1">
                <a:off x="2550958" y="2362921"/>
                <a:ext cx="337878" cy="23942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28" name="组合 27"/>
          <p:cNvGrpSpPr/>
          <p:nvPr/>
        </p:nvGrpSpPr>
        <p:grpSpPr>
          <a:xfrm>
            <a:off x="583373" y="1881407"/>
            <a:ext cx="3084208" cy="748333"/>
            <a:chOff x="649416" y="2075742"/>
            <a:chExt cx="3084208" cy="748333"/>
          </a:xfrm>
        </p:grpSpPr>
        <p:sp>
          <p:nvSpPr>
            <p:cNvPr id="29" name="文本框 28"/>
            <p:cNvSpPr txBox="1"/>
            <p:nvPr/>
          </p:nvSpPr>
          <p:spPr>
            <a:xfrm>
              <a:off x="649416" y="2075742"/>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1</a:t>
              </a:r>
            </a:p>
          </p:txBody>
        </p:sp>
        <p:graphicFrame>
          <p:nvGraphicFramePr>
            <p:cNvPr id="30" name="对象 29"/>
            <p:cNvGraphicFramePr>
              <a:graphicFrameLocks noChangeAspect="1"/>
            </p:cNvGraphicFramePr>
            <p:nvPr/>
          </p:nvGraphicFramePr>
          <p:xfrm>
            <a:off x="1598437" y="2097689"/>
            <a:ext cx="2135187" cy="325437"/>
          </p:xfrm>
          <a:graphic>
            <a:graphicData uri="http://schemas.openxmlformats.org/presentationml/2006/ole">
              <mc:AlternateContent xmlns:mc="http://schemas.openxmlformats.org/markup-compatibility/2006">
                <mc:Choice xmlns:v="urn:schemas-microsoft-com:vml" Requires="v">
                  <p:oleObj name="Equation" r:id="rId4" imgW="1333440" imgH="203040" progId="Equation.DSMT4">
                    <p:embed/>
                  </p:oleObj>
                </mc:Choice>
                <mc:Fallback>
                  <p:oleObj name="Equation" r:id="rId4" imgW="1333440" imgH="203040" progId="Equation.DSMT4">
                    <p:embed/>
                    <p:pic>
                      <p:nvPicPr>
                        <p:cNvPr id="30" name="对象 29"/>
                        <p:cNvPicPr/>
                        <p:nvPr/>
                      </p:nvPicPr>
                      <p:blipFill>
                        <a:blip r:embed="rId5"/>
                        <a:stretch>
                          <a:fillRect/>
                        </a:stretch>
                      </p:blipFill>
                      <p:spPr>
                        <a:xfrm>
                          <a:off x="1598437" y="2097689"/>
                          <a:ext cx="2135187" cy="325437"/>
                        </a:xfrm>
                        <a:prstGeom prst="rect">
                          <a:avLst/>
                        </a:prstGeom>
                      </p:spPr>
                    </p:pic>
                  </p:oleObj>
                </mc:Fallback>
              </mc:AlternateContent>
            </a:graphicData>
          </a:graphic>
        </p:graphicFrame>
        <p:sp>
          <p:nvSpPr>
            <p:cNvPr id="31" name="文本框 30"/>
            <p:cNvSpPr txBox="1"/>
            <p:nvPr/>
          </p:nvSpPr>
          <p:spPr>
            <a:xfrm>
              <a:off x="649416" y="2454743"/>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2</a:t>
              </a:r>
            </a:p>
          </p:txBody>
        </p:sp>
        <p:graphicFrame>
          <p:nvGraphicFramePr>
            <p:cNvPr id="32" name="对象 31"/>
            <p:cNvGraphicFramePr>
              <a:graphicFrameLocks noChangeAspect="1"/>
            </p:cNvGraphicFramePr>
            <p:nvPr/>
          </p:nvGraphicFramePr>
          <p:xfrm>
            <a:off x="1598437" y="2454743"/>
            <a:ext cx="1973263" cy="325438"/>
          </p:xfrm>
          <a:graphic>
            <a:graphicData uri="http://schemas.openxmlformats.org/presentationml/2006/ole">
              <mc:AlternateContent xmlns:mc="http://schemas.openxmlformats.org/markup-compatibility/2006">
                <mc:Choice xmlns:v="urn:schemas-microsoft-com:vml" Requires="v">
                  <p:oleObj name="Equation" r:id="rId6" imgW="1231560" imgH="203040" progId="Equation.DSMT4">
                    <p:embed/>
                  </p:oleObj>
                </mc:Choice>
                <mc:Fallback>
                  <p:oleObj name="Equation" r:id="rId6" imgW="1231560" imgH="203040" progId="Equation.DSMT4">
                    <p:embed/>
                    <p:pic>
                      <p:nvPicPr>
                        <p:cNvPr id="32" name="对象 31"/>
                        <p:cNvPicPr/>
                        <p:nvPr/>
                      </p:nvPicPr>
                      <p:blipFill>
                        <a:blip r:embed="rId7"/>
                        <a:stretch>
                          <a:fillRect/>
                        </a:stretch>
                      </p:blipFill>
                      <p:spPr>
                        <a:xfrm>
                          <a:off x="1598437" y="2454743"/>
                          <a:ext cx="1973263" cy="325438"/>
                        </a:xfrm>
                        <a:prstGeom prst="rect">
                          <a:avLst/>
                        </a:prstGeom>
                      </p:spPr>
                    </p:pic>
                  </p:oleObj>
                </mc:Fallback>
              </mc:AlternateContent>
            </a:graphicData>
          </a:graphic>
        </p:graphicFrame>
      </p:grpSp>
      <p:graphicFrame>
        <p:nvGraphicFramePr>
          <p:cNvPr id="34" name="对象 33"/>
          <p:cNvGraphicFramePr>
            <a:graphicFrameLocks noChangeAspect="1"/>
          </p:cNvGraphicFramePr>
          <p:nvPr/>
        </p:nvGraphicFramePr>
        <p:xfrm>
          <a:off x="4016472" y="2112099"/>
          <a:ext cx="600130" cy="233384"/>
        </p:xfrm>
        <a:graphic>
          <a:graphicData uri="http://schemas.openxmlformats.org/presentationml/2006/ole">
            <mc:AlternateContent xmlns:mc="http://schemas.openxmlformats.org/markup-compatibility/2006">
              <mc:Choice xmlns:v="urn:schemas-microsoft-com:vml" Requires="v">
                <p:oleObj name="Equation" r:id="rId8" imgW="457200" imgH="177480" progId="Equation.DSMT4">
                  <p:embed/>
                </p:oleObj>
              </mc:Choice>
              <mc:Fallback>
                <p:oleObj name="Equation" r:id="rId8" imgW="457200" imgH="177480" progId="Equation.DSMT4">
                  <p:embed/>
                  <p:pic>
                    <p:nvPicPr>
                      <p:cNvPr id="34" name="对象 33"/>
                      <p:cNvPicPr/>
                      <p:nvPr/>
                    </p:nvPicPr>
                    <p:blipFill>
                      <a:blip r:embed="rId9"/>
                      <a:stretch>
                        <a:fillRect/>
                      </a:stretch>
                    </p:blipFill>
                    <p:spPr>
                      <a:xfrm>
                        <a:off x="4016472" y="2112099"/>
                        <a:ext cx="600130" cy="233384"/>
                      </a:xfrm>
                      <a:prstGeom prst="rect">
                        <a:avLst/>
                      </a:prstGeom>
                    </p:spPr>
                  </p:pic>
                </p:oleObj>
              </mc:Fallback>
            </mc:AlternateContent>
          </a:graphicData>
        </a:graphic>
      </p:graphicFrame>
      <p:grpSp>
        <p:nvGrpSpPr>
          <p:cNvPr id="35" name="组合 34"/>
          <p:cNvGrpSpPr/>
          <p:nvPr/>
        </p:nvGrpSpPr>
        <p:grpSpPr>
          <a:xfrm>
            <a:off x="644047" y="4670143"/>
            <a:ext cx="3458053" cy="766068"/>
            <a:chOff x="649416" y="2058007"/>
            <a:chExt cx="3458053" cy="766068"/>
          </a:xfrm>
        </p:grpSpPr>
        <p:sp>
          <p:nvSpPr>
            <p:cNvPr id="36" name="文本框 35"/>
            <p:cNvSpPr txBox="1"/>
            <p:nvPr/>
          </p:nvSpPr>
          <p:spPr>
            <a:xfrm>
              <a:off x="649416" y="2075742"/>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1</a:t>
              </a:r>
            </a:p>
          </p:txBody>
        </p:sp>
        <p:graphicFrame>
          <p:nvGraphicFramePr>
            <p:cNvPr id="37" name="对象 36"/>
            <p:cNvGraphicFramePr>
              <a:graphicFrameLocks noChangeAspect="1"/>
            </p:cNvGraphicFramePr>
            <p:nvPr>
              <p:extLst>
                <p:ext uri="{D42A27DB-BD31-4B8C-83A1-F6EECF244321}">
                  <p14:modId xmlns:p14="http://schemas.microsoft.com/office/powerpoint/2010/main" val="245301472"/>
                </p:ext>
              </p:extLst>
            </p:nvPr>
          </p:nvGraphicFramePr>
          <p:xfrm>
            <a:off x="1564294" y="2058007"/>
            <a:ext cx="2541588" cy="387350"/>
          </p:xfrm>
          <a:graphic>
            <a:graphicData uri="http://schemas.openxmlformats.org/presentationml/2006/ole">
              <mc:AlternateContent xmlns:mc="http://schemas.openxmlformats.org/markup-compatibility/2006">
                <mc:Choice xmlns:v="urn:schemas-microsoft-com:vml" Requires="v">
                  <p:oleObj name="Equation" r:id="rId10" imgW="1587240" imgH="241200" progId="Equation.DSMT4">
                    <p:embed/>
                  </p:oleObj>
                </mc:Choice>
                <mc:Fallback>
                  <p:oleObj name="Equation" r:id="rId10" imgW="1587240" imgH="241200" progId="Equation.DSMT4">
                    <p:embed/>
                    <p:pic>
                      <p:nvPicPr>
                        <p:cNvPr id="37" name="对象 36"/>
                        <p:cNvPicPr/>
                        <p:nvPr/>
                      </p:nvPicPr>
                      <p:blipFill>
                        <a:blip r:embed="rId11"/>
                        <a:stretch>
                          <a:fillRect/>
                        </a:stretch>
                      </p:blipFill>
                      <p:spPr>
                        <a:xfrm>
                          <a:off x="1564294" y="2058007"/>
                          <a:ext cx="2541588" cy="387350"/>
                        </a:xfrm>
                        <a:prstGeom prst="rect">
                          <a:avLst/>
                        </a:prstGeom>
                      </p:spPr>
                    </p:pic>
                  </p:oleObj>
                </mc:Fallback>
              </mc:AlternateContent>
            </a:graphicData>
          </a:graphic>
        </p:graphicFrame>
        <p:sp>
          <p:nvSpPr>
            <p:cNvPr id="38" name="文本框 37"/>
            <p:cNvSpPr txBox="1"/>
            <p:nvPr/>
          </p:nvSpPr>
          <p:spPr>
            <a:xfrm>
              <a:off x="649416" y="2454743"/>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2</a:t>
              </a:r>
            </a:p>
          </p:txBody>
        </p:sp>
        <p:graphicFrame>
          <p:nvGraphicFramePr>
            <p:cNvPr id="39" name="对象 38"/>
            <p:cNvGraphicFramePr>
              <a:graphicFrameLocks noChangeAspect="1"/>
            </p:cNvGraphicFramePr>
            <p:nvPr>
              <p:extLst>
                <p:ext uri="{D42A27DB-BD31-4B8C-83A1-F6EECF244321}">
                  <p14:modId xmlns:p14="http://schemas.microsoft.com/office/powerpoint/2010/main" val="1465784912"/>
                </p:ext>
              </p:extLst>
            </p:nvPr>
          </p:nvGraphicFramePr>
          <p:xfrm>
            <a:off x="1562707" y="2423132"/>
            <a:ext cx="2544762" cy="387350"/>
          </p:xfrm>
          <a:graphic>
            <a:graphicData uri="http://schemas.openxmlformats.org/presentationml/2006/ole">
              <mc:AlternateContent xmlns:mc="http://schemas.openxmlformats.org/markup-compatibility/2006">
                <mc:Choice xmlns:v="urn:schemas-microsoft-com:vml" Requires="v">
                  <p:oleObj name="Equation" r:id="rId12" imgW="1587240" imgH="241200" progId="Equation.DSMT4">
                    <p:embed/>
                  </p:oleObj>
                </mc:Choice>
                <mc:Fallback>
                  <p:oleObj name="Equation" r:id="rId12" imgW="1587240" imgH="241200" progId="Equation.DSMT4">
                    <p:embed/>
                    <p:pic>
                      <p:nvPicPr>
                        <p:cNvPr id="39" name="对象 38"/>
                        <p:cNvPicPr/>
                        <p:nvPr/>
                      </p:nvPicPr>
                      <p:blipFill>
                        <a:blip r:embed="rId13"/>
                        <a:stretch>
                          <a:fillRect/>
                        </a:stretch>
                      </p:blipFill>
                      <p:spPr>
                        <a:xfrm>
                          <a:off x="1562707" y="2423132"/>
                          <a:ext cx="2544762" cy="387350"/>
                        </a:xfrm>
                        <a:prstGeom prst="rect">
                          <a:avLst/>
                        </a:prstGeom>
                      </p:spPr>
                    </p:pic>
                  </p:oleObj>
                </mc:Fallback>
              </mc:AlternateContent>
            </a:graphicData>
          </a:graphic>
        </p:graphicFrame>
      </p:grpSp>
      <p:graphicFrame>
        <p:nvGraphicFramePr>
          <p:cNvPr id="40" name="对象 39"/>
          <p:cNvGraphicFramePr>
            <a:graphicFrameLocks noChangeAspect="1"/>
          </p:cNvGraphicFramePr>
          <p:nvPr/>
        </p:nvGraphicFramePr>
        <p:xfrm>
          <a:off x="5920007" y="2766153"/>
          <a:ext cx="1817872" cy="277009"/>
        </p:xfrm>
        <a:graphic>
          <a:graphicData uri="http://schemas.openxmlformats.org/presentationml/2006/ole">
            <mc:AlternateContent xmlns:mc="http://schemas.openxmlformats.org/markup-compatibility/2006">
              <mc:Choice xmlns:v="urn:schemas-microsoft-com:vml" Requires="v">
                <p:oleObj name="Equation" r:id="rId14" imgW="1333440" imgH="203040" progId="Equation.DSMT4">
                  <p:embed/>
                </p:oleObj>
              </mc:Choice>
              <mc:Fallback>
                <p:oleObj name="Equation" r:id="rId14" imgW="1333440" imgH="203040" progId="Equation.DSMT4">
                  <p:embed/>
                  <p:pic>
                    <p:nvPicPr>
                      <p:cNvPr id="40" name="对象 39"/>
                      <p:cNvPicPr/>
                      <p:nvPr/>
                    </p:nvPicPr>
                    <p:blipFill>
                      <a:blip r:embed="rId15"/>
                      <a:stretch>
                        <a:fillRect/>
                      </a:stretch>
                    </p:blipFill>
                    <p:spPr>
                      <a:xfrm>
                        <a:off x="5920007" y="2766153"/>
                        <a:ext cx="1817872" cy="277009"/>
                      </a:xfrm>
                      <a:prstGeom prst="rect">
                        <a:avLst/>
                      </a:prstGeom>
                    </p:spPr>
                  </p:pic>
                </p:oleObj>
              </mc:Fallback>
            </mc:AlternateContent>
          </a:graphicData>
        </a:graphic>
      </p:graphicFrame>
      <p:pic>
        <p:nvPicPr>
          <p:cNvPr id="41" name="图片 40"/>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4631749" y="3452977"/>
            <a:ext cx="4000500" cy="3200400"/>
          </a:xfrm>
          <a:prstGeom prst="rect">
            <a:avLst/>
          </a:prstGeom>
        </p:spPr>
      </p:pic>
    </p:spTree>
    <p:extLst>
      <p:ext uri="{BB962C8B-B14F-4D97-AF65-F5344CB8AC3E}">
        <p14:creationId xmlns:p14="http://schemas.microsoft.com/office/powerpoint/2010/main" val="3734324756"/>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图片 5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2523" y="3271947"/>
            <a:ext cx="3429000" cy="2743200"/>
          </a:xfrm>
          <a:prstGeom prst="rect">
            <a:avLst/>
          </a:prstGeom>
        </p:spPr>
      </p:pic>
      <p:pic>
        <p:nvPicPr>
          <p:cNvPr id="48" name="图片 4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4004" y="3305164"/>
            <a:ext cx="3429000" cy="2743200"/>
          </a:xfrm>
          <a:prstGeom prst="rect">
            <a:avLst/>
          </a:prstGeom>
        </p:spPr>
      </p:pic>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FF"/>
              </a:buClr>
            </a:pPr>
            <a:r>
              <a:rPr lang="en-US" sz="2400" b="1" dirty="0">
                <a:solidFill>
                  <a:srgbClr val="C00000"/>
                </a:solidFill>
                <a:latin typeface="Microsoft YaHei UI" panose="020B0503020204020204" pitchFamily="34" charset="-122"/>
                <a:ea typeface="Microsoft YaHei UI" panose="020B0503020204020204" pitchFamily="34" charset="-122"/>
              </a:rPr>
              <a:t>Example 3: PINNs </a:t>
            </a:r>
            <a:r>
              <a:rPr lang="en-US" sz="1600" b="1" dirty="0">
                <a:solidFill>
                  <a:srgbClr val="C00000"/>
                </a:solidFill>
                <a:latin typeface="Microsoft YaHei UI" panose="020B0503020204020204" pitchFamily="34" charset="-122"/>
                <a:ea typeface="Microsoft YaHei UI" panose="020B0503020204020204" pitchFamily="34" charset="-122"/>
              </a:rPr>
              <a:t>(Data parallelism)</a:t>
            </a:r>
          </a:p>
        </p:txBody>
      </p:sp>
      <p:grpSp>
        <p:nvGrpSpPr>
          <p:cNvPr id="4" name="组合 3"/>
          <p:cNvGrpSpPr/>
          <p:nvPr/>
        </p:nvGrpSpPr>
        <p:grpSpPr>
          <a:xfrm>
            <a:off x="5865380" y="978462"/>
            <a:ext cx="2788360" cy="1681018"/>
            <a:chOff x="5338907" y="958391"/>
            <a:chExt cx="2788360" cy="1681018"/>
          </a:xfrm>
        </p:grpSpPr>
        <p:grpSp>
          <p:nvGrpSpPr>
            <p:cNvPr id="5" name="组合 4"/>
            <p:cNvGrpSpPr/>
            <p:nvPr/>
          </p:nvGrpSpPr>
          <p:grpSpPr>
            <a:xfrm>
              <a:off x="5338907" y="958391"/>
              <a:ext cx="1293092" cy="1681018"/>
              <a:chOff x="1930399" y="1921164"/>
              <a:chExt cx="1293092" cy="1681018"/>
            </a:xfrm>
          </p:grpSpPr>
          <p:sp>
            <p:nvSpPr>
              <p:cNvPr id="18" name="圆角矩形 17"/>
              <p:cNvSpPr/>
              <p:nvPr/>
            </p:nvSpPr>
            <p:spPr>
              <a:xfrm>
                <a:off x="1930399" y="1921164"/>
                <a:ext cx="1293092" cy="1681018"/>
              </a:xfrm>
              <a:prstGeom prst="roundRect">
                <a:avLst/>
              </a:prstGeom>
              <a:solidFill>
                <a:schemeClr val="accent5">
                  <a:lumMod val="20000"/>
                  <a:lumOff val="80000"/>
                </a:schemeClr>
              </a:solidFill>
              <a:ln w="15875">
                <a:solidFill>
                  <a:schemeClr val="accent5">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圆角矩形 18"/>
              <p:cNvSpPr/>
              <p:nvPr/>
            </p:nvSpPr>
            <p:spPr>
              <a:xfrm>
                <a:off x="2262033" y="2196666"/>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圆角矩形 19"/>
              <p:cNvSpPr/>
              <p:nvPr/>
            </p:nvSpPr>
            <p:spPr>
              <a:xfrm>
                <a:off x="1965783" y="2595418"/>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圆角矩形 20"/>
              <p:cNvSpPr/>
              <p:nvPr/>
            </p:nvSpPr>
            <p:spPr>
              <a:xfrm>
                <a:off x="2599911" y="2602345"/>
                <a:ext cx="577849" cy="152400"/>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圆角矩形 21"/>
              <p:cNvSpPr/>
              <p:nvPr/>
            </p:nvSpPr>
            <p:spPr>
              <a:xfrm>
                <a:off x="2256254" y="2954047"/>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22"/>
              <p:cNvSpPr txBox="1"/>
              <p:nvPr/>
            </p:nvSpPr>
            <p:spPr>
              <a:xfrm>
                <a:off x="2101272" y="3224547"/>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1</a:t>
                </a:r>
              </a:p>
            </p:txBody>
          </p:sp>
          <p:cxnSp>
            <p:nvCxnSpPr>
              <p:cNvPr id="24" name="直接箭头连接符 23"/>
              <p:cNvCxnSpPr>
                <a:stCxn id="22" idx="0"/>
              </p:cNvCxnSpPr>
              <p:nvPr/>
            </p:nvCxnSpPr>
            <p:spPr>
              <a:xfrm flipH="1" flipV="1">
                <a:off x="2224228" y="2761673"/>
                <a:ext cx="320951" cy="19237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22" idx="0"/>
                <a:endCxn id="21" idx="2"/>
              </p:cNvCxnSpPr>
              <p:nvPr/>
            </p:nvCxnSpPr>
            <p:spPr>
              <a:xfrm flipV="1">
                <a:off x="2545179" y="2754745"/>
                <a:ext cx="343657" cy="19930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20" idx="0"/>
                <a:endCxn id="19" idx="2"/>
              </p:cNvCxnSpPr>
              <p:nvPr/>
            </p:nvCxnSpPr>
            <p:spPr>
              <a:xfrm flipV="1">
                <a:off x="2254708" y="2362921"/>
                <a:ext cx="296250" cy="23249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21" idx="0"/>
                <a:endCxn id="19" idx="2"/>
              </p:cNvCxnSpPr>
              <p:nvPr/>
            </p:nvCxnSpPr>
            <p:spPr>
              <a:xfrm flipH="1" flipV="1">
                <a:off x="2550958" y="2362921"/>
                <a:ext cx="337878" cy="23942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6834175" y="958391"/>
              <a:ext cx="1293092" cy="1681018"/>
              <a:chOff x="1930399" y="1921164"/>
              <a:chExt cx="1293092" cy="1681018"/>
            </a:xfrm>
          </p:grpSpPr>
          <p:sp>
            <p:nvSpPr>
              <p:cNvPr id="7" name="圆角矩形 6"/>
              <p:cNvSpPr/>
              <p:nvPr/>
            </p:nvSpPr>
            <p:spPr>
              <a:xfrm>
                <a:off x="1930399" y="1921164"/>
                <a:ext cx="1293092" cy="1681018"/>
              </a:xfrm>
              <a:prstGeom prst="roundRect">
                <a:avLst/>
              </a:prstGeom>
              <a:solidFill>
                <a:schemeClr val="accent5">
                  <a:lumMod val="20000"/>
                  <a:lumOff val="80000"/>
                </a:schemeClr>
              </a:solidFill>
              <a:ln w="15875">
                <a:solidFill>
                  <a:schemeClr val="accent5">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圆角矩形 8"/>
              <p:cNvSpPr/>
              <p:nvPr/>
            </p:nvSpPr>
            <p:spPr>
              <a:xfrm>
                <a:off x="2262033" y="2196666"/>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圆角矩形 9"/>
              <p:cNvSpPr/>
              <p:nvPr/>
            </p:nvSpPr>
            <p:spPr>
              <a:xfrm>
                <a:off x="1965783" y="2595418"/>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圆角矩形 10"/>
              <p:cNvSpPr/>
              <p:nvPr/>
            </p:nvSpPr>
            <p:spPr>
              <a:xfrm>
                <a:off x="2599911" y="2602345"/>
                <a:ext cx="577849" cy="152400"/>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圆角矩形 11"/>
              <p:cNvSpPr/>
              <p:nvPr/>
            </p:nvSpPr>
            <p:spPr>
              <a:xfrm>
                <a:off x="2256254" y="2954047"/>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p:cNvSpPr txBox="1"/>
              <p:nvPr/>
            </p:nvSpPr>
            <p:spPr>
              <a:xfrm>
                <a:off x="2128287" y="3223181"/>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2</a:t>
                </a:r>
              </a:p>
            </p:txBody>
          </p:sp>
          <p:cxnSp>
            <p:nvCxnSpPr>
              <p:cNvPr id="14" name="直接箭头连接符 13"/>
              <p:cNvCxnSpPr>
                <a:stCxn id="12" idx="0"/>
              </p:cNvCxnSpPr>
              <p:nvPr/>
            </p:nvCxnSpPr>
            <p:spPr>
              <a:xfrm flipH="1" flipV="1">
                <a:off x="2224228" y="2761673"/>
                <a:ext cx="320951" cy="19237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12" idx="0"/>
                <a:endCxn id="11" idx="2"/>
              </p:cNvCxnSpPr>
              <p:nvPr/>
            </p:nvCxnSpPr>
            <p:spPr>
              <a:xfrm flipV="1">
                <a:off x="2545179" y="2754745"/>
                <a:ext cx="343657" cy="19930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0" idx="0"/>
                <a:endCxn id="9" idx="2"/>
              </p:cNvCxnSpPr>
              <p:nvPr/>
            </p:nvCxnSpPr>
            <p:spPr>
              <a:xfrm flipV="1">
                <a:off x="2254708" y="2362921"/>
                <a:ext cx="296250" cy="23249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1" idx="0"/>
                <a:endCxn id="9" idx="2"/>
              </p:cNvCxnSpPr>
              <p:nvPr/>
            </p:nvCxnSpPr>
            <p:spPr>
              <a:xfrm flipH="1" flipV="1">
                <a:off x="2550958" y="2362921"/>
                <a:ext cx="337878" cy="23942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aphicFrame>
        <p:nvGraphicFramePr>
          <p:cNvPr id="28" name="对象 27"/>
          <p:cNvGraphicFramePr>
            <a:graphicFrameLocks noChangeAspect="1"/>
          </p:cNvGraphicFramePr>
          <p:nvPr>
            <p:extLst>
              <p:ext uri="{D42A27DB-BD31-4B8C-83A1-F6EECF244321}">
                <p14:modId xmlns:p14="http://schemas.microsoft.com/office/powerpoint/2010/main" val="1064051899"/>
              </p:ext>
            </p:extLst>
          </p:nvPr>
        </p:nvGraphicFramePr>
        <p:xfrm>
          <a:off x="6446480" y="2786224"/>
          <a:ext cx="1817872" cy="277009"/>
        </p:xfrm>
        <a:graphic>
          <a:graphicData uri="http://schemas.openxmlformats.org/presentationml/2006/ole">
            <mc:AlternateContent xmlns:mc="http://schemas.openxmlformats.org/markup-compatibility/2006">
              <mc:Choice xmlns:v="urn:schemas-microsoft-com:vml" Requires="v">
                <p:oleObj name="Equation" r:id="rId4" imgW="1333440" imgH="203040" progId="Equation.DSMT4">
                  <p:embed/>
                </p:oleObj>
              </mc:Choice>
              <mc:Fallback>
                <p:oleObj name="Equation" r:id="rId4" imgW="1333440" imgH="203040" progId="Equation.DSMT4">
                  <p:embed/>
                  <p:pic>
                    <p:nvPicPr>
                      <p:cNvPr id="40" name="对象 39"/>
                      <p:cNvPicPr/>
                      <p:nvPr/>
                    </p:nvPicPr>
                    <p:blipFill>
                      <a:blip r:embed="rId5"/>
                      <a:stretch>
                        <a:fillRect/>
                      </a:stretch>
                    </p:blipFill>
                    <p:spPr>
                      <a:xfrm>
                        <a:off x="6446480" y="2786224"/>
                        <a:ext cx="1817872" cy="277009"/>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8651865"/>
              </p:ext>
            </p:extLst>
          </p:nvPr>
        </p:nvGraphicFramePr>
        <p:xfrm>
          <a:off x="1849438" y="977900"/>
          <a:ext cx="2279650" cy="415925"/>
        </p:xfrm>
        <a:graphic>
          <a:graphicData uri="http://schemas.openxmlformats.org/presentationml/2006/ole">
            <mc:AlternateContent xmlns:mc="http://schemas.openxmlformats.org/markup-compatibility/2006">
              <mc:Choice xmlns:v="urn:schemas-microsoft-com:vml" Requires="v">
                <p:oleObj name="Equation" r:id="rId6" imgW="1257120" imgH="228600" progId="Equation.DSMT4">
                  <p:embed/>
                </p:oleObj>
              </mc:Choice>
              <mc:Fallback>
                <p:oleObj name="Equation" r:id="rId6" imgW="1257120" imgH="228600" progId="Equation.DSMT4">
                  <p:embed/>
                  <p:pic>
                    <p:nvPicPr>
                      <p:cNvPr id="0" name=""/>
                      <p:cNvPicPr/>
                      <p:nvPr/>
                    </p:nvPicPr>
                    <p:blipFill>
                      <a:blip r:embed="rId7"/>
                      <a:stretch>
                        <a:fillRect/>
                      </a:stretch>
                    </p:blipFill>
                    <p:spPr>
                      <a:xfrm>
                        <a:off x="1849438" y="977900"/>
                        <a:ext cx="2279650" cy="415925"/>
                      </a:xfrm>
                      <a:prstGeom prst="rect">
                        <a:avLst/>
                      </a:prstGeom>
                    </p:spPr>
                  </p:pic>
                </p:oleObj>
              </mc:Fallback>
            </mc:AlternateContent>
          </a:graphicData>
        </a:graphic>
      </p:graphicFrame>
      <p:grpSp>
        <p:nvGrpSpPr>
          <p:cNvPr id="34" name="组合 33"/>
          <p:cNvGrpSpPr/>
          <p:nvPr/>
        </p:nvGrpSpPr>
        <p:grpSpPr>
          <a:xfrm>
            <a:off x="1138177" y="2090978"/>
            <a:ext cx="3211768" cy="748333"/>
            <a:chOff x="649416" y="2075742"/>
            <a:chExt cx="3211768" cy="748333"/>
          </a:xfrm>
        </p:grpSpPr>
        <p:sp>
          <p:nvSpPr>
            <p:cNvPr id="35" name="文本框 34"/>
            <p:cNvSpPr txBox="1"/>
            <p:nvPr/>
          </p:nvSpPr>
          <p:spPr>
            <a:xfrm>
              <a:off x="649416" y="2075742"/>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1</a:t>
              </a:r>
            </a:p>
          </p:txBody>
        </p:sp>
        <p:graphicFrame>
          <p:nvGraphicFramePr>
            <p:cNvPr id="36" name="对象 35"/>
            <p:cNvGraphicFramePr>
              <a:graphicFrameLocks noChangeAspect="1"/>
            </p:cNvGraphicFramePr>
            <p:nvPr>
              <p:extLst>
                <p:ext uri="{D42A27DB-BD31-4B8C-83A1-F6EECF244321}">
                  <p14:modId xmlns:p14="http://schemas.microsoft.com/office/powerpoint/2010/main" val="29679139"/>
                </p:ext>
              </p:extLst>
            </p:nvPr>
          </p:nvGraphicFramePr>
          <p:xfrm>
            <a:off x="1684721" y="2098417"/>
            <a:ext cx="2176463" cy="323850"/>
          </p:xfrm>
          <a:graphic>
            <a:graphicData uri="http://schemas.openxmlformats.org/presentationml/2006/ole">
              <mc:AlternateContent xmlns:mc="http://schemas.openxmlformats.org/markup-compatibility/2006">
                <mc:Choice xmlns:v="urn:schemas-microsoft-com:vml" Requires="v">
                  <p:oleObj name="Equation" r:id="rId8" imgW="1358640" imgH="203040" progId="Equation.DSMT4">
                    <p:embed/>
                  </p:oleObj>
                </mc:Choice>
                <mc:Fallback>
                  <p:oleObj name="Equation" r:id="rId8" imgW="1358640" imgH="203040" progId="Equation.DSMT4">
                    <p:embed/>
                    <p:pic>
                      <p:nvPicPr>
                        <p:cNvPr id="31" name="对象 30"/>
                        <p:cNvPicPr/>
                        <p:nvPr/>
                      </p:nvPicPr>
                      <p:blipFill>
                        <a:blip r:embed="rId9"/>
                        <a:stretch>
                          <a:fillRect/>
                        </a:stretch>
                      </p:blipFill>
                      <p:spPr>
                        <a:xfrm>
                          <a:off x="1684721" y="2098417"/>
                          <a:ext cx="2176463" cy="323850"/>
                        </a:xfrm>
                        <a:prstGeom prst="rect">
                          <a:avLst/>
                        </a:prstGeom>
                      </p:spPr>
                    </p:pic>
                  </p:oleObj>
                </mc:Fallback>
              </mc:AlternateContent>
            </a:graphicData>
          </a:graphic>
        </p:graphicFrame>
        <p:sp>
          <p:nvSpPr>
            <p:cNvPr id="37" name="文本框 36"/>
            <p:cNvSpPr txBox="1"/>
            <p:nvPr/>
          </p:nvSpPr>
          <p:spPr>
            <a:xfrm>
              <a:off x="649416" y="2454743"/>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2</a:t>
              </a:r>
            </a:p>
          </p:txBody>
        </p:sp>
        <p:graphicFrame>
          <p:nvGraphicFramePr>
            <p:cNvPr id="38" name="对象 37"/>
            <p:cNvGraphicFramePr>
              <a:graphicFrameLocks noChangeAspect="1"/>
            </p:cNvGraphicFramePr>
            <p:nvPr>
              <p:extLst>
                <p:ext uri="{D42A27DB-BD31-4B8C-83A1-F6EECF244321}">
                  <p14:modId xmlns:p14="http://schemas.microsoft.com/office/powerpoint/2010/main" val="3791051934"/>
                </p:ext>
              </p:extLst>
            </p:nvPr>
          </p:nvGraphicFramePr>
          <p:xfrm>
            <a:off x="1660913" y="2476242"/>
            <a:ext cx="2016125" cy="323850"/>
          </p:xfrm>
          <a:graphic>
            <a:graphicData uri="http://schemas.openxmlformats.org/presentationml/2006/ole">
              <mc:AlternateContent xmlns:mc="http://schemas.openxmlformats.org/markup-compatibility/2006">
                <mc:Choice xmlns:v="urn:schemas-microsoft-com:vml" Requires="v">
                  <p:oleObj name="Equation" r:id="rId10" imgW="1257120" imgH="203040" progId="Equation.DSMT4">
                    <p:embed/>
                  </p:oleObj>
                </mc:Choice>
                <mc:Fallback>
                  <p:oleObj name="Equation" r:id="rId10" imgW="1257120" imgH="203040" progId="Equation.DSMT4">
                    <p:embed/>
                    <p:pic>
                      <p:nvPicPr>
                        <p:cNvPr id="33" name="对象 32"/>
                        <p:cNvPicPr/>
                        <p:nvPr/>
                      </p:nvPicPr>
                      <p:blipFill>
                        <a:blip r:embed="rId11"/>
                        <a:stretch>
                          <a:fillRect/>
                        </a:stretch>
                      </p:blipFill>
                      <p:spPr>
                        <a:xfrm>
                          <a:off x="1660913" y="2476242"/>
                          <a:ext cx="2016125" cy="323850"/>
                        </a:xfrm>
                        <a:prstGeom prst="rect">
                          <a:avLst/>
                        </a:prstGeom>
                      </p:spPr>
                    </p:pic>
                  </p:oleObj>
                </mc:Fallback>
              </mc:AlternateContent>
            </a:graphicData>
          </a:graphic>
        </p:graphicFrame>
      </p:grpSp>
      <p:graphicFrame>
        <p:nvGraphicFramePr>
          <p:cNvPr id="40" name="对象 39"/>
          <p:cNvGraphicFramePr>
            <a:graphicFrameLocks noChangeAspect="1"/>
          </p:cNvGraphicFramePr>
          <p:nvPr>
            <p:extLst>
              <p:ext uri="{D42A27DB-BD31-4B8C-83A1-F6EECF244321}">
                <p14:modId xmlns:p14="http://schemas.microsoft.com/office/powerpoint/2010/main" val="3741053574"/>
              </p:ext>
            </p:extLst>
          </p:nvPr>
        </p:nvGraphicFramePr>
        <p:xfrm>
          <a:off x="2089522" y="1532643"/>
          <a:ext cx="1811338" cy="406400"/>
        </p:xfrm>
        <a:graphic>
          <a:graphicData uri="http://schemas.openxmlformats.org/presentationml/2006/ole">
            <mc:AlternateContent xmlns:mc="http://schemas.openxmlformats.org/markup-compatibility/2006">
              <mc:Choice xmlns:v="urn:schemas-microsoft-com:vml" Requires="v">
                <p:oleObj name="Equation" r:id="rId12" imgW="1130040" imgH="253800" progId="Equation.DSMT4">
                  <p:embed/>
                </p:oleObj>
              </mc:Choice>
              <mc:Fallback>
                <p:oleObj name="Equation" r:id="rId12" imgW="1130040" imgH="253800" progId="Equation.DSMT4">
                  <p:embed/>
                  <p:pic>
                    <p:nvPicPr>
                      <p:cNvPr id="33" name="对象 32"/>
                      <p:cNvPicPr/>
                      <p:nvPr/>
                    </p:nvPicPr>
                    <p:blipFill>
                      <a:blip r:embed="rId13"/>
                      <a:stretch>
                        <a:fillRect/>
                      </a:stretch>
                    </p:blipFill>
                    <p:spPr>
                      <a:xfrm>
                        <a:off x="2089522" y="1532643"/>
                        <a:ext cx="1811338" cy="406400"/>
                      </a:xfrm>
                      <a:prstGeom prst="rect">
                        <a:avLst/>
                      </a:prstGeom>
                    </p:spPr>
                  </p:pic>
                </p:oleObj>
              </mc:Fallback>
            </mc:AlternateContent>
          </a:graphicData>
        </a:graphic>
      </p:graphicFrame>
      <p:grpSp>
        <p:nvGrpSpPr>
          <p:cNvPr id="42" name="组合 41"/>
          <p:cNvGrpSpPr/>
          <p:nvPr/>
        </p:nvGrpSpPr>
        <p:grpSpPr>
          <a:xfrm>
            <a:off x="3157736" y="6046998"/>
            <a:ext cx="3253500" cy="748333"/>
            <a:chOff x="649416" y="2075742"/>
            <a:chExt cx="3253500" cy="748333"/>
          </a:xfrm>
        </p:grpSpPr>
        <p:sp>
          <p:nvSpPr>
            <p:cNvPr id="43" name="文本框 42"/>
            <p:cNvSpPr txBox="1"/>
            <p:nvPr/>
          </p:nvSpPr>
          <p:spPr>
            <a:xfrm>
              <a:off x="649416" y="2075742"/>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1</a:t>
              </a:r>
            </a:p>
          </p:txBody>
        </p:sp>
        <p:graphicFrame>
          <p:nvGraphicFramePr>
            <p:cNvPr id="44" name="对象 43"/>
            <p:cNvGraphicFramePr>
              <a:graphicFrameLocks noChangeAspect="1"/>
            </p:cNvGraphicFramePr>
            <p:nvPr>
              <p:extLst>
                <p:ext uri="{D42A27DB-BD31-4B8C-83A1-F6EECF244321}">
                  <p14:modId xmlns:p14="http://schemas.microsoft.com/office/powerpoint/2010/main" val="3281969852"/>
                </p:ext>
              </p:extLst>
            </p:nvPr>
          </p:nvGraphicFramePr>
          <p:xfrm>
            <a:off x="1645491" y="2097866"/>
            <a:ext cx="2257425" cy="323850"/>
          </p:xfrm>
          <a:graphic>
            <a:graphicData uri="http://schemas.openxmlformats.org/presentationml/2006/ole">
              <mc:AlternateContent xmlns:mc="http://schemas.openxmlformats.org/markup-compatibility/2006">
                <mc:Choice xmlns:v="urn:schemas-microsoft-com:vml" Requires="v">
                  <p:oleObj name="Equation" r:id="rId14" imgW="1409400" imgH="203040" progId="Equation.DSMT4">
                    <p:embed/>
                  </p:oleObj>
                </mc:Choice>
                <mc:Fallback>
                  <p:oleObj name="Equation" r:id="rId14" imgW="1409400" imgH="203040" progId="Equation.DSMT4">
                    <p:embed/>
                    <p:pic>
                      <p:nvPicPr>
                        <p:cNvPr id="36" name="对象 35"/>
                        <p:cNvPicPr/>
                        <p:nvPr/>
                      </p:nvPicPr>
                      <p:blipFill>
                        <a:blip r:embed="rId15"/>
                        <a:stretch>
                          <a:fillRect/>
                        </a:stretch>
                      </p:blipFill>
                      <p:spPr>
                        <a:xfrm>
                          <a:off x="1645491" y="2097866"/>
                          <a:ext cx="2257425" cy="323850"/>
                        </a:xfrm>
                        <a:prstGeom prst="rect">
                          <a:avLst/>
                        </a:prstGeom>
                      </p:spPr>
                    </p:pic>
                  </p:oleObj>
                </mc:Fallback>
              </mc:AlternateContent>
            </a:graphicData>
          </a:graphic>
        </p:graphicFrame>
        <p:sp>
          <p:nvSpPr>
            <p:cNvPr id="45" name="文本框 44"/>
            <p:cNvSpPr txBox="1"/>
            <p:nvPr/>
          </p:nvSpPr>
          <p:spPr>
            <a:xfrm>
              <a:off x="649416" y="2454743"/>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2</a:t>
              </a:r>
            </a:p>
          </p:txBody>
        </p:sp>
        <p:graphicFrame>
          <p:nvGraphicFramePr>
            <p:cNvPr id="46" name="对象 45"/>
            <p:cNvGraphicFramePr>
              <a:graphicFrameLocks noChangeAspect="1"/>
            </p:cNvGraphicFramePr>
            <p:nvPr>
              <p:extLst>
                <p:ext uri="{D42A27DB-BD31-4B8C-83A1-F6EECF244321}">
                  <p14:modId xmlns:p14="http://schemas.microsoft.com/office/powerpoint/2010/main" val="3610052243"/>
                </p:ext>
              </p:extLst>
            </p:nvPr>
          </p:nvGraphicFramePr>
          <p:xfrm>
            <a:off x="1631488" y="2475691"/>
            <a:ext cx="2260600" cy="323850"/>
          </p:xfrm>
          <a:graphic>
            <a:graphicData uri="http://schemas.openxmlformats.org/presentationml/2006/ole">
              <mc:AlternateContent xmlns:mc="http://schemas.openxmlformats.org/markup-compatibility/2006">
                <mc:Choice xmlns:v="urn:schemas-microsoft-com:vml" Requires="v">
                  <p:oleObj name="Equation" r:id="rId16" imgW="1409400" imgH="203040" progId="Equation.DSMT4">
                    <p:embed/>
                  </p:oleObj>
                </mc:Choice>
                <mc:Fallback>
                  <p:oleObj name="Equation" r:id="rId16" imgW="1409400" imgH="203040" progId="Equation.DSMT4">
                    <p:embed/>
                    <p:pic>
                      <p:nvPicPr>
                        <p:cNvPr id="38" name="对象 37"/>
                        <p:cNvPicPr/>
                        <p:nvPr/>
                      </p:nvPicPr>
                      <p:blipFill>
                        <a:blip r:embed="rId17"/>
                        <a:stretch>
                          <a:fillRect/>
                        </a:stretch>
                      </p:blipFill>
                      <p:spPr>
                        <a:xfrm>
                          <a:off x="1631488" y="2475691"/>
                          <a:ext cx="2260600" cy="323850"/>
                        </a:xfrm>
                        <a:prstGeom prst="rect">
                          <a:avLst/>
                        </a:prstGeom>
                      </p:spPr>
                    </p:pic>
                  </p:oleObj>
                </mc:Fallback>
              </mc:AlternateContent>
            </a:graphicData>
          </a:graphic>
        </p:graphicFrame>
      </p:grpSp>
      <p:graphicFrame>
        <p:nvGraphicFramePr>
          <p:cNvPr id="47" name="对象 46"/>
          <p:cNvGraphicFramePr>
            <a:graphicFrameLocks noChangeAspect="1"/>
          </p:cNvGraphicFramePr>
          <p:nvPr>
            <p:extLst>
              <p:ext uri="{D42A27DB-BD31-4B8C-83A1-F6EECF244321}">
                <p14:modId xmlns:p14="http://schemas.microsoft.com/office/powerpoint/2010/main" val="1826652247"/>
              </p:ext>
            </p:extLst>
          </p:nvPr>
        </p:nvGraphicFramePr>
        <p:xfrm>
          <a:off x="2213001" y="4340067"/>
          <a:ext cx="1363663" cy="406400"/>
        </p:xfrm>
        <a:graphic>
          <a:graphicData uri="http://schemas.openxmlformats.org/presentationml/2006/ole">
            <mc:AlternateContent xmlns:mc="http://schemas.openxmlformats.org/markup-compatibility/2006">
              <mc:Choice xmlns:v="urn:schemas-microsoft-com:vml" Requires="v">
                <p:oleObj name="Equation" r:id="rId18" imgW="850680" imgH="253800" progId="Equation.DSMT4">
                  <p:embed/>
                </p:oleObj>
              </mc:Choice>
              <mc:Fallback>
                <p:oleObj name="Equation" r:id="rId18" imgW="850680" imgH="253800" progId="Equation.DSMT4">
                  <p:embed/>
                  <p:pic>
                    <p:nvPicPr>
                      <p:cNvPr id="40" name="对象 39"/>
                      <p:cNvPicPr/>
                      <p:nvPr/>
                    </p:nvPicPr>
                    <p:blipFill>
                      <a:blip r:embed="rId19"/>
                      <a:stretch>
                        <a:fillRect/>
                      </a:stretch>
                    </p:blipFill>
                    <p:spPr>
                      <a:xfrm>
                        <a:off x="2213001" y="4340067"/>
                        <a:ext cx="1363663" cy="406400"/>
                      </a:xfrm>
                      <a:prstGeom prst="rect">
                        <a:avLst/>
                      </a:prstGeom>
                    </p:spPr>
                  </p:pic>
                </p:oleObj>
              </mc:Fallback>
            </mc:AlternateContent>
          </a:graphicData>
        </a:graphic>
      </p:graphicFrame>
      <p:sp>
        <p:nvSpPr>
          <p:cNvPr id="51" name="文本框 50"/>
          <p:cNvSpPr txBox="1"/>
          <p:nvPr/>
        </p:nvSpPr>
        <p:spPr>
          <a:xfrm>
            <a:off x="5642001" y="4643547"/>
            <a:ext cx="3350790" cy="276999"/>
          </a:xfrm>
          <a:prstGeom prst="rect">
            <a:avLst/>
          </a:prstGeom>
          <a:noFill/>
        </p:spPr>
        <p:txBody>
          <a:bodyPr wrap="square" rtlCol="0">
            <a:spAutoFit/>
          </a:bodyPr>
          <a:lstStyle/>
          <a:p>
            <a:pPr algn="ctr"/>
            <a:r>
              <a:rPr lang="en-US" sz="1200" b="1" dirty="0" err="1">
                <a:latin typeface="Microsoft YaHei UI" panose="020B0503020204020204" pitchFamily="34" charset="-122"/>
                <a:ea typeface="Microsoft YaHei UI" panose="020B0503020204020204" pitchFamily="34" charset="-122"/>
              </a:rPr>
              <a:t>u_pred</a:t>
            </a:r>
            <a:r>
              <a:rPr lang="en-US" sz="1200" b="1" dirty="0">
                <a:latin typeface="Microsoft YaHei UI" panose="020B0503020204020204" pitchFamily="34" charset="-122"/>
                <a:ea typeface="Microsoft YaHei UI" panose="020B0503020204020204" pitchFamily="34" charset="-122"/>
              </a:rPr>
              <a:t> (GPU 1) – </a:t>
            </a:r>
            <a:r>
              <a:rPr lang="en-US" sz="1200" b="1" dirty="0" err="1">
                <a:latin typeface="Microsoft YaHei UI" panose="020B0503020204020204" pitchFamily="34" charset="-122"/>
                <a:ea typeface="Microsoft YaHei UI" panose="020B0503020204020204" pitchFamily="34" charset="-122"/>
              </a:rPr>
              <a:t>u_pred</a:t>
            </a:r>
            <a:r>
              <a:rPr lang="en-US" sz="1200" b="1" dirty="0">
                <a:latin typeface="Microsoft YaHei UI" panose="020B0503020204020204" pitchFamily="34" charset="-122"/>
                <a:ea typeface="Microsoft YaHei UI" panose="020B0503020204020204" pitchFamily="34" charset="-122"/>
              </a:rPr>
              <a:t> (GPU 2)</a:t>
            </a:r>
          </a:p>
        </p:txBody>
      </p:sp>
    </p:spTree>
    <p:extLst>
      <p:ext uri="{BB962C8B-B14F-4D97-AF65-F5344CB8AC3E}">
        <p14:creationId xmlns:p14="http://schemas.microsoft.com/office/powerpoint/2010/main" val="1689187041"/>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FF"/>
              </a:buClr>
            </a:pPr>
            <a:r>
              <a:rPr lang="en-US" sz="2400" b="1" dirty="0">
                <a:solidFill>
                  <a:srgbClr val="C00000"/>
                </a:solidFill>
                <a:latin typeface="Microsoft YaHei UI" panose="020B0503020204020204" pitchFamily="34" charset="-122"/>
                <a:ea typeface="Microsoft YaHei UI" panose="020B0503020204020204" pitchFamily="34" charset="-122"/>
              </a:rPr>
              <a:t>Example 4: PINNs </a:t>
            </a:r>
            <a:r>
              <a:rPr lang="en-US" sz="1600" b="1" dirty="0">
                <a:solidFill>
                  <a:srgbClr val="C00000"/>
                </a:solidFill>
                <a:latin typeface="Microsoft YaHei UI" panose="020B0503020204020204" pitchFamily="34" charset="-122"/>
                <a:ea typeface="Microsoft YaHei UI" panose="020B0503020204020204" pitchFamily="34" charset="-122"/>
              </a:rPr>
              <a:t>(Ensemble training)</a:t>
            </a:r>
          </a:p>
        </p:txBody>
      </p:sp>
      <p:grpSp>
        <p:nvGrpSpPr>
          <p:cNvPr id="4" name="组合 3"/>
          <p:cNvGrpSpPr/>
          <p:nvPr/>
        </p:nvGrpSpPr>
        <p:grpSpPr>
          <a:xfrm>
            <a:off x="5865380" y="978462"/>
            <a:ext cx="2788360" cy="1681018"/>
            <a:chOff x="5338907" y="958391"/>
            <a:chExt cx="2788360" cy="1681018"/>
          </a:xfrm>
        </p:grpSpPr>
        <p:grpSp>
          <p:nvGrpSpPr>
            <p:cNvPr id="5" name="组合 4"/>
            <p:cNvGrpSpPr/>
            <p:nvPr/>
          </p:nvGrpSpPr>
          <p:grpSpPr>
            <a:xfrm>
              <a:off x="5338907" y="958391"/>
              <a:ext cx="1293092" cy="1681018"/>
              <a:chOff x="1930399" y="1921164"/>
              <a:chExt cx="1293092" cy="1681018"/>
            </a:xfrm>
          </p:grpSpPr>
          <p:sp>
            <p:nvSpPr>
              <p:cNvPr id="18" name="圆角矩形 17"/>
              <p:cNvSpPr/>
              <p:nvPr/>
            </p:nvSpPr>
            <p:spPr>
              <a:xfrm>
                <a:off x="1930399" y="1921164"/>
                <a:ext cx="1293092" cy="1681018"/>
              </a:xfrm>
              <a:prstGeom prst="roundRect">
                <a:avLst/>
              </a:prstGeom>
              <a:solidFill>
                <a:schemeClr val="accent5">
                  <a:lumMod val="20000"/>
                  <a:lumOff val="80000"/>
                </a:schemeClr>
              </a:solidFill>
              <a:ln w="15875">
                <a:solidFill>
                  <a:schemeClr val="accent5">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圆角矩形 18"/>
              <p:cNvSpPr/>
              <p:nvPr/>
            </p:nvSpPr>
            <p:spPr>
              <a:xfrm>
                <a:off x="2262033" y="2196666"/>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圆角矩形 19"/>
              <p:cNvSpPr/>
              <p:nvPr/>
            </p:nvSpPr>
            <p:spPr>
              <a:xfrm>
                <a:off x="1965783" y="2595418"/>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圆角矩形 20"/>
              <p:cNvSpPr/>
              <p:nvPr/>
            </p:nvSpPr>
            <p:spPr>
              <a:xfrm>
                <a:off x="2599911" y="2602345"/>
                <a:ext cx="577849" cy="152400"/>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圆角矩形 21"/>
              <p:cNvSpPr/>
              <p:nvPr/>
            </p:nvSpPr>
            <p:spPr>
              <a:xfrm>
                <a:off x="2256254" y="2954047"/>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22"/>
              <p:cNvSpPr txBox="1"/>
              <p:nvPr/>
            </p:nvSpPr>
            <p:spPr>
              <a:xfrm>
                <a:off x="2101272" y="3224547"/>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1</a:t>
                </a:r>
              </a:p>
            </p:txBody>
          </p:sp>
          <p:cxnSp>
            <p:nvCxnSpPr>
              <p:cNvPr id="24" name="直接箭头连接符 23"/>
              <p:cNvCxnSpPr>
                <a:stCxn id="22" idx="0"/>
              </p:cNvCxnSpPr>
              <p:nvPr/>
            </p:nvCxnSpPr>
            <p:spPr>
              <a:xfrm flipH="1" flipV="1">
                <a:off x="2224228" y="2761673"/>
                <a:ext cx="320951" cy="19237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stCxn id="22" idx="0"/>
                <a:endCxn id="21" idx="2"/>
              </p:cNvCxnSpPr>
              <p:nvPr/>
            </p:nvCxnSpPr>
            <p:spPr>
              <a:xfrm flipV="1">
                <a:off x="2545179" y="2754745"/>
                <a:ext cx="343657" cy="19930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20" idx="0"/>
                <a:endCxn id="19" idx="2"/>
              </p:cNvCxnSpPr>
              <p:nvPr/>
            </p:nvCxnSpPr>
            <p:spPr>
              <a:xfrm flipV="1">
                <a:off x="2254708" y="2362921"/>
                <a:ext cx="296250" cy="23249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a:stCxn id="21" idx="0"/>
                <a:endCxn id="19" idx="2"/>
              </p:cNvCxnSpPr>
              <p:nvPr/>
            </p:nvCxnSpPr>
            <p:spPr>
              <a:xfrm flipH="1" flipV="1">
                <a:off x="2550958" y="2362921"/>
                <a:ext cx="337878" cy="23942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6834175" y="958391"/>
              <a:ext cx="1293092" cy="1681018"/>
              <a:chOff x="1930399" y="1921164"/>
              <a:chExt cx="1293092" cy="1681018"/>
            </a:xfrm>
          </p:grpSpPr>
          <p:sp>
            <p:nvSpPr>
              <p:cNvPr id="7" name="圆角矩形 6"/>
              <p:cNvSpPr/>
              <p:nvPr/>
            </p:nvSpPr>
            <p:spPr>
              <a:xfrm>
                <a:off x="1930399" y="1921164"/>
                <a:ext cx="1293092" cy="1681018"/>
              </a:xfrm>
              <a:prstGeom prst="roundRect">
                <a:avLst/>
              </a:prstGeom>
              <a:solidFill>
                <a:schemeClr val="accent5">
                  <a:lumMod val="20000"/>
                  <a:lumOff val="80000"/>
                </a:schemeClr>
              </a:solidFill>
              <a:ln w="15875">
                <a:solidFill>
                  <a:schemeClr val="accent5">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圆角矩形 8"/>
              <p:cNvSpPr/>
              <p:nvPr/>
            </p:nvSpPr>
            <p:spPr>
              <a:xfrm>
                <a:off x="2262033" y="2196666"/>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圆角矩形 9"/>
              <p:cNvSpPr/>
              <p:nvPr/>
            </p:nvSpPr>
            <p:spPr>
              <a:xfrm>
                <a:off x="1965783" y="2595418"/>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圆角矩形 10"/>
              <p:cNvSpPr/>
              <p:nvPr/>
            </p:nvSpPr>
            <p:spPr>
              <a:xfrm>
                <a:off x="2599911" y="2602345"/>
                <a:ext cx="577849" cy="152400"/>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圆角矩形 11"/>
              <p:cNvSpPr/>
              <p:nvPr/>
            </p:nvSpPr>
            <p:spPr>
              <a:xfrm>
                <a:off x="2256254" y="2954047"/>
                <a:ext cx="577849" cy="166255"/>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p:cNvSpPr txBox="1"/>
              <p:nvPr/>
            </p:nvSpPr>
            <p:spPr>
              <a:xfrm>
                <a:off x="2128287" y="3223181"/>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2</a:t>
                </a:r>
              </a:p>
            </p:txBody>
          </p:sp>
          <p:cxnSp>
            <p:nvCxnSpPr>
              <p:cNvPr id="14" name="直接箭头连接符 13"/>
              <p:cNvCxnSpPr>
                <a:stCxn id="12" idx="0"/>
              </p:cNvCxnSpPr>
              <p:nvPr/>
            </p:nvCxnSpPr>
            <p:spPr>
              <a:xfrm flipH="1" flipV="1">
                <a:off x="2224228" y="2761673"/>
                <a:ext cx="320951" cy="19237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12" idx="0"/>
                <a:endCxn id="11" idx="2"/>
              </p:cNvCxnSpPr>
              <p:nvPr/>
            </p:nvCxnSpPr>
            <p:spPr>
              <a:xfrm flipV="1">
                <a:off x="2545179" y="2754745"/>
                <a:ext cx="343657" cy="199302"/>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0" idx="0"/>
                <a:endCxn id="9" idx="2"/>
              </p:cNvCxnSpPr>
              <p:nvPr/>
            </p:nvCxnSpPr>
            <p:spPr>
              <a:xfrm flipV="1">
                <a:off x="2254708" y="2362921"/>
                <a:ext cx="296250" cy="232497"/>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1" idx="0"/>
                <a:endCxn id="9" idx="2"/>
              </p:cNvCxnSpPr>
              <p:nvPr/>
            </p:nvCxnSpPr>
            <p:spPr>
              <a:xfrm flipH="1" flipV="1">
                <a:off x="2550958" y="2362921"/>
                <a:ext cx="337878" cy="239424"/>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aphicFrame>
        <p:nvGraphicFramePr>
          <p:cNvPr id="28" name="对象 27"/>
          <p:cNvGraphicFramePr>
            <a:graphicFrameLocks noChangeAspect="1"/>
          </p:cNvGraphicFramePr>
          <p:nvPr/>
        </p:nvGraphicFramePr>
        <p:xfrm>
          <a:off x="6446480" y="2786224"/>
          <a:ext cx="1817872" cy="277009"/>
        </p:xfrm>
        <a:graphic>
          <a:graphicData uri="http://schemas.openxmlformats.org/presentationml/2006/ole">
            <mc:AlternateContent xmlns:mc="http://schemas.openxmlformats.org/markup-compatibility/2006">
              <mc:Choice xmlns:v="urn:schemas-microsoft-com:vml" Requires="v">
                <p:oleObj name="Equation" r:id="rId2" imgW="1333440" imgH="203040" progId="Equation.DSMT4">
                  <p:embed/>
                </p:oleObj>
              </mc:Choice>
              <mc:Fallback>
                <p:oleObj name="Equation" r:id="rId2" imgW="1333440" imgH="203040" progId="Equation.DSMT4">
                  <p:embed/>
                  <p:pic>
                    <p:nvPicPr>
                      <p:cNvPr id="28" name="对象 27"/>
                      <p:cNvPicPr/>
                      <p:nvPr/>
                    </p:nvPicPr>
                    <p:blipFill>
                      <a:blip r:embed="rId3"/>
                      <a:stretch>
                        <a:fillRect/>
                      </a:stretch>
                    </p:blipFill>
                    <p:spPr>
                      <a:xfrm>
                        <a:off x="6446480" y="2786224"/>
                        <a:ext cx="1817872" cy="277009"/>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2214860032"/>
              </p:ext>
            </p:extLst>
          </p:nvPr>
        </p:nvGraphicFramePr>
        <p:xfrm>
          <a:off x="1849438" y="977900"/>
          <a:ext cx="2279650" cy="415925"/>
        </p:xfrm>
        <a:graphic>
          <a:graphicData uri="http://schemas.openxmlformats.org/presentationml/2006/ole">
            <mc:AlternateContent xmlns:mc="http://schemas.openxmlformats.org/markup-compatibility/2006">
              <mc:Choice xmlns:v="urn:schemas-microsoft-com:vml" Requires="v">
                <p:oleObj name="Equation" r:id="rId4" imgW="1257120" imgH="228600" progId="Equation.DSMT4">
                  <p:embed/>
                </p:oleObj>
              </mc:Choice>
              <mc:Fallback>
                <p:oleObj name="Equation" r:id="rId4" imgW="1257120" imgH="228600" progId="Equation.DSMT4">
                  <p:embed/>
                  <p:pic>
                    <p:nvPicPr>
                      <p:cNvPr id="3" name="对象 2"/>
                      <p:cNvPicPr/>
                      <p:nvPr/>
                    </p:nvPicPr>
                    <p:blipFill>
                      <a:blip r:embed="rId5"/>
                      <a:stretch>
                        <a:fillRect/>
                      </a:stretch>
                    </p:blipFill>
                    <p:spPr>
                      <a:xfrm>
                        <a:off x="1849438" y="977900"/>
                        <a:ext cx="2279650" cy="415925"/>
                      </a:xfrm>
                      <a:prstGeom prst="rect">
                        <a:avLst/>
                      </a:prstGeom>
                    </p:spPr>
                  </p:pic>
                </p:oleObj>
              </mc:Fallback>
            </mc:AlternateContent>
          </a:graphicData>
        </a:graphic>
      </p:graphicFrame>
      <p:grpSp>
        <p:nvGrpSpPr>
          <p:cNvPr id="29" name="组合 28"/>
          <p:cNvGrpSpPr/>
          <p:nvPr/>
        </p:nvGrpSpPr>
        <p:grpSpPr>
          <a:xfrm>
            <a:off x="1416262" y="1603375"/>
            <a:ext cx="2843001" cy="765129"/>
            <a:chOff x="649416" y="2058946"/>
            <a:chExt cx="2843001" cy="765129"/>
          </a:xfrm>
        </p:grpSpPr>
        <p:sp>
          <p:nvSpPr>
            <p:cNvPr id="30" name="文本框 29"/>
            <p:cNvSpPr txBox="1"/>
            <p:nvPr/>
          </p:nvSpPr>
          <p:spPr>
            <a:xfrm>
              <a:off x="649416" y="2075742"/>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1</a:t>
              </a:r>
            </a:p>
          </p:txBody>
        </p:sp>
        <p:graphicFrame>
          <p:nvGraphicFramePr>
            <p:cNvPr id="31" name="对象 30"/>
            <p:cNvGraphicFramePr>
              <a:graphicFrameLocks noChangeAspect="1"/>
            </p:cNvGraphicFramePr>
            <p:nvPr>
              <p:extLst>
                <p:ext uri="{D42A27DB-BD31-4B8C-83A1-F6EECF244321}">
                  <p14:modId xmlns:p14="http://schemas.microsoft.com/office/powerpoint/2010/main" val="1585307712"/>
                </p:ext>
              </p:extLst>
            </p:nvPr>
          </p:nvGraphicFramePr>
          <p:xfrm>
            <a:off x="1884279" y="2058946"/>
            <a:ext cx="1565275" cy="406400"/>
          </p:xfrm>
          <a:graphic>
            <a:graphicData uri="http://schemas.openxmlformats.org/presentationml/2006/ole">
              <mc:AlternateContent xmlns:mc="http://schemas.openxmlformats.org/markup-compatibility/2006">
                <mc:Choice xmlns:v="urn:schemas-microsoft-com:vml" Requires="v">
                  <p:oleObj name="Equation" r:id="rId6" imgW="977760" imgH="253800" progId="Equation.DSMT4">
                    <p:embed/>
                  </p:oleObj>
                </mc:Choice>
                <mc:Fallback>
                  <p:oleObj name="Equation" r:id="rId6" imgW="977760" imgH="253800" progId="Equation.DSMT4">
                    <p:embed/>
                    <p:pic>
                      <p:nvPicPr>
                        <p:cNvPr id="31" name="对象 30"/>
                        <p:cNvPicPr/>
                        <p:nvPr/>
                      </p:nvPicPr>
                      <p:blipFill>
                        <a:blip r:embed="rId7"/>
                        <a:stretch>
                          <a:fillRect/>
                        </a:stretch>
                      </p:blipFill>
                      <p:spPr>
                        <a:xfrm>
                          <a:off x="1884279" y="2058946"/>
                          <a:ext cx="1565275" cy="406400"/>
                        </a:xfrm>
                        <a:prstGeom prst="rect">
                          <a:avLst/>
                        </a:prstGeom>
                      </p:spPr>
                    </p:pic>
                  </p:oleObj>
                </mc:Fallback>
              </mc:AlternateContent>
            </a:graphicData>
          </a:graphic>
        </p:graphicFrame>
        <p:sp>
          <p:nvSpPr>
            <p:cNvPr id="32" name="文本框 31"/>
            <p:cNvSpPr txBox="1"/>
            <p:nvPr/>
          </p:nvSpPr>
          <p:spPr>
            <a:xfrm>
              <a:off x="649416" y="2454743"/>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2</a:t>
              </a:r>
            </a:p>
          </p:txBody>
        </p:sp>
        <p:graphicFrame>
          <p:nvGraphicFramePr>
            <p:cNvPr id="33" name="对象 32"/>
            <p:cNvGraphicFramePr>
              <a:graphicFrameLocks noChangeAspect="1"/>
            </p:cNvGraphicFramePr>
            <p:nvPr>
              <p:extLst>
                <p:ext uri="{D42A27DB-BD31-4B8C-83A1-F6EECF244321}">
                  <p14:modId xmlns:p14="http://schemas.microsoft.com/office/powerpoint/2010/main" val="2661651329"/>
                </p:ext>
              </p:extLst>
            </p:nvPr>
          </p:nvGraphicFramePr>
          <p:xfrm>
            <a:off x="1681079" y="2416134"/>
            <a:ext cx="1811338" cy="406400"/>
          </p:xfrm>
          <a:graphic>
            <a:graphicData uri="http://schemas.openxmlformats.org/presentationml/2006/ole">
              <mc:AlternateContent xmlns:mc="http://schemas.openxmlformats.org/markup-compatibility/2006">
                <mc:Choice xmlns:v="urn:schemas-microsoft-com:vml" Requires="v">
                  <p:oleObj name="Equation" r:id="rId8" imgW="1130040" imgH="253800" progId="Equation.DSMT4">
                    <p:embed/>
                  </p:oleObj>
                </mc:Choice>
                <mc:Fallback>
                  <p:oleObj name="Equation" r:id="rId8" imgW="1130040" imgH="253800" progId="Equation.DSMT4">
                    <p:embed/>
                    <p:pic>
                      <p:nvPicPr>
                        <p:cNvPr id="33" name="对象 32"/>
                        <p:cNvPicPr/>
                        <p:nvPr/>
                      </p:nvPicPr>
                      <p:blipFill>
                        <a:blip r:embed="rId9"/>
                        <a:stretch>
                          <a:fillRect/>
                        </a:stretch>
                      </p:blipFill>
                      <p:spPr>
                        <a:xfrm>
                          <a:off x="1681079" y="2416134"/>
                          <a:ext cx="1811338" cy="406400"/>
                        </a:xfrm>
                        <a:prstGeom prst="rect">
                          <a:avLst/>
                        </a:prstGeom>
                      </p:spPr>
                    </p:pic>
                  </p:oleObj>
                </mc:Fallback>
              </mc:AlternateContent>
            </a:graphicData>
          </a:graphic>
        </p:graphicFrame>
      </p:grpSp>
      <p:grpSp>
        <p:nvGrpSpPr>
          <p:cNvPr id="34" name="组合 33"/>
          <p:cNvGrpSpPr/>
          <p:nvPr/>
        </p:nvGrpSpPr>
        <p:grpSpPr>
          <a:xfrm>
            <a:off x="317808" y="4291701"/>
            <a:ext cx="3139767" cy="748333"/>
            <a:chOff x="649416" y="2075742"/>
            <a:chExt cx="3139767" cy="748333"/>
          </a:xfrm>
        </p:grpSpPr>
        <p:sp>
          <p:nvSpPr>
            <p:cNvPr id="35" name="文本框 34"/>
            <p:cNvSpPr txBox="1"/>
            <p:nvPr/>
          </p:nvSpPr>
          <p:spPr>
            <a:xfrm>
              <a:off x="649416" y="2075742"/>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1</a:t>
              </a:r>
            </a:p>
          </p:txBody>
        </p:sp>
        <p:graphicFrame>
          <p:nvGraphicFramePr>
            <p:cNvPr id="36" name="对象 35"/>
            <p:cNvGraphicFramePr>
              <a:graphicFrameLocks noChangeAspect="1"/>
            </p:cNvGraphicFramePr>
            <p:nvPr/>
          </p:nvGraphicFramePr>
          <p:xfrm>
            <a:off x="1552396" y="2098483"/>
            <a:ext cx="2236787" cy="323850"/>
          </p:xfrm>
          <a:graphic>
            <a:graphicData uri="http://schemas.openxmlformats.org/presentationml/2006/ole">
              <mc:AlternateContent xmlns:mc="http://schemas.openxmlformats.org/markup-compatibility/2006">
                <mc:Choice xmlns:v="urn:schemas-microsoft-com:vml" Requires="v">
                  <p:oleObj name="Equation" r:id="rId10" imgW="1396800" imgH="203040" progId="Equation.DSMT4">
                    <p:embed/>
                  </p:oleObj>
                </mc:Choice>
                <mc:Fallback>
                  <p:oleObj name="Equation" r:id="rId10" imgW="1396800" imgH="203040" progId="Equation.DSMT4">
                    <p:embed/>
                    <p:pic>
                      <p:nvPicPr>
                        <p:cNvPr id="36" name="对象 35"/>
                        <p:cNvPicPr/>
                        <p:nvPr/>
                      </p:nvPicPr>
                      <p:blipFill>
                        <a:blip r:embed="rId11"/>
                        <a:stretch>
                          <a:fillRect/>
                        </a:stretch>
                      </p:blipFill>
                      <p:spPr>
                        <a:xfrm>
                          <a:off x="1552396" y="2098483"/>
                          <a:ext cx="2236787" cy="323850"/>
                        </a:xfrm>
                        <a:prstGeom prst="rect">
                          <a:avLst/>
                        </a:prstGeom>
                      </p:spPr>
                    </p:pic>
                  </p:oleObj>
                </mc:Fallback>
              </mc:AlternateContent>
            </a:graphicData>
          </a:graphic>
        </p:graphicFrame>
        <p:sp>
          <p:nvSpPr>
            <p:cNvPr id="37" name="文本框 36"/>
            <p:cNvSpPr txBox="1"/>
            <p:nvPr/>
          </p:nvSpPr>
          <p:spPr>
            <a:xfrm>
              <a:off x="649416" y="2454743"/>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2</a:t>
              </a:r>
            </a:p>
          </p:txBody>
        </p:sp>
        <p:graphicFrame>
          <p:nvGraphicFramePr>
            <p:cNvPr id="38" name="对象 37"/>
            <p:cNvGraphicFramePr>
              <a:graphicFrameLocks noChangeAspect="1"/>
            </p:cNvGraphicFramePr>
            <p:nvPr/>
          </p:nvGraphicFramePr>
          <p:xfrm>
            <a:off x="1549221" y="2475684"/>
            <a:ext cx="2239962" cy="323850"/>
          </p:xfrm>
          <a:graphic>
            <a:graphicData uri="http://schemas.openxmlformats.org/presentationml/2006/ole">
              <mc:AlternateContent xmlns:mc="http://schemas.openxmlformats.org/markup-compatibility/2006">
                <mc:Choice xmlns:v="urn:schemas-microsoft-com:vml" Requires="v">
                  <p:oleObj name="Equation" r:id="rId12" imgW="1396800" imgH="203040" progId="Equation.DSMT4">
                    <p:embed/>
                  </p:oleObj>
                </mc:Choice>
                <mc:Fallback>
                  <p:oleObj name="Equation" r:id="rId12" imgW="1396800" imgH="203040" progId="Equation.DSMT4">
                    <p:embed/>
                    <p:pic>
                      <p:nvPicPr>
                        <p:cNvPr id="38" name="对象 37"/>
                        <p:cNvPicPr/>
                        <p:nvPr/>
                      </p:nvPicPr>
                      <p:blipFill>
                        <a:blip r:embed="rId13"/>
                        <a:stretch>
                          <a:fillRect/>
                        </a:stretch>
                      </p:blipFill>
                      <p:spPr>
                        <a:xfrm>
                          <a:off x="1549221" y="2475684"/>
                          <a:ext cx="2239962" cy="323850"/>
                        </a:xfrm>
                        <a:prstGeom prst="rect">
                          <a:avLst/>
                        </a:prstGeom>
                      </p:spPr>
                    </p:pic>
                  </p:oleObj>
                </mc:Fallback>
              </mc:AlternateContent>
            </a:graphicData>
          </a:graphic>
        </p:graphicFrame>
      </p:grpSp>
      <p:pic>
        <p:nvPicPr>
          <p:cNvPr id="39" name="图片 38"/>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054111" y="5781964"/>
            <a:ext cx="1076036" cy="1076036"/>
          </a:xfrm>
          <a:prstGeom prst="rect">
            <a:avLst/>
          </a:prstGeom>
        </p:spPr>
      </p:pic>
      <p:grpSp>
        <p:nvGrpSpPr>
          <p:cNvPr id="43" name="组合 42"/>
          <p:cNvGrpSpPr/>
          <p:nvPr/>
        </p:nvGrpSpPr>
        <p:grpSpPr>
          <a:xfrm>
            <a:off x="1428423" y="2465388"/>
            <a:ext cx="2637165" cy="764886"/>
            <a:chOff x="649416" y="2059189"/>
            <a:chExt cx="2637165" cy="764886"/>
          </a:xfrm>
        </p:grpSpPr>
        <p:sp>
          <p:nvSpPr>
            <p:cNvPr id="44" name="文本框 43"/>
            <p:cNvSpPr txBox="1"/>
            <p:nvPr/>
          </p:nvSpPr>
          <p:spPr>
            <a:xfrm>
              <a:off x="649416" y="2075742"/>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1</a:t>
              </a:r>
            </a:p>
          </p:txBody>
        </p:sp>
        <p:graphicFrame>
          <p:nvGraphicFramePr>
            <p:cNvPr id="45" name="对象 44"/>
            <p:cNvGraphicFramePr>
              <a:graphicFrameLocks noChangeAspect="1"/>
            </p:cNvGraphicFramePr>
            <p:nvPr>
              <p:extLst>
                <p:ext uri="{D42A27DB-BD31-4B8C-83A1-F6EECF244321}">
                  <p14:modId xmlns:p14="http://schemas.microsoft.com/office/powerpoint/2010/main" val="3997580265"/>
                </p:ext>
              </p:extLst>
            </p:nvPr>
          </p:nvGraphicFramePr>
          <p:xfrm>
            <a:off x="2046743" y="2059189"/>
            <a:ext cx="1239838" cy="406400"/>
          </p:xfrm>
          <a:graphic>
            <a:graphicData uri="http://schemas.openxmlformats.org/presentationml/2006/ole">
              <mc:AlternateContent xmlns:mc="http://schemas.openxmlformats.org/markup-compatibility/2006">
                <mc:Choice xmlns:v="urn:schemas-microsoft-com:vml" Requires="v">
                  <p:oleObj name="Equation" r:id="rId15" imgW="774360" imgH="253800" progId="Equation.DSMT4">
                    <p:embed/>
                  </p:oleObj>
                </mc:Choice>
                <mc:Fallback>
                  <p:oleObj name="Equation" r:id="rId15" imgW="774360" imgH="253800" progId="Equation.DSMT4">
                    <p:embed/>
                    <p:pic>
                      <p:nvPicPr>
                        <p:cNvPr id="31" name="对象 30"/>
                        <p:cNvPicPr/>
                        <p:nvPr/>
                      </p:nvPicPr>
                      <p:blipFill>
                        <a:blip r:embed="rId16"/>
                        <a:stretch>
                          <a:fillRect/>
                        </a:stretch>
                      </p:blipFill>
                      <p:spPr>
                        <a:xfrm>
                          <a:off x="2046743" y="2059189"/>
                          <a:ext cx="1239838" cy="406400"/>
                        </a:xfrm>
                        <a:prstGeom prst="rect">
                          <a:avLst/>
                        </a:prstGeom>
                      </p:spPr>
                    </p:pic>
                  </p:oleObj>
                </mc:Fallback>
              </mc:AlternateContent>
            </a:graphicData>
          </a:graphic>
        </p:graphicFrame>
        <p:sp>
          <p:nvSpPr>
            <p:cNvPr id="46" name="文本框 45"/>
            <p:cNvSpPr txBox="1"/>
            <p:nvPr/>
          </p:nvSpPr>
          <p:spPr>
            <a:xfrm>
              <a:off x="649416" y="2454743"/>
              <a:ext cx="951345" cy="369332"/>
            </a:xfrm>
            <a:prstGeom prst="rect">
              <a:avLst/>
            </a:prstGeom>
            <a:noFill/>
          </p:spPr>
          <p:txBody>
            <a:bodyPr wrap="square" rtlCol="0">
              <a:spAutoFit/>
            </a:bodyPr>
            <a:lstStyle/>
            <a:p>
              <a:pPr algn="ctr"/>
              <a:r>
                <a:rPr lang="en-US" dirty="0">
                  <a:latin typeface="Microsoft YaHei UI" panose="020B0503020204020204" pitchFamily="34" charset="-122"/>
                  <a:ea typeface="Microsoft YaHei UI" panose="020B0503020204020204" pitchFamily="34" charset="-122"/>
                </a:rPr>
                <a:t>GPU 2</a:t>
              </a:r>
            </a:p>
          </p:txBody>
        </p:sp>
        <p:graphicFrame>
          <p:nvGraphicFramePr>
            <p:cNvPr id="47" name="对象 46"/>
            <p:cNvGraphicFramePr>
              <a:graphicFrameLocks noChangeAspect="1"/>
            </p:cNvGraphicFramePr>
            <p:nvPr>
              <p:extLst>
                <p:ext uri="{D42A27DB-BD31-4B8C-83A1-F6EECF244321}">
                  <p14:modId xmlns:p14="http://schemas.microsoft.com/office/powerpoint/2010/main" val="2609629236"/>
                </p:ext>
              </p:extLst>
            </p:nvPr>
          </p:nvGraphicFramePr>
          <p:xfrm>
            <a:off x="1905456" y="2416376"/>
            <a:ext cx="1363662" cy="406400"/>
          </p:xfrm>
          <a:graphic>
            <a:graphicData uri="http://schemas.openxmlformats.org/presentationml/2006/ole">
              <mc:AlternateContent xmlns:mc="http://schemas.openxmlformats.org/markup-compatibility/2006">
                <mc:Choice xmlns:v="urn:schemas-microsoft-com:vml" Requires="v">
                  <p:oleObj name="Equation" r:id="rId17" imgW="850680" imgH="253800" progId="Equation.DSMT4">
                    <p:embed/>
                  </p:oleObj>
                </mc:Choice>
                <mc:Fallback>
                  <p:oleObj name="Equation" r:id="rId17" imgW="850680" imgH="253800" progId="Equation.DSMT4">
                    <p:embed/>
                    <p:pic>
                      <p:nvPicPr>
                        <p:cNvPr id="33" name="对象 32"/>
                        <p:cNvPicPr/>
                        <p:nvPr/>
                      </p:nvPicPr>
                      <p:blipFill>
                        <a:blip r:embed="rId18"/>
                        <a:stretch>
                          <a:fillRect/>
                        </a:stretch>
                      </p:blipFill>
                      <p:spPr>
                        <a:xfrm>
                          <a:off x="1905456" y="2416376"/>
                          <a:ext cx="1363662" cy="406400"/>
                        </a:xfrm>
                        <a:prstGeom prst="rect">
                          <a:avLst/>
                        </a:prstGeom>
                      </p:spPr>
                    </p:pic>
                  </p:oleObj>
                </mc:Fallback>
              </mc:AlternateContent>
            </a:graphicData>
          </a:graphic>
        </p:graphicFrame>
      </p:grpSp>
      <p:pic>
        <p:nvPicPr>
          <p:cNvPr id="48" name="图片 47"/>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3731325" y="3342377"/>
            <a:ext cx="4000500" cy="3200400"/>
          </a:xfrm>
          <a:prstGeom prst="rect">
            <a:avLst/>
          </a:prstGeom>
        </p:spPr>
      </p:pic>
    </p:spTree>
    <p:extLst>
      <p:ext uri="{BB962C8B-B14F-4D97-AF65-F5344CB8AC3E}">
        <p14:creationId xmlns:p14="http://schemas.microsoft.com/office/powerpoint/2010/main" val="4170988498"/>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FF"/>
              </a:buClr>
            </a:pPr>
            <a:r>
              <a:rPr lang="en-US" sz="2400" b="1" dirty="0">
                <a:solidFill>
                  <a:srgbClr val="C00000"/>
                </a:solidFill>
                <a:latin typeface="Microsoft YaHei UI" panose="020B0503020204020204" pitchFamily="34" charset="-122"/>
                <a:ea typeface="Microsoft YaHei UI" panose="020B0503020204020204" pitchFamily="34" charset="-122"/>
              </a:rPr>
              <a:t>Scaling efficiency</a:t>
            </a:r>
          </a:p>
        </p:txBody>
      </p:sp>
      <p:pic>
        <p:nvPicPr>
          <p:cNvPr id="2" name="图片 1"/>
          <p:cNvPicPr>
            <a:picLocks noChangeAspect="1"/>
          </p:cNvPicPr>
          <p:nvPr/>
        </p:nvPicPr>
        <p:blipFill rotWithShape="1">
          <a:blip r:embed="rId2">
            <a:extLst>
              <a:ext uri="{28A0092B-C50C-407E-A947-70E740481C1C}">
                <a14:useLocalDpi xmlns:a14="http://schemas.microsoft.com/office/drawing/2010/main" val="0"/>
              </a:ext>
            </a:extLst>
          </a:blip>
          <a:srcRect t="3018"/>
          <a:stretch/>
        </p:blipFill>
        <p:spPr>
          <a:xfrm>
            <a:off x="516779" y="1015999"/>
            <a:ext cx="8110441" cy="4451928"/>
          </a:xfrm>
          <a:prstGeom prst="rect">
            <a:avLst/>
          </a:prstGeom>
        </p:spPr>
      </p:pic>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54111" y="5781964"/>
            <a:ext cx="1076036" cy="1076036"/>
          </a:xfrm>
          <a:prstGeom prst="rect">
            <a:avLst/>
          </a:prstGeom>
        </p:spPr>
      </p:pic>
    </p:spTree>
    <p:extLst>
      <p:ext uri="{BB962C8B-B14F-4D97-AF65-F5344CB8AC3E}">
        <p14:creationId xmlns:p14="http://schemas.microsoft.com/office/powerpoint/2010/main" val="2807270442"/>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圆角矩形 7"/>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0000FF"/>
              </a:buClr>
            </a:pPr>
            <a:r>
              <a:rPr lang="en-US" sz="2400" b="1" dirty="0">
                <a:solidFill>
                  <a:srgbClr val="C00000"/>
                </a:solidFill>
                <a:latin typeface="Microsoft YaHei UI" panose="020B0503020204020204" pitchFamily="34" charset="-122"/>
                <a:ea typeface="Microsoft YaHei UI" panose="020B0503020204020204" pitchFamily="34" charset="-122"/>
              </a:rPr>
              <a:t>Installation &amp; Code </a:t>
            </a:r>
          </a:p>
        </p:txBody>
      </p:sp>
      <p:sp>
        <p:nvSpPr>
          <p:cNvPr id="2" name="文本框 1"/>
          <p:cNvSpPr txBox="1"/>
          <p:nvPr/>
        </p:nvSpPr>
        <p:spPr>
          <a:xfrm>
            <a:off x="498764" y="1893455"/>
            <a:ext cx="5551054" cy="461665"/>
          </a:xfrm>
          <a:prstGeom prst="rect">
            <a:avLst/>
          </a:prstGeom>
          <a:noFill/>
        </p:spPr>
        <p:txBody>
          <a:bodyPr wrap="square" rtlCol="0">
            <a:spAutoFit/>
          </a:bodyPr>
          <a:lstStyle/>
          <a:p>
            <a:pPr marL="285750" indent="-285750">
              <a:buClr>
                <a:srgbClr val="0000CC"/>
              </a:buClr>
              <a:buFont typeface="Wingdings" panose="05000000000000000000" pitchFamily="2" charset="2"/>
              <a:buChar char="Ø"/>
            </a:pPr>
            <a:r>
              <a:rPr lang="en-US" sz="2400" dirty="0">
                <a:latin typeface="Microsoft YaHei UI" panose="020B0503020204020204" pitchFamily="34" charset="-122"/>
                <a:ea typeface="Microsoft YaHei UI" panose="020B0503020204020204" pitchFamily="34" charset="-122"/>
              </a:rPr>
              <a:t>Installation</a:t>
            </a:r>
          </a:p>
        </p:txBody>
      </p:sp>
      <p:sp>
        <p:nvSpPr>
          <p:cNvPr id="3" name="文本框 2"/>
          <p:cNvSpPr txBox="1"/>
          <p:nvPr/>
        </p:nvSpPr>
        <p:spPr>
          <a:xfrm>
            <a:off x="785091" y="2382828"/>
            <a:ext cx="5200072" cy="400110"/>
          </a:xfrm>
          <a:prstGeom prst="rect">
            <a:avLst/>
          </a:prstGeom>
          <a:noFill/>
        </p:spPr>
        <p:txBody>
          <a:bodyPr wrap="square" rtlCol="0">
            <a:spAutoFit/>
          </a:bodyPr>
          <a:lstStyle/>
          <a:p>
            <a:r>
              <a:rPr lang="en-US" sz="2000" dirty="0">
                <a:solidFill>
                  <a:srgbClr val="0000FF"/>
                </a:solidFill>
                <a:latin typeface="Microsoft YaHei UI" panose="020B0503020204020204" pitchFamily="34" charset="-122"/>
                <a:ea typeface="Microsoft YaHei UI" panose="020B0503020204020204" pitchFamily="34" charset="-122"/>
              </a:rPr>
              <a:t>https://github.com/horovod/horovod</a:t>
            </a:r>
          </a:p>
        </p:txBody>
      </p:sp>
      <p:sp>
        <p:nvSpPr>
          <p:cNvPr id="5" name="文本框 4"/>
          <p:cNvSpPr txBox="1"/>
          <p:nvPr/>
        </p:nvSpPr>
        <p:spPr>
          <a:xfrm>
            <a:off x="498764" y="3560619"/>
            <a:ext cx="5551054" cy="461665"/>
          </a:xfrm>
          <a:prstGeom prst="rect">
            <a:avLst/>
          </a:prstGeom>
          <a:noFill/>
        </p:spPr>
        <p:txBody>
          <a:bodyPr wrap="square" rtlCol="0">
            <a:spAutoFit/>
          </a:bodyPr>
          <a:lstStyle/>
          <a:p>
            <a:pPr marL="285750" indent="-285750">
              <a:buClr>
                <a:srgbClr val="0000CC"/>
              </a:buClr>
              <a:buFont typeface="Wingdings" panose="05000000000000000000" pitchFamily="2" charset="2"/>
              <a:buChar char="Ø"/>
            </a:pPr>
            <a:r>
              <a:rPr lang="en-US" sz="2400" dirty="0">
                <a:latin typeface="Microsoft YaHei UI" panose="020B0503020204020204" pitchFamily="34" charset="-122"/>
                <a:ea typeface="Microsoft YaHei UI" panose="020B0503020204020204" pitchFamily="34" charset="-122"/>
              </a:rPr>
              <a:t>Code download</a:t>
            </a:r>
          </a:p>
        </p:txBody>
      </p:sp>
      <p:sp>
        <p:nvSpPr>
          <p:cNvPr id="6" name="文本框 5"/>
          <p:cNvSpPr txBox="1"/>
          <p:nvPr/>
        </p:nvSpPr>
        <p:spPr>
          <a:xfrm>
            <a:off x="785091" y="4049992"/>
            <a:ext cx="7887854" cy="400110"/>
          </a:xfrm>
          <a:prstGeom prst="rect">
            <a:avLst/>
          </a:prstGeom>
          <a:noFill/>
        </p:spPr>
        <p:txBody>
          <a:bodyPr wrap="square" rtlCol="0">
            <a:spAutoFit/>
          </a:bodyPr>
          <a:lstStyle/>
          <a:p>
            <a:r>
              <a:rPr lang="en-US" sz="2000" dirty="0">
                <a:solidFill>
                  <a:srgbClr val="0000FF"/>
                </a:solidFill>
                <a:latin typeface="Microsoft YaHei UI" panose="020B0503020204020204" pitchFamily="34" charset="-122"/>
                <a:ea typeface="Microsoft YaHei UI" panose="020B0503020204020204" pitchFamily="34" charset="-122"/>
              </a:rPr>
              <a:t>https://github.com/XuhuiM/Distributed-training-Horovod.git</a:t>
            </a:r>
          </a:p>
        </p:txBody>
      </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54111" y="5781964"/>
            <a:ext cx="1076036" cy="1076036"/>
          </a:xfrm>
          <a:prstGeom prst="rect">
            <a:avLst/>
          </a:prstGeom>
        </p:spPr>
      </p:pic>
    </p:spTree>
    <p:extLst>
      <p:ext uri="{BB962C8B-B14F-4D97-AF65-F5344CB8AC3E}">
        <p14:creationId xmlns:p14="http://schemas.microsoft.com/office/powerpoint/2010/main" val="1567903519"/>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D414C2D-8A45-4ABD-8CDC-4E1AB5D68212}"/>
              </a:ext>
            </a:extLst>
          </p:cNvPr>
          <p:cNvSpPr>
            <a:spLocks noGrp="1"/>
          </p:cNvSpPr>
          <p:nvPr>
            <p:ph type="sldNum" sz="quarter" idx="12"/>
          </p:nvPr>
        </p:nvSpPr>
        <p:spPr/>
        <p:txBody>
          <a:bodyPr/>
          <a:lstStyle/>
          <a:p>
            <a:pPr algn="l" defTabSz="685800">
              <a:defRPr/>
            </a:pPr>
            <a:fld id="{5DEF7F31-0B8A-474A-B86C-91F381754329}" type="slidenum">
              <a:rPr lang="en-US" sz="1350">
                <a:solidFill>
                  <a:srgbClr val="FFFFFF"/>
                </a:solidFill>
                <a:latin typeface="Trebuchet MS"/>
              </a:rPr>
              <a:pPr algn="l" defTabSz="685800">
                <a:defRPr/>
              </a:pPr>
              <a:t>24</a:t>
            </a:fld>
            <a:endParaRPr lang="en-US" sz="1350" dirty="0">
              <a:solidFill>
                <a:srgbClr val="FFFFFF"/>
              </a:solidFill>
              <a:latin typeface="Trebuchet MS"/>
            </a:endParaRPr>
          </a:p>
        </p:txBody>
      </p:sp>
      <p:pic>
        <p:nvPicPr>
          <p:cNvPr id="4" name="Picture 3">
            <a:extLst>
              <a:ext uri="{FF2B5EF4-FFF2-40B4-BE49-F238E27FC236}">
                <a16:creationId xmlns:a16="http://schemas.microsoft.com/office/drawing/2014/main" id="{89ADBB72-DAAA-4E09-9EDD-F6EBE394CACA}"/>
              </a:ext>
            </a:extLst>
          </p:cNvPr>
          <p:cNvPicPr>
            <a:picLocks noChangeAspect="1"/>
          </p:cNvPicPr>
          <p:nvPr/>
        </p:nvPicPr>
        <p:blipFill rotWithShape="1">
          <a:blip r:embed="rId4"/>
          <a:srcRect l="25376" t="9301" r="26051" b="64503"/>
          <a:stretch/>
        </p:blipFill>
        <p:spPr>
          <a:xfrm>
            <a:off x="4845776" y="1955246"/>
            <a:ext cx="4210440" cy="1700213"/>
          </a:xfrm>
          <a:prstGeom prst="rect">
            <a:avLst/>
          </a:prstGeom>
        </p:spPr>
      </p:pic>
      <p:pic>
        <p:nvPicPr>
          <p:cNvPr id="6" name="Picture 5" descr="Diagram&#10;&#10;Description automatically generated">
            <a:extLst>
              <a:ext uri="{FF2B5EF4-FFF2-40B4-BE49-F238E27FC236}">
                <a16:creationId xmlns:a16="http://schemas.microsoft.com/office/drawing/2014/main" id="{85A89996-82FE-4103-BD05-ADCF3E7537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8097" y="1714585"/>
            <a:ext cx="4717679" cy="2638426"/>
          </a:xfrm>
          <a:prstGeom prst="rect">
            <a:avLst/>
          </a:prstGeom>
        </p:spPr>
      </p:pic>
      <p:pic>
        <p:nvPicPr>
          <p:cNvPr id="10" name="Picture 9" descr="\documentclass{article}&#10;\usepackage[a4paper, total={6in, 8in}]{geometry}&#10;\usepackage{amsmath}&#10;\usepackage{amssymb}&#10;\usepackage{xcolor}&#10;\usepackage{graphicx}&#10;&#10;\pagestyle{empty}&#10;\begin{document}&#10;&#10;&#10;\[ \mathcal{L}(\tilde{\Theta})=\frac{1}{N_{u}} \sum_{i=1}^{N_{u}}\left|u_{\text {target }}^{i}-u_{\tilde{\Theta}}\left(x_{i}^{u}\right)\right|^{2}+\frac{1}{N_{f}} \sum_{i=1}^{N_{f}}\left|\mathcal{F}_{\tilde{\Theta}}\left(x_{i}^{f}\right)\right|^{2}+\text { {\color{red}Interface Loss} } \]&#10;&#10;&#10;\end{document}&#10;" title="IguanaTex Bitmap Display">
            <a:extLst>
              <a:ext uri="{FF2B5EF4-FFF2-40B4-BE49-F238E27FC236}">
                <a16:creationId xmlns:a16="http://schemas.microsoft.com/office/drawing/2014/main" id="{66DB8E89-821E-4F01-9F61-ADFDDE43B964}"/>
              </a:ext>
            </a:extLst>
          </p:cNvPr>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1482285" y="4677256"/>
            <a:ext cx="6179429" cy="573714"/>
          </a:xfrm>
          <a:prstGeom prst="rect">
            <a:avLst/>
          </a:prstGeom>
        </p:spPr>
      </p:pic>
      <p:sp>
        <p:nvSpPr>
          <p:cNvPr id="2" name="圆角矩形 7">
            <a:extLst>
              <a:ext uri="{FF2B5EF4-FFF2-40B4-BE49-F238E27FC236}">
                <a16:creationId xmlns:a16="http://schemas.microsoft.com/office/drawing/2014/main" id="{5B7F6C37-B15C-02AA-C4BA-A6533F3F8CA8}"/>
              </a:ext>
            </a:extLst>
          </p:cNvPr>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lnSpc>
                <a:spcPct val="90000"/>
              </a:lnSpc>
              <a:defRPr/>
            </a:pPr>
            <a:r>
              <a:rPr lang="en-IN" altLang="zh-CN" sz="2400" b="1" dirty="0">
                <a:solidFill>
                  <a:srgbClr val="C00000"/>
                </a:solidFill>
                <a:latin typeface="Arial" panose="020B0604020202020204" pitchFamily="34" charset="0"/>
                <a:cs typeface="Arial" panose="020B0604020202020204" pitchFamily="34" charset="0"/>
              </a:rPr>
              <a:t>Nonoverlapping Domain Decomposition</a:t>
            </a:r>
          </a:p>
        </p:txBody>
      </p:sp>
    </p:spTree>
    <p:extLst>
      <p:ext uri="{BB962C8B-B14F-4D97-AF65-F5344CB8AC3E}">
        <p14:creationId xmlns:p14="http://schemas.microsoft.com/office/powerpoint/2010/main" val="351467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02DA246-5EBB-4F04-895B-9843A60AF2F7}"/>
              </a:ext>
            </a:extLst>
          </p:cNvPr>
          <p:cNvSpPr>
            <a:spLocks noGrp="1"/>
          </p:cNvSpPr>
          <p:nvPr>
            <p:ph type="sldNum" sz="quarter" idx="12"/>
          </p:nvPr>
        </p:nvSpPr>
        <p:spPr/>
        <p:txBody>
          <a:bodyPr/>
          <a:lstStyle/>
          <a:p>
            <a:pPr algn="l" defTabSz="685800">
              <a:defRPr/>
            </a:pPr>
            <a:fld id="{5DEF7F31-0B8A-474A-B86C-91F381754329}" type="slidenum">
              <a:rPr lang="en-US" sz="1350">
                <a:solidFill>
                  <a:srgbClr val="FFFFFF"/>
                </a:solidFill>
                <a:latin typeface="Trebuchet MS"/>
              </a:rPr>
              <a:pPr algn="l" defTabSz="685800">
                <a:defRPr/>
              </a:pPr>
              <a:t>25</a:t>
            </a:fld>
            <a:endParaRPr lang="en-US" sz="1350" dirty="0">
              <a:solidFill>
                <a:srgbClr val="FFFFFF"/>
              </a:solidFill>
              <a:latin typeface="Trebuchet MS"/>
            </a:endParaRPr>
          </a:p>
        </p:txBody>
      </p:sp>
      <p:pic>
        <p:nvPicPr>
          <p:cNvPr id="6" name="Picture 5" descr="\documentclass{article}&#10;\usepackage[a4paper, total={6in, 8in}]{geometry}&#10;\usepackage{amsmath}&#10;\usepackage{amssymb}&#10;\usepackage{xcolor}&#10;\usepackage{graphicx}&#10;&#10;\pagestyle{empty}&#10;\begin{document}&#10;&#10;&#10;\underline{cPINNs}: Interface conditions in the `` $q^{\text {th }}&quot;$ subdomain. \newline&#10;&#10;$\mathrm{MSE}_{\text {flux }}=\sum_{\forall q^{+}}\left(\frac{1}{N_{l_{q}}} \sum_{i=1}^{N_{l q}}\left|f_{q}\left(u\left(\mathbf{x}_{l_{q}}^{(i)}\right)\right) \cdot \mathbf{n}-f_{q^{+}}\left(u\left(\mathbf{x}_{l_{q}}^{(i)}\right) \cdot \mathbf{n}\right)\right|^{2}\right)$ \newline&#10;&#10;where $f$ is the flux and $q=1,2, \cdots, N_{s d}$.\newline&#10;&#10;$\operatorname{MSE}_{u_{\text {avg }}}=\sum_{\forall q^{+}}\left(\frac{1}{N_{l_{q}}} \sum_{i=1}^{N_{l_{q}}}\left|u_{\tilde{\Theta}_{q}}\left(\mathbf{x}_{l_{q}}^{(i)}\right)-\left\{\left\{u_{\tilde{\Theta}_{q}}\left(\mathbf{x}_{l_{q}}^{(i)}\right)\right\}\right\}\right|^{2}\right)$&#10;&#10;&#10;\end{document}&#10;" title="IguanaTex Bitmap Display">
            <a:extLst>
              <a:ext uri="{FF2B5EF4-FFF2-40B4-BE49-F238E27FC236}">
                <a16:creationId xmlns:a16="http://schemas.microsoft.com/office/drawing/2014/main" id="{8EE60A91-78A6-465A-87AB-9B984E42B8E0}"/>
              </a:ext>
            </a:extLst>
          </p:cNvPr>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389812" y="1587858"/>
            <a:ext cx="5798858" cy="1841143"/>
          </a:xfrm>
          <a:prstGeom prst="rect">
            <a:avLst/>
          </a:prstGeom>
        </p:spPr>
      </p:pic>
      <p:pic>
        <p:nvPicPr>
          <p:cNvPr id="13" name="Picture 12" descr="Diagram&#10;&#10;Description automatically generated with medium confidence">
            <a:extLst>
              <a:ext uri="{FF2B5EF4-FFF2-40B4-BE49-F238E27FC236}">
                <a16:creationId xmlns:a16="http://schemas.microsoft.com/office/drawing/2014/main" id="{97FE3518-E043-4A69-88FE-B02B984D2C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97581" y="3570061"/>
            <a:ext cx="2014819" cy="1814766"/>
          </a:xfrm>
          <a:prstGeom prst="rect">
            <a:avLst/>
          </a:prstGeom>
        </p:spPr>
      </p:pic>
      <p:pic>
        <p:nvPicPr>
          <p:cNvPr id="15" name="Picture 14" descr="Diagram&#10;&#10;Description automatically generated">
            <a:extLst>
              <a:ext uri="{FF2B5EF4-FFF2-40B4-BE49-F238E27FC236}">
                <a16:creationId xmlns:a16="http://schemas.microsoft.com/office/drawing/2014/main" id="{76C0A240-DF28-4FAB-944F-8202E46E45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318150" y="3555772"/>
            <a:ext cx="2029109" cy="1829055"/>
          </a:xfrm>
          <a:prstGeom prst="rect">
            <a:avLst/>
          </a:prstGeom>
        </p:spPr>
      </p:pic>
      <p:sp>
        <p:nvSpPr>
          <p:cNvPr id="23" name="Rectangle 22">
            <a:extLst>
              <a:ext uri="{FF2B5EF4-FFF2-40B4-BE49-F238E27FC236}">
                <a16:creationId xmlns:a16="http://schemas.microsoft.com/office/drawing/2014/main" id="{8B970936-F334-4FA9-8B2B-68CB9A73A1B0}"/>
              </a:ext>
            </a:extLst>
          </p:cNvPr>
          <p:cNvSpPr/>
          <p:nvPr/>
        </p:nvSpPr>
        <p:spPr>
          <a:xfrm>
            <a:off x="325114" y="1957443"/>
            <a:ext cx="5937663" cy="562550"/>
          </a:xfrm>
          <a:prstGeom prst="rect">
            <a:avLst/>
          </a:prstGeom>
          <a:noFill/>
          <a:ln>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85800">
              <a:defRPr/>
            </a:pPr>
            <a:endParaRPr lang="en-IN" sz="1350">
              <a:solidFill>
                <a:srgbClr val="CDCDCD"/>
              </a:solidFill>
              <a:latin typeface="Trebuchet MS"/>
            </a:endParaRPr>
          </a:p>
        </p:txBody>
      </p:sp>
      <p:sp>
        <p:nvSpPr>
          <p:cNvPr id="24" name="Rectangle 23">
            <a:extLst>
              <a:ext uri="{FF2B5EF4-FFF2-40B4-BE49-F238E27FC236}">
                <a16:creationId xmlns:a16="http://schemas.microsoft.com/office/drawing/2014/main" id="{A23D4CDF-39FA-4266-ABFC-9093610F0FC7}"/>
              </a:ext>
            </a:extLst>
          </p:cNvPr>
          <p:cNvSpPr/>
          <p:nvPr/>
        </p:nvSpPr>
        <p:spPr>
          <a:xfrm>
            <a:off x="325114" y="2936980"/>
            <a:ext cx="5937663" cy="562550"/>
          </a:xfrm>
          <a:prstGeom prst="rect">
            <a:avLst/>
          </a:prstGeom>
          <a:noFill/>
          <a:ln>
            <a:solidFill>
              <a:srgbClr val="FF0000"/>
            </a:solidFill>
          </a:ln>
        </p:spPr>
        <p:style>
          <a:lnRef idx="2">
            <a:schemeClr val="accent3"/>
          </a:lnRef>
          <a:fillRef idx="1">
            <a:schemeClr val="lt1"/>
          </a:fillRef>
          <a:effectRef idx="0">
            <a:schemeClr val="accent3"/>
          </a:effectRef>
          <a:fontRef idx="minor">
            <a:schemeClr val="dk1"/>
          </a:fontRef>
        </p:style>
        <p:txBody>
          <a:bodyPr rtlCol="0" anchor="ctr"/>
          <a:lstStyle/>
          <a:p>
            <a:pPr algn="ctr" defTabSz="685800">
              <a:defRPr/>
            </a:pPr>
            <a:endParaRPr lang="en-IN" sz="1350">
              <a:solidFill>
                <a:srgbClr val="CDCDCD"/>
              </a:solidFill>
              <a:latin typeface="Trebuchet MS"/>
            </a:endParaRPr>
          </a:p>
        </p:txBody>
      </p:sp>
      <p:sp>
        <p:nvSpPr>
          <p:cNvPr id="14" name="TextBox 13">
            <a:extLst>
              <a:ext uri="{FF2B5EF4-FFF2-40B4-BE49-F238E27FC236}">
                <a16:creationId xmlns:a16="http://schemas.microsoft.com/office/drawing/2014/main" id="{A8F72667-FE26-488C-A472-3C46D9E47C0E}"/>
              </a:ext>
            </a:extLst>
          </p:cNvPr>
          <p:cNvSpPr txBox="1"/>
          <p:nvPr/>
        </p:nvSpPr>
        <p:spPr>
          <a:xfrm>
            <a:off x="496262" y="5312849"/>
            <a:ext cx="7362126" cy="507831"/>
          </a:xfrm>
          <a:prstGeom prst="rect">
            <a:avLst/>
          </a:prstGeom>
          <a:noFill/>
          <a:ln w="635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214313" indent="-214313" defTabSz="685800">
              <a:buFont typeface="Wingdings" panose="05000000000000000000" pitchFamily="2" charset="2"/>
              <a:buChar char="§"/>
              <a:defRPr/>
            </a:pPr>
            <a:endParaRPr lang="en-US" sz="900" dirty="0">
              <a:solidFill>
                <a:srgbClr val="0070C0"/>
              </a:solidFill>
              <a:latin typeface="Arial" panose="020B0604020202020204" pitchFamily="34" charset="0"/>
              <a:cs typeface="Arial" panose="020B0604020202020204" pitchFamily="34" charset="0"/>
            </a:endParaRPr>
          </a:p>
          <a:p>
            <a:pPr marL="214313" indent="-214313" defTabSz="685800">
              <a:buFont typeface="Wingdings" panose="05000000000000000000" pitchFamily="2" charset="2"/>
              <a:buChar char="§"/>
              <a:defRPr/>
            </a:pPr>
            <a:r>
              <a:rPr lang="en-US" sz="900" dirty="0">
                <a:solidFill>
                  <a:srgbClr val="0070C0"/>
                </a:solidFill>
                <a:latin typeface="Arial" panose="020B0604020202020204" pitchFamily="34" charset="0"/>
                <a:cs typeface="Arial" panose="020B0604020202020204" pitchFamily="34" charset="0"/>
              </a:rPr>
              <a:t>Jagtap AD, </a:t>
            </a:r>
            <a:r>
              <a:rPr lang="en-US" sz="900" dirty="0" err="1">
                <a:solidFill>
                  <a:srgbClr val="0070C0"/>
                </a:solidFill>
                <a:latin typeface="Arial" panose="020B0604020202020204" pitchFamily="34" charset="0"/>
                <a:cs typeface="Arial" panose="020B0604020202020204" pitchFamily="34" charset="0"/>
              </a:rPr>
              <a:t>Kharazmi</a:t>
            </a:r>
            <a:r>
              <a:rPr lang="en-US" sz="900" dirty="0">
                <a:solidFill>
                  <a:srgbClr val="0070C0"/>
                </a:solidFill>
                <a:latin typeface="Arial" panose="020B0604020202020204" pitchFamily="34" charset="0"/>
                <a:cs typeface="Arial" panose="020B0604020202020204" pitchFamily="34" charset="0"/>
              </a:rPr>
              <a:t> E, Karniadakis GE. Conservative physics-informed neural networks on discrete domains for conservation laws: Applications to forward and inverse problems. Computer Methods in Applied Mechanics and Engineering. 2020 Jun 15;365:113028</a:t>
            </a:r>
            <a:endParaRPr lang="en-US" sz="900" dirty="0">
              <a:solidFill>
                <a:srgbClr val="0070C0"/>
              </a:solidFill>
              <a:latin typeface="Trebuchet MS"/>
            </a:endParaRPr>
          </a:p>
        </p:txBody>
      </p:sp>
      <p:sp>
        <p:nvSpPr>
          <p:cNvPr id="2" name="圆角矩形 7">
            <a:extLst>
              <a:ext uri="{FF2B5EF4-FFF2-40B4-BE49-F238E27FC236}">
                <a16:creationId xmlns:a16="http://schemas.microsoft.com/office/drawing/2014/main" id="{103085C7-0AE6-65A5-3B60-0443D5DEEDCE}"/>
              </a:ext>
            </a:extLst>
          </p:cNvPr>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lnSpc>
                <a:spcPct val="90000"/>
              </a:lnSpc>
              <a:defRPr/>
            </a:pPr>
            <a:r>
              <a:rPr lang="en-IN" altLang="zh-CN" sz="3200" b="1" dirty="0">
                <a:solidFill>
                  <a:srgbClr val="C00000"/>
                </a:solidFill>
                <a:latin typeface="Arial" panose="020B0604020202020204" pitchFamily="34" charset="0"/>
                <a:cs typeface="Arial" panose="020B0604020202020204" pitchFamily="34" charset="0"/>
              </a:rPr>
              <a:t>Conservative PINNs (</a:t>
            </a:r>
            <a:r>
              <a:rPr lang="en-IN" altLang="zh-CN" sz="3200" b="1" dirty="0" err="1">
                <a:solidFill>
                  <a:srgbClr val="C00000"/>
                </a:solidFill>
                <a:latin typeface="Arial" panose="020B0604020202020204" pitchFamily="34" charset="0"/>
                <a:cs typeface="Arial" panose="020B0604020202020204" pitchFamily="34" charset="0"/>
              </a:rPr>
              <a:t>cPINNs</a:t>
            </a:r>
            <a:r>
              <a:rPr lang="en-IN" altLang="zh-CN" sz="3200" b="1" dirty="0">
                <a:solidFill>
                  <a:srgbClr val="C00000"/>
                </a:solidFill>
                <a:latin typeface="Arial" panose="020B0604020202020204" pitchFamily="34" charset="0"/>
                <a:cs typeface="Arial" panose="020B0604020202020204" pitchFamily="34" charset="0"/>
              </a:rPr>
              <a:t>)</a:t>
            </a:r>
            <a:endParaRPr lang="en-IN" altLang="zh-CN" sz="24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11377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D414C2D-8A45-4ABD-8CDC-4E1AB5D68212}"/>
              </a:ext>
            </a:extLst>
          </p:cNvPr>
          <p:cNvSpPr>
            <a:spLocks noGrp="1"/>
          </p:cNvSpPr>
          <p:nvPr>
            <p:ph type="sldNum" sz="quarter" idx="12"/>
          </p:nvPr>
        </p:nvSpPr>
        <p:spPr/>
        <p:txBody>
          <a:bodyPr/>
          <a:lstStyle/>
          <a:p>
            <a:pPr algn="l" defTabSz="685800">
              <a:defRPr/>
            </a:pPr>
            <a:fld id="{5DEF7F31-0B8A-474A-B86C-91F381754329}" type="slidenum">
              <a:rPr lang="en-US" sz="1350">
                <a:solidFill>
                  <a:srgbClr val="FFFFFF"/>
                </a:solidFill>
                <a:latin typeface="Trebuchet MS"/>
              </a:rPr>
              <a:pPr algn="l" defTabSz="685800">
                <a:defRPr/>
              </a:pPr>
              <a:t>26</a:t>
            </a:fld>
            <a:endParaRPr lang="en-US" sz="1350" dirty="0">
              <a:solidFill>
                <a:srgbClr val="FFFFFF"/>
              </a:solidFill>
              <a:latin typeface="Trebuchet MS"/>
            </a:endParaRPr>
          </a:p>
        </p:txBody>
      </p:sp>
      <p:sp>
        <p:nvSpPr>
          <p:cNvPr id="2" name="圆角矩形 7">
            <a:extLst>
              <a:ext uri="{FF2B5EF4-FFF2-40B4-BE49-F238E27FC236}">
                <a16:creationId xmlns:a16="http://schemas.microsoft.com/office/drawing/2014/main" id="{5B7F6C37-B15C-02AA-C4BA-A6533F3F8CA8}"/>
              </a:ext>
            </a:extLst>
          </p:cNvPr>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lnSpc>
                <a:spcPct val="90000"/>
              </a:lnSpc>
              <a:defRPr/>
            </a:pPr>
            <a:r>
              <a:rPr lang="en-IN" altLang="zh-CN" sz="2400" b="1" dirty="0">
                <a:solidFill>
                  <a:srgbClr val="C00000"/>
                </a:solidFill>
                <a:latin typeface="Arial" panose="020B0604020202020204" pitchFamily="34" charset="0"/>
                <a:cs typeface="Arial" panose="020B0604020202020204" pitchFamily="34" charset="0"/>
              </a:rPr>
              <a:t>Overlapping Domain Decomposition</a:t>
            </a:r>
          </a:p>
        </p:txBody>
      </p:sp>
      <p:pic>
        <p:nvPicPr>
          <p:cNvPr id="7" name="图片 6" descr="图示, 维恩图&#10;&#10;描述已自动生成">
            <a:extLst>
              <a:ext uri="{FF2B5EF4-FFF2-40B4-BE49-F238E27FC236}">
                <a16:creationId xmlns:a16="http://schemas.microsoft.com/office/drawing/2014/main" id="{F5B30ACE-D725-FE41-67F4-5559B98821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88585" y="1197602"/>
            <a:ext cx="5019048" cy="3114286"/>
          </a:xfrm>
          <a:prstGeom prst="rect">
            <a:avLst/>
          </a:prstGeom>
        </p:spPr>
      </p:pic>
      <p:pic>
        <p:nvPicPr>
          <p:cNvPr id="9" name="图片 8" descr="文本&#10;&#10;描述已自动生成">
            <a:extLst>
              <a:ext uri="{FF2B5EF4-FFF2-40B4-BE49-F238E27FC236}">
                <a16:creationId xmlns:a16="http://schemas.microsoft.com/office/drawing/2014/main" id="{08BED31C-D48B-F935-084F-ECFFF55CB3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4963" y="4606784"/>
            <a:ext cx="3398688" cy="1324489"/>
          </a:xfrm>
          <a:prstGeom prst="rect">
            <a:avLst/>
          </a:prstGeom>
        </p:spPr>
      </p:pic>
      <p:pic>
        <p:nvPicPr>
          <p:cNvPr id="12" name="图片 11" descr="文本&#10;&#10;描述已自动生成">
            <a:extLst>
              <a:ext uri="{FF2B5EF4-FFF2-40B4-BE49-F238E27FC236}">
                <a16:creationId xmlns:a16="http://schemas.microsoft.com/office/drawing/2014/main" id="{3F6218D0-55DD-0EE9-C453-69517C6159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10350" y="4606784"/>
            <a:ext cx="3344669" cy="1324489"/>
          </a:xfrm>
          <a:prstGeom prst="rect">
            <a:avLst/>
          </a:prstGeom>
        </p:spPr>
      </p:pic>
      <p:sp>
        <p:nvSpPr>
          <p:cNvPr id="13" name="箭头: 左右 12">
            <a:extLst>
              <a:ext uri="{FF2B5EF4-FFF2-40B4-BE49-F238E27FC236}">
                <a16:creationId xmlns:a16="http://schemas.microsoft.com/office/drawing/2014/main" id="{21BB5478-121C-F5A0-C5A0-A6A6BF4880FE}"/>
              </a:ext>
            </a:extLst>
          </p:cNvPr>
          <p:cNvSpPr/>
          <p:nvPr/>
        </p:nvSpPr>
        <p:spPr>
          <a:xfrm>
            <a:off x="3987669" y="5043055"/>
            <a:ext cx="1277058" cy="61734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AB805CF5-9276-FD89-4263-C138BABABFB9}"/>
              </a:ext>
            </a:extLst>
          </p:cNvPr>
          <p:cNvSpPr txBox="1"/>
          <p:nvPr/>
        </p:nvSpPr>
        <p:spPr>
          <a:xfrm>
            <a:off x="5787306" y="6538913"/>
            <a:ext cx="3398688" cy="276999"/>
          </a:xfrm>
          <a:prstGeom prst="rect">
            <a:avLst/>
          </a:prstGeom>
          <a:noFill/>
        </p:spPr>
        <p:txBody>
          <a:bodyPr wrap="square" rtlCol="0">
            <a:spAutoFit/>
          </a:bodyPr>
          <a:lstStyle/>
          <a:p>
            <a:r>
              <a:rPr lang="en-US" altLang="zh-CN" sz="1200" i="1" dirty="0">
                <a:latin typeface="Times New Roman" panose="02020603050405020304" pitchFamily="18" charset="0"/>
                <a:cs typeface="Times New Roman" panose="02020603050405020304" pitchFamily="18" charset="0"/>
              </a:rPr>
              <a:t>Cai, Overlapping Domain Decomposition Method</a:t>
            </a:r>
            <a:endParaRPr lang="zh-CN" altLang="en-US" sz="1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76562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D414C2D-8A45-4ABD-8CDC-4E1AB5D68212}"/>
              </a:ext>
            </a:extLst>
          </p:cNvPr>
          <p:cNvSpPr>
            <a:spLocks noGrp="1"/>
          </p:cNvSpPr>
          <p:nvPr>
            <p:ph type="sldNum" sz="quarter" idx="12"/>
          </p:nvPr>
        </p:nvSpPr>
        <p:spPr/>
        <p:txBody>
          <a:bodyPr/>
          <a:lstStyle/>
          <a:p>
            <a:pPr algn="l" defTabSz="685800">
              <a:defRPr/>
            </a:pPr>
            <a:fld id="{5DEF7F31-0B8A-474A-B86C-91F381754329}" type="slidenum">
              <a:rPr lang="en-US" sz="1350">
                <a:solidFill>
                  <a:srgbClr val="FFFFFF"/>
                </a:solidFill>
                <a:latin typeface="Trebuchet MS"/>
              </a:rPr>
              <a:pPr algn="l" defTabSz="685800">
                <a:defRPr/>
              </a:pPr>
              <a:t>27</a:t>
            </a:fld>
            <a:endParaRPr lang="en-US" sz="1350" dirty="0">
              <a:solidFill>
                <a:srgbClr val="FFFFFF"/>
              </a:solidFill>
              <a:latin typeface="Trebuchet MS"/>
            </a:endParaRPr>
          </a:p>
        </p:txBody>
      </p:sp>
      <p:sp>
        <p:nvSpPr>
          <p:cNvPr id="2" name="圆角矩形 7">
            <a:extLst>
              <a:ext uri="{FF2B5EF4-FFF2-40B4-BE49-F238E27FC236}">
                <a16:creationId xmlns:a16="http://schemas.microsoft.com/office/drawing/2014/main" id="{5B7F6C37-B15C-02AA-C4BA-A6533F3F8CA8}"/>
              </a:ext>
            </a:extLst>
          </p:cNvPr>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lnSpc>
                <a:spcPct val="90000"/>
              </a:lnSpc>
              <a:defRPr/>
            </a:pPr>
            <a:r>
              <a:rPr lang="en-IN" altLang="zh-CN" sz="2400" b="1" dirty="0">
                <a:solidFill>
                  <a:srgbClr val="C00000"/>
                </a:solidFill>
                <a:latin typeface="Arial" panose="020B0604020202020204" pitchFamily="34" charset="0"/>
                <a:cs typeface="Arial" panose="020B0604020202020204" pitchFamily="34" charset="0"/>
              </a:rPr>
              <a:t>Overlapping Domain Decomposition</a:t>
            </a:r>
          </a:p>
        </p:txBody>
      </p:sp>
      <p:pic>
        <p:nvPicPr>
          <p:cNvPr id="7" name="图片 6" descr="图示, 维恩图&#10;&#10;描述已自动生成">
            <a:extLst>
              <a:ext uri="{FF2B5EF4-FFF2-40B4-BE49-F238E27FC236}">
                <a16:creationId xmlns:a16="http://schemas.microsoft.com/office/drawing/2014/main" id="{F5B30ACE-D725-FE41-67F4-5559B98821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1894" y="1069882"/>
            <a:ext cx="3026760" cy="1878085"/>
          </a:xfrm>
          <a:prstGeom prst="rect">
            <a:avLst/>
          </a:prstGeom>
        </p:spPr>
      </p:pic>
      <p:pic>
        <p:nvPicPr>
          <p:cNvPr id="15" name="图片 14" descr="图示&#10;&#10;描述已自动生成">
            <a:extLst>
              <a:ext uri="{FF2B5EF4-FFF2-40B4-BE49-F238E27FC236}">
                <a16:creationId xmlns:a16="http://schemas.microsoft.com/office/drawing/2014/main" id="{0C620673-9685-94C2-54D6-B52CDB8A61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79264" y="3429000"/>
            <a:ext cx="7790476" cy="2771429"/>
          </a:xfrm>
          <a:prstGeom prst="rect">
            <a:avLst/>
          </a:prstGeom>
        </p:spPr>
      </p:pic>
      <p:pic>
        <p:nvPicPr>
          <p:cNvPr id="5" name="图片 4" descr="图形用户界面, 应用程序, Word&#10;&#10;描述已自动生成">
            <a:extLst>
              <a:ext uri="{FF2B5EF4-FFF2-40B4-BE49-F238E27FC236}">
                <a16:creationId xmlns:a16="http://schemas.microsoft.com/office/drawing/2014/main" id="{4662F9F3-0561-43B1-5215-C0E18711A29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36319" y="1069882"/>
            <a:ext cx="1582832" cy="2289294"/>
          </a:xfrm>
          <a:prstGeom prst="rect">
            <a:avLst/>
          </a:prstGeom>
        </p:spPr>
      </p:pic>
      <p:sp>
        <p:nvSpPr>
          <p:cNvPr id="6" name="文本框 5">
            <a:extLst>
              <a:ext uri="{FF2B5EF4-FFF2-40B4-BE49-F238E27FC236}">
                <a16:creationId xmlns:a16="http://schemas.microsoft.com/office/drawing/2014/main" id="{0666512D-5FF0-A738-8B0F-F2FC16F25EBB}"/>
              </a:ext>
            </a:extLst>
          </p:cNvPr>
          <p:cNvSpPr txBox="1"/>
          <p:nvPr/>
        </p:nvSpPr>
        <p:spPr>
          <a:xfrm>
            <a:off x="8104375" y="6538913"/>
            <a:ext cx="1130730" cy="276999"/>
          </a:xfrm>
          <a:prstGeom prst="rect">
            <a:avLst/>
          </a:prstGeom>
          <a:noFill/>
        </p:spPr>
        <p:txBody>
          <a:bodyPr wrap="square" rtlCol="0">
            <a:spAutoFit/>
          </a:bodyPr>
          <a:lstStyle/>
          <a:p>
            <a:r>
              <a:rPr lang="en-US" altLang="zh-CN" sz="1200" i="1" dirty="0">
                <a:latin typeface="Times New Roman" panose="02020603050405020304" pitchFamily="18" charset="0"/>
                <a:cs typeface="Times New Roman" panose="02020603050405020304" pitchFamily="18" charset="0"/>
              </a:rPr>
              <a:t>Ye, et al, 2025</a:t>
            </a:r>
            <a:endParaRPr lang="zh-CN" altLang="en-US" sz="1200"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0502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D414C2D-8A45-4ABD-8CDC-4E1AB5D68212}"/>
              </a:ext>
            </a:extLst>
          </p:cNvPr>
          <p:cNvSpPr>
            <a:spLocks noGrp="1"/>
          </p:cNvSpPr>
          <p:nvPr>
            <p:ph type="sldNum" sz="quarter" idx="12"/>
          </p:nvPr>
        </p:nvSpPr>
        <p:spPr/>
        <p:txBody>
          <a:bodyPr/>
          <a:lstStyle/>
          <a:p>
            <a:pPr algn="l" defTabSz="685800">
              <a:defRPr/>
            </a:pPr>
            <a:fld id="{5DEF7F31-0B8A-474A-B86C-91F381754329}" type="slidenum">
              <a:rPr lang="en-US" sz="1350">
                <a:solidFill>
                  <a:srgbClr val="FFFFFF"/>
                </a:solidFill>
                <a:latin typeface="Trebuchet MS"/>
              </a:rPr>
              <a:pPr algn="l" defTabSz="685800">
                <a:defRPr/>
              </a:pPr>
              <a:t>28</a:t>
            </a:fld>
            <a:endParaRPr lang="en-US" sz="1350" dirty="0">
              <a:solidFill>
                <a:srgbClr val="FFFFFF"/>
              </a:solidFill>
              <a:latin typeface="Trebuchet MS"/>
            </a:endParaRPr>
          </a:p>
        </p:txBody>
      </p:sp>
      <p:sp>
        <p:nvSpPr>
          <p:cNvPr id="2" name="圆角矩形 7">
            <a:extLst>
              <a:ext uri="{FF2B5EF4-FFF2-40B4-BE49-F238E27FC236}">
                <a16:creationId xmlns:a16="http://schemas.microsoft.com/office/drawing/2014/main" id="{5B7F6C37-B15C-02AA-C4BA-A6533F3F8CA8}"/>
              </a:ext>
            </a:extLst>
          </p:cNvPr>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lnSpc>
                <a:spcPct val="90000"/>
              </a:lnSpc>
              <a:defRPr/>
            </a:pPr>
            <a:r>
              <a:rPr lang="en-IN" altLang="zh-CN" sz="2400" b="1" dirty="0">
                <a:solidFill>
                  <a:srgbClr val="C00000"/>
                </a:solidFill>
                <a:latin typeface="Arial" panose="020B0604020202020204" pitchFamily="34" charset="0"/>
                <a:cs typeface="Arial" panose="020B0604020202020204" pitchFamily="34" charset="0"/>
              </a:rPr>
              <a:t>Example: Forward problem</a:t>
            </a:r>
          </a:p>
        </p:txBody>
      </p:sp>
      <p:sp>
        <p:nvSpPr>
          <p:cNvPr id="6" name="文本框 5">
            <a:extLst>
              <a:ext uri="{FF2B5EF4-FFF2-40B4-BE49-F238E27FC236}">
                <a16:creationId xmlns:a16="http://schemas.microsoft.com/office/drawing/2014/main" id="{0666512D-5FF0-A738-8B0F-F2FC16F25EBB}"/>
              </a:ext>
            </a:extLst>
          </p:cNvPr>
          <p:cNvSpPr txBox="1"/>
          <p:nvPr/>
        </p:nvSpPr>
        <p:spPr>
          <a:xfrm>
            <a:off x="8104375" y="6538913"/>
            <a:ext cx="1130730" cy="276999"/>
          </a:xfrm>
          <a:prstGeom prst="rect">
            <a:avLst/>
          </a:prstGeom>
          <a:noFill/>
        </p:spPr>
        <p:txBody>
          <a:bodyPr wrap="square" rtlCol="0">
            <a:spAutoFit/>
          </a:bodyPr>
          <a:lstStyle/>
          <a:p>
            <a:r>
              <a:rPr lang="en-US" altLang="zh-CN" sz="1200" i="1" dirty="0">
                <a:latin typeface="Times New Roman" panose="02020603050405020304" pitchFamily="18" charset="0"/>
                <a:cs typeface="Times New Roman" panose="02020603050405020304" pitchFamily="18" charset="0"/>
              </a:rPr>
              <a:t>Ye, et al, 2025</a:t>
            </a:r>
            <a:endParaRPr lang="zh-CN" altLang="en-US" sz="1200" i="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CD64D1FB-C7AA-1A56-4F66-0D761D0DD15F}"/>
                  </a:ext>
                </a:extLst>
              </p:cNvPr>
              <p:cNvSpPr txBox="1"/>
              <p:nvPr/>
            </p:nvSpPr>
            <p:spPr>
              <a:xfrm>
                <a:off x="746620" y="1212845"/>
                <a:ext cx="7650759" cy="6182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f>
                        <m:fPr>
                          <m:ctrlP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ctrlPr>
                        </m:fPr>
                        <m:num>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𝑑𝑢</m:t>
                          </m:r>
                        </m:num>
                        <m:den>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𝑑𝑥</m:t>
                          </m:r>
                        </m:den>
                      </m:f>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m:t>
                      </m:r>
                      <m:func>
                        <m:funcPr>
                          <m:ctrlP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ctrlPr>
                        </m:funcPr>
                        <m:fName>
                          <m:r>
                            <m:rPr>
                              <m:sty m:val="p"/>
                            </m:rPr>
                            <a:rPr kumimoji="0" lang="en-US" altLang="zh-CN" sz="1800" b="0" i="0"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sin</m:t>
                          </m:r>
                        </m:fName>
                        <m:e>
                          <m:d>
                            <m:dPr>
                              <m:ctrlP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ctrlPr>
                            </m:dPr>
                            <m:e>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3</m:t>
                              </m:r>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𝑥</m:t>
                              </m:r>
                            </m:e>
                          </m:d>
                        </m:e>
                      </m:func>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+1.5</m:t>
                      </m:r>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𝑢</m:t>
                      </m:r>
                      <m:d>
                        <m:dPr>
                          <m:ctrlP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ctrlPr>
                        </m:dPr>
                        <m:e>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1−</m:t>
                          </m:r>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𝑢</m:t>
                          </m:r>
                        </m:e>
                      </m:d>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 </m:t>
                      </m:r>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𝑥</m:t>
                      </m:r>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∈[0,1]</m:t>
                      </m:r>
                    </m:oMath>
                  </m:oMathPara>
                </a14:m>
                <a:endParaRPr kumimoji="0" lang="zh-CN" altLang="en-US" sz="1800" b="0" i="0" u="none" strike="noStrike" cap="none" spc="0" normalizeH="0" baseline="0" dirty="0">
                  <a:ln>
                    <a:noFill/>
                  </a:ln>
                  <a:solidFill>
                    <a:srgbClr val="000000"/>
                  </a:solidFill>
                  <a:effectLst/>
                  <a:uFillTx/>
                  <a:latin typeface="+mj-lt"/>
                  <a:ea typeface="+mj-ea"/>
                  <a:cs typeface="+mj-cs"/>
                  <a:sym typeface="Helvetica"/>
                </a:endParaRPr>
              </a:p>
            </p:txBody>
          </p:sp>
        </mc:Choice>
        <mc:Fallback>
          <p:sp>
            <p:nvSpPr>
              <p:cNvPr id="4" name="文本框 3">
                <a:extLst>
                  <a:ext uri="{FF2B5EF4-FFF2-40B4-BE49-F238E27FC236}">
                    <a16:creationId xmlns:a16="http://schemas.microsoft.com/office/drawing/2014/main" id="{CD64D1FB-C7AA-1A56-4F66-0D761D0DD15F}"/>
                  </a:ext>
                </a:extLst>
              </p:cNvPr>
              <p:cNvSpPr txBox="1">
                <a:spLocks noRot="1" noChangeAspect="1" noMove="1" noResize="1" noEditPoints="1" noAdjustHandles="1" noChangeArrowheads="1" noChangeShapeType="1" noTextEdit="1"/>
              </p:cNvSpPr>
              <p:nvPr/>
            </p:nvSpPr>
            <p:spPr>
              <a:xfrm>
                <a:off x="746620" y="1212845"/>
                <a:ext cx="7650759" cy="618242"/>
              </a:xfrm>
              <a:prstGeom prst="rect">
                <a:avLst/>
              </a:prstGeom>
              <a:blipFill>
                <a:blip r:embed="rId3"/>
                <a:stretch>
                  <a:fillRect/>
                </a:stretch>
              </a:blipFill>
              <a:ln w="12700" cap="flat">
                <a:noFill/>
                <a:miter lim="400000"/>
              </a:ln>
              <a:effectLst/>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4D82BD15-A611-7F1F-258D-B764F9C77759}"/>
              </a:ext>
            </a:extLst>
          </p:cNvPr>
          <p:cNvPicPr>
            <a:picLocks noChangeAspect="1"/>
          </p:cNvPicPr>
          <p:nvPr/>
        </p:nvPicPr>
        <p:blipFill>
          <a:blip r:embed="rId4"/>
          <a:stretch>
            <a:fillRect/>
          </a:stretch>
        </p:blipFill>
        <p:spPr>
          <a:xfrm>
            <a:off x="854066" y="2384659"/>
            <a:ext cx="3835919" cy="3068735"/>
          </a:xfrm>
          <a:prstGeom prst="rect">
            <a:avLst/>
          </a:prstGeom>
        </p:spPr>
      </p:pic>
      <p:pic>
        <p:nvPicPr>
          <p:cNvPr id="9" name="图片 8">
            <a:extLst>
              <a:ext uri="{FF2B5EF4-FFF2-40B4-BE49-F238E27FC236}">
                <a16:creationId xmlns:a16="http://schemas.microsoft.com/office/drawing/2014/main" id="{1A45D844-1F72-D0AF-F714-A5720E2B9D47}"/>
              </a:ext>
            </a:extLst>
          </p:cNvPr>
          <p:cNvPicPr>
            <a:picLocks noChangeAspect="1"/>
          </p:cNvPicPr>
          <p:nvPr/>
        </p:nvPicPr>
        <p:blipFill>
          <a:blip r:embed="rId5"/>
          <a:stretch>
            <a:fillRect/>
          </a:stretch>
        </p:blipFill>
        <p:spPr>
          <a:xfrm>
            <a:off x="4833820" y="2384659"/>
            <a:ext cx="3835920" cy="3068736"/>
          </a:xfrm>
          <a:prstGeom prst="rect">
            <a:avLst/>
          </a:prstGeom>
        </p:spPr>
      </p:pic>
    </p:spTree>
    <p:extLst>
      <p:ext uri="{BB962C8B-B14F-4D97-AF65-F5344CB8AC3E}">
        <p14:creationId xmlns:p14="http://schemas.microsoft.com/office/powerpoint/2010/main" val="37660723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D414C2D-8A45-4ABD-8CDC-4E1AB5D68212}"/>
              </a:ext>
            </a:extLst>
          </p:cNvPr>
          <p:cNvSpPr>
            <a:spLocks noGrp="1"/>
          </p:cNvSpPr>
          <p:nvPr>
            <p:ph type="sldNum" sz="quarter" idx="12"/>
          </p:nvPr>
        </p:nvSpPr>
        <p:spPr/>
        <p:txBody>
          <a:bodyPr/>
          <a:lstStyle/>
          <a:p>
            <a:pPr algn="l" defTabSz="685800">
              <a:defRPr/>
            </a:pPr>
            <a:fld id="{5DEF7F31-0B8A-474A-B86C-91F381754329}" type="slidenum">
              <a:rPr lang="en-US" sz="1350">
                <a:solidFill>
                  <a:srgbClr val="FFFFFF"/>
                </a:solidFill>
                <a:latin typeface="Trebuchet MS"/>
              </a:rPr>
              <a:pPr algn="l" defTabSz="685800">
                <a:defRPr/>
              </a:pPr>
              <a:t>29</a:t>
            </a:fld>
            <a:endParaRPr lang="en-US" sz="1350" dirty="0">
              <a:solidFill>
                <a:srgbClr val="FFFFFF"/>
              </a:solidFill>
              <a:latin typeface="Trebuchet MS"/>
            </a:endParaRPr>
          </a:p>
        </p:txBody>
      </p:sp>
      <p:sp>
        <p:nvSpPr>
          <p:cNvPr id="2" name="圆角矩形 7">
            <a:extLst>
              <a:ext uri="{FF2B5EF4-FFF2-40B4-BE49-F238E27FC236}">
                <a16:creationId xmlns:a16="http://schemas.microsoft.com/office/drawing/2014/main" id="{5B7F6C37-B15C-02AA-C4BA-A6533F3F8CA8}"/>
              </a:ext>
            </a:extLst>
          </p:cNvPr>
          <p:cNvSpPr/>
          <p:nvPr/>
        </p:nvSpPr>
        <p:spPr>
          <a:xfrm>
            <a:off x="0" y="0"/>
            <a:ext cx="9144000" cy="756138"/>
          </a:xfrm>
          <a:prstGeom prst="roundRect">
            <a:avLst/>
          </a:prstGeom>
          <a:solidFill>
            <a:schemeClr val="bg2"/>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a:lnSpc>
                <a:spcPct val="90000"/>
              </a:lnSpc>
              <a:defRPr/>
            </a:pPr>
            <a:r>
              <a:rPr lang="en-IN" altLang="zh-CN" sz="2400" b="1" dirty="0">
                <a:solidFill>
                  <a:srgbClr val="C00000"/>
                </a:solidFill>
                <a:latin typeface="Arial" panose="020B0604020202020204" pitchFamily="34" charset="0"/>
                <a:cs typeface="Arial" panose="020B0604020202020204" pitchFamily="34" charset="0"/>
              </a:rPr>
              <a:t>Example: Inverse problem</a:t>
            </a:r>
          </a:p>
        </p:txBody>
      </p:sp>
      <p:sp>
        <p:nvSpPr>
          <p:cNvPr id="6" name="文本框 5">
            <a:extLst>
              <a:ext uri="{FF2B5EF4-FFF2-40B4-BE49-F238E27FC236}">
                <a16:creationId xmlns:a16="http://schemas.microsoft.com/office/drawing/2014/main" id="{0666512D-5FF0-A738-8B0F-F2FC16F25EBB}"/>
              </a:ext>
            </a:extLst>
          </p:cNvPr>
          <p:cNvSpPr txBox="1"/>
          <p:nvPr/>
        </p:nvSpPr>
        <p:spPr>
          <a:xfrm>
            <a:off x="8104375" y="6538913"/>
            <a:ext cx="1130730" cy="276999"/>
          </a:xfrm>
          <a:prstGeom prst="rect">
            <a:avLst/>
          </a:prstGeom>
          <a:noFill/>
        </p:spPr>
        <p:txBody>
          <a:bodyPr wrap="square" rtlCol="0">
            <a:spAutoFit/>
          </a:bodyPr>
          <a:lstStyle/>
          <a:p>
            <a:r>
              <a:rPr lang="en-US" altLang="zh-CN" sz="1200" i="1" dirty="0">
                <a:latin typeface="Times New Roman" panose="02020603050405020304" pitchFamily="18" charset="0"/>
                <a:cs typeface="Times New Roman" panose="02020603050405020304" pitchFamily="18" charset="0"/>
              </a:rPr>
              <a:t>Ye, et al, 2025</a:t>
            </a:r>
            <a:endParaRPr lang="zh-CN" altLang="en-US" sz="1200" i="1"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4" name="文本框 3">
                <a:extLst>
                  <a:ext uri="{FF2B5EF4-FFF2-40B4-BE49-F238E27FC236}">
                    <a16:creationId xmlns:a16="http://schemas.microsoft.com/office/drawing/2014/main" id="{CD64D1FB-C7AA-1A56-4F66-0D761D0DD15F}"/>
                  </a:ext>
                </a:extLst>
              </p:cNvPr>
              <p:cNvSpPr txBox="1"/>
              <p:nvPr/>
            </p:nvSpPr>
            <p:spPr>
              <a:xfrm>
                <a:off x="746620" y="1212845"/>
                <a:ext cx="7650759" cy="61824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f>
                        <m:fPr>
                          <m:ctrlP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ctrlPr>
                        </m:fPr>
                        <m:num>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𝑑𝑢</m:t>
                          </m:r>
                        </m:num>
                        <m:den>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𝑑𝑥</m:t>
                          </m:r>
                        </m:den>
                      </m:f>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m:t>
                      </m:r>
                      <m:func>
                        <m:funcPr>
                          <m:ctrlP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ctrlPr>
                        </m:funcPr>
                        <m:fName>
                          <m:r>
                            <m:rPr>
                              <m:sty m:val="p"/>
                            </m:rPr>
                            <a:rPr kumimoji="0" lang="en-US" altLang="zh-CN" sz="1800" b="0" i="0"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sin</m:t>
                          </m:r>
                        </m:fName>
                        <m:e>
                          <m:d>
                            <m:dPr>
                              <m:ctrlP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ctrlPr>
                            </m:dPr>
                            <m:e>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3</m:t>
                              </m:r>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𝑥</m:t>
                              </m:r>
                            </m:e>
                          </m:d>
                        </m:e>
                      </m:func>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m:t>
                      </m:r>
                      <m:r>
                        <a:rPr kumimoji="0" lang="en-US" altLang="zh-CN" sz="1800" b="0" i="1" u="none" strike="noStrike" cap="none" spc="0" normalizeH="0" baseline="0" smtClean="0">
                          <a:ln>
                            <a:noFill/>
                          </a:ln>
                          <a:solidFill>
                            <a:srgbClr val="FF0000"/>
                          </a:solidFill>
                          <a:effectLst/>
                          <a:uFillTx/>
                          <a:latin typeface="Cambria Math" panose="02040503050406030204" pitchFamily="18" charset="0"/>
                          <a:ea typeface="+mj-ea"/>
                          <a:cs typeface="+mj-cs"/>
                          <a:sym typeface="Helvetica"/>
                        </a:rPr>
                        <m:t>𝑎</m:t>
                      </m:r>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𝑢</m:t>
                      </m:r>
                      <m:d>
                        <m:dPr>
                          <m:ctrlP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ctrlPr>
                        </m:dPr>
                        <m:e>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1−</m:t>
                          </m:r>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𝑢</m:t>
                          </m:r>
                        </m:e>
                      </m:d>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 </m:t>
                      </m:r>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𝑥</m:t>
                      </m:r>
                      <m:r>
                        <a:rPr kumimoji="0" lang="en-US" altLang="zh-CN" sz="1800" b="0" i="1" u="none" strike="noStrike" cap="none" spc="0" normalizeH="0" baseline="0" smtClean="0">
                          <a:ln>
                            <a:noFill/>
                          </a:ln>
                          <a:solidFill>
                            <a:srgbClr val="000000"/>
                          </a:solidFill>
                          <a:effectLst/>
                          <a:uFillTx/>
                          <a:latin typeface="Cambria Math" panose="02040503050406030204" pitchFamily="18" charset="0"/>
                          <a:ea typeface="+mj-ea"/>
                          <a:cs typeface="+mj-cs"/>
                          <a:sym typeface="Helvetica"/>
                        </a:rPr>
                        <m:t>∈[0,1]</m:t>
                      </m:r>
                    </m:oMath>
                  </m:oMathPara>
                </a14:m>
                <a:endParaRPr kumimoji="0" lang="zh-CN" altLang="en-US" sz="1800" b="0" i="0" u="none" strike="noStrike" cap="none" spc="0" normalizeH="0" baseline="0" dirty="0">
                  <a:ln>
                    <a:noFill/>
                  </a:ln>
                  <a:solidFill>
                    <a:srgbClr val="000000"/>
                  </a:solidFill>
                  <a:effectLst/>
                  <a:uFillTx/>
                  <a:latin typeface="+mj-lt"/>
                  <a:ea typeface="+mj-ea"/>
                  <a:cs typeface="+mj-cs"/>
                  <a:sym typeface="Helvetica"/>
                </a:endParaRPr>
              </a:p>
            </p:txBody>
          </p:sp>
        </mc:Choice>
        <mc:Fallback>
          <p:sp>
            <p:nvSpPr>
              <p:cNvPr id="4" name="文本框 3">
                <a:extLst>
                  <a:ext uri="{FF2B5EF4-FFF2-40B4-BE49-F238E27FC236}">
                    <a16:creationId xmlns:a16="http://schemas.microsoft.com/office/drawing/2014/main" id="{CD64D1FB-C7AA-1A56-4F66-0D761D0DD15F}"/>
                  </a:ext>
                </a:extLst>
              </p:cNvPr>
              <p:cNvSpPr txBox="1">
                <a:spLocks noRot="1" noChangeAspect="1" noMove="1" noResize="1" noEditPoints="1" noAdjustHandles="1" noChangeArrowheads="1" noChangeShapeType="1" noTextEdit="1"/>
              </p:cNvSpPr>
              <p:nvPr/>
            </p:nvSpPr>
            <p:spPr>
              <a:xfrm>
                <a:off x="746620" y="1212845"/>
                <a:ext cx="7650759" cy="618242"/>
              </a:xfrm>
              <a:prstGeom prst="rect">
                <a:avLst/>
              </a:prstGeom>
              <a:blipFill>
                <a:blip r:embed="rId3"/>
                <a:stretch>
                  <a:fillRect/>
                </a:stretch>
              </a:blipFill>
              <a:ln w="12700" cap="flat">
                <a:noFill/>
                <a:miter lim="400000"/>
              </a:ln>
              <a:effectLst/>
            </p:spPr>
            <p:txBody>
              <a:bodyPr/>
              <a:lstStyle/>
              <a:p>
                <a:r>
                  <a:rPr lang="zh-CN" altLang="en-US">
                    <a:noFill/>
                  </a:rPr>
                  <a:t> </a:t>
                </a:r>
              </a:p>
            </p:txBody>
          </p:sp>
        </mc:Fallback>
      </mc:AlternateContent>
      <p:pic>
        <p:nvPicPr>
          <p:cNvPr id="5" name="Picture 3">
            <a:extLst>
              <a:ext uri="{FF2B5EF4-FFF2-40B4-BE49-F238E27FC236}">
                <a16:creationId xmlns:a16="http://schemas.microsoft.com/office/drawing/2014/main" id="{E75901F3-C77C-AECC-FDE8-3CEA85DED5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1312" y="2541435"/>
            <a:ext cx="3946596" cy="3160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4">
            <a:extLst>
              <a:ext uri="{FF2B5EF4-FFF2-40B4-BE49-F238E27FC236}">
                <a16:creationId xmlns:a16="http://schemas.microsoft.com/office/drawing/2014/main" id="{F0764553-D2EA-ADA1-1601-5548057274C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598" y="2575290"/>
            <a:ext cx="3833091" cy="3069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0588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0" y="2854036"/>
            <a:ext cx="9144000" cy="646331"/>
          </a:xfrm>
          <a:prstGeom prst="rect">
            <a:avLst/>
          </a:prstGeom>
          <a:noFill/>
        </p:spPr>
        <p:txBody>
          <a:bodyPr wrap="square" rtlCol="0">
            <a:spAutoFit/>
          </a:bodyPr>
          <a:lstStyle/>
          <a:p>
            <a:pPr algn="ctr"/>
            <a:r>
              <a:rPr lang="en-US" sz="3600" b="1" dirty="0">
                <a:latin typeface="Microsoft YaHei UI" panose="020B0503020204020204" pitchFamily="34" charset="-122"/>
                <a:ea typeface="Microsoft YaHei UI" panose="020B0503020204020204" pitchFamily="34" charset="-122"/>
              </a:rPr>
              <a:t>Thank you!</a:t>
            </a: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54111" y="5781964"/>
            <a:ext cx="1076036" cy="1076036"/>
          </a:xfrm>
          <a:prstGeom prst="rect">
            <a:avLst/>
          </a:prstGeom>
        </p:spPr>
      </p:pic>
    </p:spTree>
    <p:extLst>
      <p:ext uri="{BB962C8B-B14F-4D97-AF65-F5344CB8AC3E}">
        <p14:creationId xmlns:p14="http://schemas.microsoft.com/office/powerpoint/2010/main" val="1587092679"/>
      </p:ext>
    </p:extLst>
  </p:cSld>
  <p:clrMapOvr>
    <a:masterClrMapping/>
  </p:clrMapOvr>
  <mc:AlternateContent xmlns:mc="http://schemas.openxmlformats.org/markup-compatibility/2006" xmlns:p14="http://schemas.microsoft.com/office/powerpoint/2010/main">
    <mc:Choice Requires="p14">
      <p:transition spd="slow" p14:dur="2000" advTm="4594"/>
    </mc:Choice>
    <mc:Fallback xmlns="">
      <p:transition spd="slow" advTm="4594"/>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376.4529"/>
  <p:tag name="ORIGINALWIDTH" val="4054.743"/>
  <p:tag name="LATEXADDIN" val="\documentclass{article}&#10;\usepackage[a4paper, total={6in, 8in}]{geometry}&#10;\usepackage{amsmath}&#10;\usepackage{amssymb}&#10;\usepackage{xcolor}&#10;\usepackage{graphicx}&#10;&#10;\pagestyle{empty}&#10;\begin{document}&#10;&#10;&#10;\[ \mathcal{L}(\tilde{\Theta})=\frac{1}{N_{u}} \sum_{i=1}^{N_{u}}\left|u_{\text {target }}^{i}-u_{\tilde{\Theta}}\left(x_{i}^{u}\right)\right|^{2}+\frac{1}{N_{f}} \sum_{i=1}^{N_{f}}\left|\mathcal{F}_{\tilde{\Theta}}\left(x_{i}^{f}\right)\right|^{2}+\text { {\color{red}Interface Loss} } \]&#10;&#10;&#10;\end{document}&#10;"/>
  <p:tag name="IGUANATEXSIZE" val="20"/>
  <p:tag name="IGUANATEXCURSOR" val="479"/>
  <p:tag name="TRANSPARENCY" val="True"/>
  <p:tag name="LATEXENGINEID" val="0"/>
  <p:tag name="TEMPFOLDER" val="c:\temp\"/>
  <p:tag name="LATEXFORMHEIGHT" val="312"/>
  <p:tag name="LATEXFORMWIDTH" val="384"/>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208.099"/>
  <p:tag name="ORIGINALWIDTH" val="3805.024"/>
  <p:tag name="LATEXADDIN" val="\documentclass{article}&#10;\usepackage[a4paper, total={6in, 8in}]{geometry}&#10;\usepackage{amsmath}&#10;\usepackage{amssymb}&#10;\usepackage{xcolor}&#10;\usepackage{graphicx}&#10;&#10;\pagestyle{empty}&#10;\begin{document}&#10;&#10;&#10;\underline{cPINNs}: Interface conditions in the `` $q^{\text {th }}&quot;$ subdomain. \newline&#10;&#10;$\mathrm{MSE}_{\text {flux }}=\sum_{\forall q^{+}}\left(\frac{1}{N_{l_{q}}} \sum_{i=1}^{N_{l q}}\left|f_{q}\left(u\left(\mathbf{x}_{l_{q}}^{(i)}\right)\right) \cdot \mathbf{n}-f_{q^{+}}\left(u\left(\mathbf{x}_{l_{q}}^{(i)}\right) \cdot \mathbf{n}\right)\right|^{2}\right)$ \newline&#10;&#10;where $f$ is the flux and $q=1,2, \cdots, N_{s d}$.\newline&#10;&#10;$\operatorname{MSE}_{u_{\text {avg }}}=\sum_{\forall q^{+}}\left(\frac{1}{N_{l_{q}}} \sum_{i=1}^{N_{l_{q}}}\left|u_{\tilde{\Theta}_{q}}\left(\mathbf{x}_{l_{q}}^{(i)}\right)-\left\{\left\{u_{\tilde{\Theta}_{q}}\left(\mathbf{x}_{l_{q}}^{(i)}\right)\right\}\right\}\right|^{2}\right)$&#10;&#10;&#10;\end{document}&#10;"/>
  <p:tag name="IGUANATEXSIZE" val="20"/>
  <p:tag name="IGUANATEXCURSOR" val="263"/>
  <p:tag name="TRANSPARENCY" val="True"/>
  <p:tag name="LATEXENGINEID" val="0"/>
  <p:tag name="TEMPFOLDER" val="C:\temp\"/>
  <p:tag name="LATEXFORMHEIGHT" val="312"/>
  <p:tag name="LATEXFORMWIDTH" val="384"/>
  <p:tag name="LATEXFORMWRAP" val="True"/>
  <p:tag name="BITMAPVECTOR" val="0"/>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7553</TotalTime>
  <Words>1610</Words>
  <Application>Microsoft Office PowerPoint</Application>
  <PresentationFormat>全屏显示(4:3)</PresentationFormat>
  <Paragraphs>346</Paragraphs>
  <Slides>30</Slides>
  <Notes>9</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30</vt:i4>
      </vt:variant>
    </vt:vector>
  </HeadingPairs>
  <TitlesOfParts>
    <vt:vector size="41" baseType="lpstr">
      <vt:lpstr>Microsoft YaHei UI</vt:lpstr>
      <vt:lpstr>华文楷体</vt:lpstr>
      <vt:lpstr>Arial</vt:lpstr>
      <vt:lpstr>Calibri</vt:lpstr>
      <vt:lpstr>Calibri Light</vt:lpstr>
      <vt:lpstr>Cambria Math</vt:lpstr>
      <vt:lpstr>Times New Roman</vt:lpstr>
      <vt:lpstr>Trebuchet MS</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xhmeng</dc:creator>
  <cp:lastModifiedBy>Xuhui Meng</cp:lastModifiedBy>
  <cp:revision>705</cp:revision>
  <dcterms:created xsi:type="dcterms:W3CDTF">2017-09-04T15:34:47Z</dcterms:created>
  <dcterms:modified xsi:type="dcterms:W3CDTF">2026-04-29T07:10:33Z</dcterms:modified>
</cp:coreProperties>
</file>