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41"/>
  </p:notesMasterIdLst>
  <p:sldIdLst>
    <p:sldId id="256" r:id="rId2"/>
    <p:sldId id="570" r:id="rId3"/>
    <p:sldId id="257" r:id="rId4"/>
    <p:sldId id="313" r:id="rId5"/>
    <p:sldId id="315" r:id="rId6"/>
    <p:sldId id="334" r:id="rId7"/>
    <p:sldId id="327" r:id="rId8"/>
    <p:sldId id="332" r:id="rId9"/>
    <p:sldId id="328" r:id="rId10"/>
    <p:sldId id="331" r:id="rId11"/>
    <p:sldId id="546" r:id="rId12"/>
    <p:sldId id="330" r:id="rId13"/>
    <p:sldId id="329" r:id="rId14"/>
    <p:sldId id="335" r:id="rId15"/>
    <p:sldId id="325" r:id="rId16"/>
    <p:sldId id="547" r:id="rId17"/>
    <p:sldId id="548" r:id="rId18"/>
    <p:sldId id="549" r:id="rId19"/>
    <p:sldId id="550" r:id="rId20"/>
    <p:sldId id="551" r:id="rId21"/>
    <p:sldId id="552" r:id="rId22"/>
    <p:sldId id="553" r:id="rId23"/>
    <p:sldId id="554" r:id="rId24"/>
    <p:sldId id="555" r:id="rId25"/>
    <p:sldId id="556" r:id="rId26"/>
    <p:sldId id="557" r:id="rId27"/>
    <p:sldId id="558" r:id="rId28"/>
    <p:sldId id="559" r:id="rId29"/>
    <p:sldId id="560" r:id="rId30"/>
    <p:sldId id="561" r:id="rId31"/>
    <p:sldId id="562" r:id="rId32"/>
    <p:sldId id="563" r:id="rId33"/>
    <p:sldId id="564" r:id="rId34"/>
    <p:sldId id="565" r:id="rId35"/>
    <p:sldId id="567" r:id="rId36"/>
    <p:sldId id="566" r:id="rId37"/>
    <p:sldId id="568" r:id="rId38"/>
    <p:sldId id="569" r:id="rId39"/>
    <p:sldId id="338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8FD"/>
    <a:srgbClr val="3333FD"/>
    <a:srgbClr val="0000CC"/>
    <a:srgbClr val="CC1704"/>
    <a:srgbClr val="000099"/>
    <a:srgbClr val="003399"/>
    <a:srgbClr val="6732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5619" autoAdjust="0"/>
  </p:normalViewPr>
  <p:slideViewPr>
    <p:cSldViewPr snapToGrid="0">
      <p:cViewPr varScale="1">
        <p:scale>
          <a:sx n="94" d="100"/>
          <a:sy n="94" d="100"/>
        </p:scale>
        <p:origin x="20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CD06-CDB8-463C-82C0-327730F8ACA7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96392-4F4E-4DC5-B4DA-6DF644E23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79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435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22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37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725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938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994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8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397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03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5779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101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357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21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93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01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55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291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722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703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05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88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2498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052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36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728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90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079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39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547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379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004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410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3470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639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971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44251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8916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210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796392-4F4E-4DC5-B4DA-6DF644E23DB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37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69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7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6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75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99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921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1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6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76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8D91E-FFF0-45B5-AFE0-22E101FDFDB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4ABB8-7B63-458F-BB16-CC14DE560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7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6.png"/><Relationship Id="rId7" Type="http://schemas.openxmlformats.org/officeDocument/2006/relationships/image" Target="../media/image39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21.emf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54.png"/><Relationship Id="rId4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emf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375658" y="246221"/>
            <a:ext cx="83926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Scientific Machine Learning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82D0D78-D0B9-403E-B5AC-66E83F5AC8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207" y="155558"/>
            <a:ext cx="973866" cy="7045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72604B1-DFD6-4A0E-BA4B-23A06DBE53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5" r="82409"/>
          <a:stretch/>
        </p:blipFill>
        <p:spPr>
          <a:xfrm>
            <a:off x="992586" y="37675"/>
            <a:ext cx="893400" cy="9403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7CEB32-1021-4218-A4D5-F1083BF5322E}"/>
              </a:ext>
            </a:extLst>
          </p:cNvPr>
          <p:cNvSpPr txBox="1"/>
          <p:nvPr/>
        </p:nvSpPr>
        <p:spPr>
          <a:xfrm>
            <a:off x="285135" y="1784198"/>
            <a:ext cx="8583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9:</a:t>
            </a: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for multi-scale problems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6BF80A-5EF6-4539-ACB8-DA297CF81EAA}"/>
              </a:ext>
            </a:extLst>
          </p:cNvPr>
          <p:cNvSpPr txBox="1"/>
          <p:nvPr/>
        </p:nvSpPr>
        <p:spPr>
          <a:xfrm>
            <a:off x="629265" y="3137509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孟旭辉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6126DFE-D15F-47B5-9240-27C4587C9024}"/>
              </a:ext>
            </a:extLst>
          </p:cNvPr>
          <p:cNvSpPr txBox="1"/>
          <p:nvPr/>
        </p:nvSpPr>
        <p:spPr>
          <a:xfrm>
            <a:off x="629265" y="3648390"/>
            <a:ext cx="7885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数学与统计学院数学与应用学科交叉创新研究院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9D2569-83C5-47AE-B0C1-B755D485CBD5}"/>
              </a:ext>
            </a:extLst>
          </p:cNvPr>
          <p:cNvSpPr txBox="1"/>
          <p:nvPr/>
        </p:nvSpPr>
        <p:spPr>
          <a:xfrm>
            <a:off x="629265" y="4213821"/>
            <a:ext cx="78854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办公室：东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32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楼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111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室</a:t>
            </a:r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endParaRPr lang="en-US" altLang="zh-CN" b="1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Email</a:t>
            </a:r>
            <a:r>
              <a:rPr lang="zh-CN" altLang="en-US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xuhui_meng@hust.edu.cn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361427-37D8-46C8-9C84-F47E163DF02A}"/>
              </a:ext>
            </a:extLst>
          </p:cNvPr>
          <p:cNvSpPr/>
          <p:nvPr/>
        </p:nvSpPr>
        <p:spPr>
          <a:xfrm>
            <a:off x="2497488" y="5505133"/>
            <a:ext cx="4149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https://github.com/XuhuiM/SciML-Course</a:t>
            </a:r>
          </a:p>
        </p:txBody>
      </p:sp>
    </p:spTree>
    <p:extLst>
      <p:ext uri="{BB962C8B-B14F-4D97-AF65-F5344CB8AC3E}">
        <p14:creationId xmlns:p14="http://schemas.microsoft.com/office/powerpoint/2010/main" val="60508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第二次作业：二选一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0019928-CF09-5C67-C859-32701B9C6E1C}"/>
                  </a:ext>
                </a:extLst>
              </p:cNvPr>
              <p:cNvSpPr txBox="1"/>
              <p:nvPr/>
            </p:nvSpPr>
            <p:spPr>
              <a:xfrm>
                <a:off x="1025388" y="1306157"/>
                <a:ext cx="709322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𝑥𝑥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−1,1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endChr m:val="]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=0.01/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2400" dirty="0">
                  <a:solidFill>
                    <a:srgbClr val="2718F0"/>
                  </a:solidFill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0019928-CF09-5C67-C859-32701B9C6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388" y="1306157"/>
                <a:ext cx="7093224" cy="369332"/>
              </a:xfrm>
              <a:prstGeom prst="rect">
                <a:avLst/>
              </a:prstGeom>
              <a:blipFill>
                <a:blip r:embed="rId3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3BF492-39CE-5953-DDE7-819AE94AA40B}"/>
                  </a:ext>
                </a:extLst>
              </p:cNvPr>
              <p:cNvSpPr txBox="1"/>
              <p:nvPr/>
            </p:nvSpPr>
            <p:spPr>
              <a:xfrm>
                <a:off x="1524786" y="1810009"/>
                <a:ext cx="609442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</m:t>
                      </m:r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</a:endParaRPr>
              </a:p>
              <a:p>
                <a:pPr/>
                <a:endParaRPr lang="zh-CN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63BF492-39CE-5953-DDE7-819AE94AA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786" y="1810009"/>
                <a:ext cx="6094428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F8854421-6501-5AEE-4143-73654D20934E}"/>
              </a:ext>
            </a:extLst>
          </p:cNvPr>
          <p:cNvSpPr txBox="1"/>
          <p:nvPr/>
        </p:nvSpPr>
        <p:spPr>
          <a:xfrm>
            <a:off x="243840" y="819186"/>
            <a:ext cx="589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Burgers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4D33E3-281B-B9BE-CB14-BC254852F5FA}"/>
              </a:ext>
            </a:extLst>
          </p:cNvPr>
          <p:cNvSpPr txBox="1"/>
          <p:nvPr/>
        </p:nvSpPr>
        <p:spPr>
          <a:xfrm>
            <a:off x="619760" y="2387059"/>
            <a:ext cx="770128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均匀或者随机选点</a:t>
            </a: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自适应加点</a:t>
            </a: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…</a:t>
            </a:r>
            <a:endParaRPr lang="zh-CN" altLang="en-US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B1407B6-DD14-E86D-67A3-126F85F9BAD9}"/>
              </a:ext>
            </a:extLst>
          </p:cNvPr>
          <p:cNvSpPr txBox="1"/>
          <p:nvPr/>
        </p:nvSpPr>
        <p:spPr>
          <a:xfrm>
            <a:off x="243840" y="3972217"/>
            <a:ext cx="589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Allen-Cahn </a:t>
            </a:r>
            <a:r>
              <a:rPr lang="zh-CN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1">
                <a:extLst>
                  <a:ext uri="{FF2B5EF4-FFF2-40B4-BE49-F238E27FC236}">
                    <a16:creationId xmlns:a16="http://schemas.microsoft.com/office/drawing/2014/main" id="{7D60F501-8060-2B58-FF60-00D9623C981E}"/>
                  </a:ext>
                </a:extLst>
              </p:cNvPr>
              <p:cNvSpPr txBox="1"/>
              <p:nvPr/>
            </p:nvSpPr>
            <p:spPr>
              <a:xfrm>
                <a:off x="619760" y="4433583"/>
                <a:ext cx="4437821" cy="681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=0.0001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0,1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∈[−1, 1]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>
          <p:sp>
            <p:nvSpPr>
              <p:cNvPr id="48" name="TextBox 1">
                <a:extLst>
                  <a:ext uri="{FF2B5EF4-FFF2-40B4-BE49-F238E27FC236}">
                    <a16:creationId xmlns:a16="http://schemas.microsoft.com/office/drawing/2014/main" id="{7D60F501-8060-2B58-FF60-00D9623C9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760" y="4433583"/>
                <a:ext cx="4437821" cy="681982"/>
              </a:xfrm>
              <a:prstGeom prst="rect">
                <a:avLst/>
              </a:prstGeom>
              <a:blipFill>
                <a:blip r:embed="rId5"/>
                <a:stretch>
                  <a:fillRect b="-26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10">
                <a:extLst>
                  <a:ext uri="{FF2B5EF4-FFF2-40B4-BE49-F238E27FC236}">
                    <a16:creationId xmlns:a16="http://schemas.microsoft.com/office/drawing/2014/main" id="{0E6FABCA-4114-7A7E-07C4-C3053DD70F1E}"/>
                  </a:ext>
                </a:extLst>
              </p:cNvPr>
              <p:cNvSpPr txBox="1"/>
              <p:nvPr/>
            </p:nvSpPr>
            <p:spPr>
              <a:xfrm>
                <a:off x="5131189" y="4433583"/>
                <a:ext cx="331966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𝐼𝐶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𝐵𝐶𝑠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10">
                <a:extLst>
                  <a:ext uri="{FF2B5EF4-FFF2-40B4-BE49-F238E27FC236}">
                    <a16:creationId xmlns:a16="http://schemas.microsoft.com/office/drawing/2014/main" id="{0E6FABCA-4114-7A7E-07C4-C3053DD7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189" y="4433583"/>
                <a:ext cx="3319669" cy="646331"/>
              </a:xfrm>
              <a:prstGeom prst="rect">
                <a:avLst/>
              </a:prstGeom>
              <a:blipFill>
                <a:blip r:embed="rId6"/>
                <a:stretch>
                  <a:fillRect b="-7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E1C3BEE0-DE8A-133D-5F16-1076EC8998A0}"/>
              </a:ext>
            </a:extLst>
          </p:cNvPr>
          <p:cNvSpPr txBox="1"/>
          <p:nvPr/>
        </p:nvSpPr>
        <p:spPr>
          <a:xfrm>
            <a:off x="619760" y="5190694"/>
            <a:ext cx="7701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所有权系数均为</a:t>
            </a: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1</a:t>
            </a: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自适应加权</a:t>
            </a: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9419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3"/>
          <p:cNvSpPr txBox="1"/>
          <p:nvPr/>
        </p:nvSpPr>
        <p:spPr>
          <a:xfrm>
            <a:off x="1302906" y="3749681"/>
            <a:ext cx="6756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School of Aeronautic Science and Engineering, </a:t>
            </a:r>
          </a:p>
          <a:p>
            <a:pPr algn="ctr"/>
            <a:r>
              <a:rPr lang="en-US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Beihang</a:t>
            </a:r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University, China</a:t>
            </a:r>
          </a:p>
        </p:txBody>
      </p:sp>
      <p:sp>
        <p:nvSpPr>
          <p:cNvPr id="17" name="文本框 13">
            <a:extLst>
              <a:ext uri="{FF2B5EF4-FFF2-40B4-BE49-F238E27FC236}">
                <a16:creationId xmlns:a16="http://schemas.microsoft.com/office/drawing/2014/main" id="{02DF297C-9DD4-4B76-BDB2-4D72E5545CD5}"/>
              </a:ext>
            </a:extLst>
          </p:cNvPr>
          <p:cNvSpPr txBox="1"/>
          <p:nvPr/>
        </p:nvSpPr>
        <p:spPr>
          <a:xfrm>
            <a:off x="1633679" y="3114364"/>
            <a:ext cx="6022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Jun Zhang, </a:t>
            </a:r>
            <a:r>
              <a:rPr lang="en-US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Wenjun</a:t>
            </a:r>
            <a:r>
              <a:rPr 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Ma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-3" y="1425746"/>
            <a:ext cx="9144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Data-driven discovery of governing equations for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fluid dynamics based on molecular simulation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19333" y="2477580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Fluid Mech. (2020), vol. 892, A5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207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Background (1/2): Gas flow regimes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919015" y="1018944"/>
            <a:ext cx="2509404" cy="1051701"/>
            <a:chOff x="314844" y="1920696"/>
            <a:chExt cx="2509404" cy="1051701"/>
          </a:xfrm>
        </p:grpSpPr>
        <p:grpSp>
          <p:nvGrpSpPr>
            <p:cNvPr id="38" name="Group 37"/>
            <p:cNvGrpSpPr/>
            <p:nvPr/>
          </p:nvGrpSpPr>
          <p:grpSpPr>
            <a:xfrm>
              <a:off x="314844" y="1920696"/>
              <a:ext cx="2509404" cy="1051701"/>
              <a:chOff x="264968" y="2932770"/>
              <a:chExt cx="2509404" cy="1051701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264968" y="3034146"/>
                <a:ext cx="2509404" cy="84166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 flipV="1">
                <a:off x="472786" y="2935421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V="1">
                <a:off x="634711" y="2935421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flipV="1">
                <a:off x="796636" y="2935421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flipV="1">
                <a:off x="958561" y="2932997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1120486" y="2932997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1282411" y="2932997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1444336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V="1">
                <a:off x="1602368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1768186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1933190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 flipV="1">
                <a:off x="2094354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flipV="1">
                <a:off x="2253961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2413568" y="2942706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2578572" y="2932770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 rot="5400000" flipV="1">
                <a:off x="381346" y="3885746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rot="5400000" flipV="1">
                <a:off x="543271" y="3885746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rot="5400000" flipV="1">
                <a:off x="705196" y="3885746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 rot="5400000" flipV="1">
                <a:off x="867121" y="3883322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rot="5400000" flipV="1">
                <a:off x="1029046" y="3883322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rot="5400000" flipV="1">
                <a:off x="1190971" y="3883322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 rot="5400000" flipV="1">
                <a:off x="1352896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rot="5400000" flipV="1">
                <a:off x="1510928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5400000" flipV="1">
                <a:off x="1676746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rot="5400000" flipV="1">
                <a:off x="1841750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rot="5400000" flipV="1">
                <a:off x="2002914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rot="5400000" flipV="1">
                <a:off x="2162521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rot="5400000" flipV="1">
                <a:off x="2322128" y="3893031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>
              <a:xfrm rot="5400000" flipV="1">
                <a:off x="2487132" y="3883095"/>
                <a:ext cx="91440" cy="9144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Arrow Connector 39"/>
            <p:cNvCxnSpPr>
              <a:stCxn id="3" idx="0"/>
              <a:endCxn id="3" idx="2"/>
            </p:cNvCxnSpPr>
            <p:nvPr/>
          </p:nvCxnSpPr>
          <p:spPr>
            <a:xfrm>
              <a:off x="1569546" y="2022072"/>
              <a:ext cx="0" cy="841664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556271" y="2289015"/>
              <a:ext cx="40054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684587" y="2289015"/>
              <a:ext cx="91440" cy="9144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853154" y="2585086"/>
              <a:ext cx="91440" cy="9144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1247816" y="2551072"/>
              <a:ext cx="91440" cy="9144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/>
            <p:cNvSpPr/>
            <p:nvPr/>
          </p:nvSpPr>
          <p:spPr>
            <a:xfrm>
              <a:off x="1197382" y="2240852"/>
              <a:ext cx="91440" cy="9144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/>
            <p:cNvSpPr/>
            <p:nvPr/>
          </p:nvSpPr>
          <p:spPr>
            <a:xfrm>
              <a:off x="1935982" y="2197575"/>
              <a:ext cx="91440" cy="9144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/>
            <p:cNvSpPr/>
            <p:nvPr/>
          </p:nvSpPr>
          <p:spPr>
            <a:xfrm>
              <a:off x="2180788" y="2505352"/>
              <a:ext cx="91440" cy="91440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Arrow Connector 48"/>
            <p:cNvCxnSpPr>
              <a:stCxn id="42" idx="6"/>
              <a:endCxn id="45" idx="2"/>
            </p:cNvCxnSpPr>
            <p:nvPr/>
          </p:nvCxnSpPr>
          <p:spPr>
            <a:xfrm flipV="1">
              <a:off x="776027" y="2286572"/>
              <a:ext cx="421355" cy="48163"/>
            </a:xfrm>
            <a:prstGeom prst="straightConnector1">
              <a:avLst/>
            </a:prstGeom>
            <a:ln w="15875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793965" y="2261474"/>
                  <a:ext cx="46707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965" y="2261474"/>
                  <a:ext cx="46707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3076836" y="1236538"/>
                <a:ext cx="2800350" cy="616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836" y="1236538"/>
                <a:ext cx="2800350" cy="6165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7" name="Picture 5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78" t="2197" r="10667" b="11667"/>
          <a:stretch/>
        </p:blipFill>
        <p:spPr>
          <a:xfrm>
            <a:off x="6387160" y="2872280"/>
            <a:ext cx="2574999" cy="255477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457950" y="5665116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Red: LBM Black: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Nektar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57950" y="6171900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 error: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0.12%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0.16%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134" y="2502948"/>
            <a:ext cx="382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 = 100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111694" y="2457474"/>
            <a:ext cx="5793638" cy="3714426"/>
            <a:chOff x="111694" y="2457474"/>
            <a:chExt cx="5793638" cy="3714426"/>
          </a:xfrm>
        </p:grpSpPr>
        <p:pic>
          <p:nvPicPr>
            <p:cNvPr id="56" name="Picture 5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694" y="2457474"/>
              <a:ext cx="5793638" cy="3714426"/>
            </a:xfrm>
            <a:prstGeom prst="rect">
              <a:avLst/>
            </a:prstGeom>
          </p:spPr>
        </p:pic>
        <p:sp>
          <p:nvSpPr>
            <p:cNvPr id="53" name="Round Single Corner Rectangle 52"/>
            <p:cNvSpPr/>
            <p:nvPr/>
          </p:nvSpPr>
          <p:spPr>
            <a:xfrm>
              <a:off x="3699163" y="3953741"/>
              <a:ext cx="1096241" cy="1200150"/>
            </a:xfrm>
            <a:prstGeom prst="round1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190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Background (2/2): Upscaling </a:t>
            </a:r>
            <a:r>
              <a:rPr lang="en-US" sz="2400" b="1" i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vs</a:t>
            </a: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Downscaling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13" y="1931114"/>
            <a:ext cx="2321419" cy="1955493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3875167" y="2908861"/>
            <a:ext cx="1808018" cy="254577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t="49638"/>
          <a:stretch/>
        </p:blipFill>
        <p:spPr>
          <a:xfrm>
            <a:off x="7101292" y="2608176"/>
            <a:ext cx="1424447" cy="8564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b="49642"/>
          <a:stretch/>
        </p:blipFill>
        <p:spPr>
          <a:xfrm>
            <a:off x="5683185" y="2649152"/>
            <a:ext cx="1356404" cy="815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415" y="1361210"/>
            <a:ext cx="27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7485" y="1361210"/>
            <a:ext cx="27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997" y="2464486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513" y="4125281"/>
            <a:ext cx="2321419" cy="1955493"/>
          </a:xfrm>
          <a:prstGeom prst="rect">
            <a:avLst/>
          </a:prstGeom>
        </p:spPr>
      </p:pic>
      <p:sp>
        <p:nvSpPr>
          <p:cNvPr id="11" name="Right Arrow 10"/>
          <p:cNvSpPr/>
          <p:nvPr/>
        </p:nvSpPr>
        <p:spPr>
          <a:xfrm rot="10800000">
            <a:off x="3929467" y="5103028"/>
            <a:ext cx="1808018" cy="25457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24297" y="4658653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downscaling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60019" y="5027985"/>
                <a:ext cx="22617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019" y="5027985"/>
                <a:ext cx="226172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109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66" y="4779671"/>
            <a:ext cx="4089214" cy="1859314"/>
          </a:xfrm>
          <a:prstGeom prst="rect">
            <a:avLst/>
          </a:prstGeom>
        </p:spPr>
      </p:pic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Background (2/2): Upscaling </a:t>
            </a:r>
            <a:r>
              <a:rPr lang="en-US" sz="2400" b="1" i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vs</a:t>
            </a: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Downscaling: PINNs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611" y="935183"/>
            <a:ext cx="27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2681" y="935183"/>
            <a:ext cx="27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857" y="1744537"/>
            <a:ext cx="5256838" cy="22904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5" y="1421683"/>
            <a:ext cx="3838265" cy="4343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2157" y="1421683"/>
            <a:ext cx="2699472" cy="558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0554" y="3727239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et al, SISC.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15462" y="1529402"/>
            <a:ext cx="1808018" cy="254577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0292" y="1085027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/>
          <a:srcRect l="23847" r="15368" b="34288"/>
          <a:stretch/>
        </p:blipFill>
        <p:spPr>
          <a:xfrm>
            <a:off x="6400331" y="4047893"/>
            <a:ext cx="2350359" cy="9544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331" y="6550223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Yang, et al, arxiv.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903" y="4149421"/>
            <a:ext cx="3269520" cy="632700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 rot="10800000">
            <a:off x="3934663" y="4525094"/>
            <a:ext cx="1808018" cy="25457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29493" y="4080719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downscaling</a:t>
            </a:r>
          </a:p>
        </p:txBody>
      </p:sp>
    </p:spTree>
    <p:extLst>
      <p:ext uri="{BB962C8B-B14F-4D97-AF65-F5344CB8AC3E}">
        <p14:creationId xmlns:p14="http://schemas.microsoft.com/office/powerpoint/2010/main" val="1885090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Motivation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34" y="3811868"/>
            <a:ext cx="2321419" cy="195549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536753" y="3964132"/>
            <a:ext cx="4265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irect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imulation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arlo (DSMC)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7285" y="3964132"/>
            <a:ext cx="213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Boltzmann equation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531371" y="4068268"/>
            <a:ext cx="555914" cy="16105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/>
          <a:srcRect t="49638"/>
          <a:stretch/>
        </p:blipFill>
        <p:spPr>
          <a:xfrm>
            <a:off x="4243792" y="5318665"/>
            <a:ext cx="1424447" cy="85641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/>
          <a:srcRect b="49642"/>
          <a:stretch/>
        </p:blipFill>
        <p:spPr>
          <a:xfrm>
            <a:off x="2825685" y="5359641"/>
            <a:ext cx="1356404" cy="815439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 rot="5400000">
            <a:off x="4095045" y="4808320"/>
            <a:ext cx="555914" cy="16105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5729942" y="5869924"/>
            <a:ext cx="555914" cy="16105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58634" y="5746872"/>
            <a:ext cx="2784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(Generalized) NS equations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8634" y="6343384"/>
            <a:ext cx="33926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Bird, et al, POF. (1963)</a:t>
            </a:r>
          </a:p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White, et al, CPC, (2017)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11583" y="4661886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144484" y="928870"/>
            <a:ext cx="4457035" cy="2857501"/>
            <a:chOff x="2144484" y="928870"/>
            <a:chExt cx="4457035" cy="2857501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4484" y="928870"/>
              <a:ext cx="4457035" cy="2857501"/>
            </a:xfrm>
            <a:prstGeom prst="rect">
              <a:avLst/>
            </a:prstGeom>
          </p:spPr>
        </p:pic>
        <p:sp>
          <p:nvSpPr>
            <p:cNvPr id="3" name="Round Single Corner Rectangle 2"/>
            <p:cNvSpPr/>
            <p:nvPr/>
          </p:nvSpPr>
          <p:spPr>
            <a:xfrm>
              <a:off x="4899314" y="2093768"/>
              <a:ext cx="830628" cy="893618"/>
            </a:xfrm>
            <a:prstGeom prst="round1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78366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585" y="1148074"/>
            <a:ext cx="5138304" cy="9392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3147" y="3244228"/>
            <a:ext cx="6575173" cy="15835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59" y="2369132"/>
            <a:ext cx="8565823" cy="3532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9502" y="5349636"/>
            <a:ext cx="3564996" cy="6157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29715" y="6068291"/>
            <a:ext cx="307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Finite Difference</a:t>
            </a:r>
          </a:p>
        </p:txBody>
      </p:sp>
    </p:spTree>
    <p:extLst>
      <p:ext uri="{BB962C8B-B14F-4D97-AF65-F5344CB8AC3E}">
        <p14:creationId xmlns:p14="http://schemas.microsoft.com/office/powerpoint/2010/main" val="18322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Results (1/3): Shear flow (Argon gas)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088571" y="1014319"/>
                <a:ext cx="5034395" cy="1483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Pressure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=1.0×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Temperature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=273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density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=2.69×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571" y="1014319"/>
                <a:ext cx="5034395" cy="1483483"/>
              </a:xfrm>
              <a:prstGeom prst="rect">
                <a:avLst/>
              </a:prstGeom>
              <a:blipFill>
                <a:blip r:embed="rId3"/>
                <a:stretch>
                  <a:fillRect l="-1091" t="-2049" b="-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467590" y="1070262"/>
            <a:ext cx="1371600" cy="1371600"/>
            <a:chOff x="763731" y="1252104"/>
            <a:chExt cx="1371600" cy="1371600"/>
          </a:xfrm>
        </p:grpSpPr>
        <p:sp>
          <p:nvSpPr>
            <p:cNvPr id="2" name="Rectangle 1"/>
            <p:cNvSpPr/>
            <p:nvPr/>
          </p:nvSpPr>
          <p:spPr>
            <a:xfrm>
              <a:off x="763731" y="1252104"/>
              <a:ext cx="1371600" cy="1371600"/>
            </a:xfrm>
            <a:prstGeom prst="rect">
              <a:avLst/>
            </a:prstGeom>
            <a:solidFill>
              <a:schemeClr val="bg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2" idx="0"/>
              <a:endCxn id="2" idx="2"/>
            </p:cNvCxnSpPr>
            <p:nvPr/>
          </p:nvCxnSpPr>
          <p:spPr>
            <a:xfrm>
              <a:off x="1449531" y="1252104"/>
              <a:ext cx="0" cy="137160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200150" y="1784015"/>
              <a:ext cx="4208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007675" y="900120"/>
                <a:ext cx="3136325" cy="1711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=1/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𝑘𝑇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675" y="900120"/>
                <a:ext cx="3136325" cy="17118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39041" y="2726198"/>
                <a:ext cx="8468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256×256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4000 molecules in each cell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41" y="2726198"/>
                <a:ext cx="8468591" cy="369332"/>
              </a:xfrm>
              <a:prstGeom prst="rect">
                <a:avLst/>
              </a:prstGeom>
              <a:blipFill>
                <a:blip r:embed="rId5"/>
                <a:stretch>
                  <a:fillRect l="-64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39040" y="3220628"/>
                <a:ext cx="8468591" cy="2722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condition: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1 −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=0.13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velocity for each molecule: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random thermal velocity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step: 0.1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Macroscopic velocity: 10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along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(spatial-temporal average)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computational time: 1000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40" y="3220628"/>
                <a:ext cx="8468591" cy="2722861"/>
              </a:xfrm>
              <a:prstGeom prst="rect">
                <a:avLst/>
              </a:prstGeom>
              <a:blipFill>
                <a:blip r:embed="rId6"/>
                <a:stretch>
                  <a:fillRect l="-648" b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348096" y="1070260"/>
            <a:ext cx="1569028" cy="422121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16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Results (1/3): Shear flow (Argon gas)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007917" y="893616"/>
            <a:ext cx="1371600" cy="1371600"/>
            <a:chOff x="763731" y="1252104"/>
            <a:chExt cx="1371600" cy="1371600"/>
          </a:xfrm>
        </p:grpSpPr>
        <p:sp>
          <p:nvSpPr>
            <p:cNvPr id="2" name="Rectangle 1"/>
            <p:cNvSpPr/>
            <p:nvPr/>
          </p:nvSpPr>
          <p:spPr>
            <a:xfrm>
              <a:off x="763731" y="1252104"/>
              <a:ext cx="1371600" cy="1371600"/>
            </a:xfrm>
            <a:prstGeom prst="rect">
              <a:avLst/>
            </a:prstGeom>
            <a:solidFill>
              <a:schemeClr val="bg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2" idx="0"/>
              <a:endCxn id="2" idx="2"/>
            </p:cNvCxnSpPr>
            <p:nvPr/>
          </p:nvCxnSpPr>
          <p:spPr>
            <a:xfrm>
              <a:off x="1449531" y="1252104"/>
              <a:ext cx="0" cy="137160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1200150" y="1784015"/>
              <a:ext cx="4208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817917" y="1186762"/>
                <a:ext cx="3136325" cy="618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≈0.49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7917" y="1186762"/>
                <a:ext cx="3136325" cy="618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88573" y="1148195"/>
                <a:ext cx="3719945" cy="695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573" y="1148195"/>
                <a:ext cx="3719945" cy="6954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-1137803" y="2599395"/>
                <a:ext cx="7471063" cy="2049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≈0.3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=4000×100×256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≈0.03%</m:t>
                      </m:r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37803" y="2599395"/>
                <a:ext cx="7471063" cy="20496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/>
            </p:nvGraphicFramePr>
            <p:xfrm>
              <a:off x="1007917" y="4711699"/>
              <a:ext cx="7474530" cy="18946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906">
                      <a:extLst>
                        <a:ext uri="{9D8B030D-6E8A-4147-A177-3AD203B41FA5}">
                          <a16:colId xmlns:a16="http://schemas.microsoft.com/office/drawing/2014/main" val="1971288997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3027302152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3931572042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403332933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2646608759"/>
                        </a:ext>
                      </a:extLst>
                    </a:gridCol>
                  </a:tblGrid>
                  <a:tr h="63153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𝟕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e>
                                  <m:sup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536093921"/>
                      </a:ext>
                    </a:extLst>
                  </a:tr>
                  <a:tr h="63153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0.03%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0.1%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0.3%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1%</a:t>
                          </a: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890882335"/>
                      </a:ext>
                    </a:extLst>
                  </a:tr>
                  <a:tr h="63153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Error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2%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4%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6%</a:t>
                          </a:r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---- </a:t>
                          </a:r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56717811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27592114"/>
                  </p:ext>
                </p:extLst>
              </p:nvPr>
            </p:nvGraphicFramePr>
            <p:xfrm>
              <a:off x="1007917" y="4711699"/>
              <a:ext cx="7474530" cy="18946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4906">
                      <a:extLst>
                        <a:ext uri="{9D8B030D-6E8A-4147-A177-3AD203B41FA5}">
                          <a16:colId xmlns:a16="http://schemas.microsoft.com/office/drawing/2014/main" val="1971288997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3027302152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3931572042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403332933"/>
                        </a:ext>
                      </a:extLst>
                    </a:gridCol>
                    <a:gridCol w="1494906">
                      <a:extLst>
                        <a:ext uri="{9D8B030D-6E8A-4147-A177-3AD203B41FA5}">
                          <a16:colId xmlns:a16="http://schemas.microsoft.com/office/drawing/2014/main" val="2646608759"/>
                        </a:ext>
                      </a:extLst>
                    </a:gridCol>
                  </a:tblGrid>
                  <a:tr h="631537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6"/>
                          <a:stretch>
                            <a:fillRect l="-100000" t="-962" r="-300813" b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6"/>
                          <a:stretch>
                            <a:fillRect l="-200816" t="-962" r="-202041" b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6"/>
                          <a:stretch>
                            <a:fillRect l="-299593" t="-962" r="-101220" b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6"/>
                          <a:stretch>
                            <a:fillRect l="-401224" t="-962" r="-1633" b="-2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6093921"/>
                      </a:ext>
                    </a:extLst>
                  </a:tr>
                  <a:tr h="6315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anchorCtr="1">
                        <a:blipFill>
                          <a:blip r:embed="rId6"/>
                          <a:stretch>
                            <a:fillRect l="-408" t="-100962" r="-402449" b="-1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0.03%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0.1%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0.3%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2890882335"/>
                      </a:ext>
                    </a:extLst>
                  </a:tr>
                  <a:tr h="631537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Error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4%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6%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---- </a:t>
                          </a:r>
                          <a:endParaRPr lang="en-US" dirty="0"/>
                        </a:p>
                      </a:txBody>
                      <a:tcPr anchor="ctr" anchorCtr="1"/>
                    </a:tc>
                    <a:extLst>
                      <a:ext uri="{0D108BD9-81ED-4DB2-BD59-A6C34878D82A}">
                        <a16:rowId xmlns:a16="http://schemas.microsoft.com/office/drawing/2014/main" val="356717811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72000" y="3150298"/>
                <a:ext cx="3719945" cy="695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=(0.49±0.01)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150298"/>
                <a:ext cx="3719945" cy="69544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/>
          <p:cNvSpPr/>
          <p:nvPr/>
        </p:nvSpPr>
        <p:spPr>
          <a:xfrm>
            <a:off x="4218709" y="3371850"/>
            <a:ext cx="800100" cy="252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8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Results (2/3): Diffusion problem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67590" y="1070262"/>
            <a:ext cx="1371600" cy="1371600"/>
            <a:chOff x="763731" y="1252104"/>
            <a:chExt cx="1371600" cy="1371600"/>
          </a:xfrm>
        </p:grpSpPr>
        <p:sp>
          <p:nvSpPr>
            <p:cNvPr id="4" name="Rectangle 3"/>
            <p:cNvSpPr/>
            <p:nvPr/>
          </p:nvSpPr>
          <p:spPr>
            <a:xfrm>
              <a:off x="763731" y="1252104"/>
              <a:ext cx="1371600" cy="1371600"/>
            </a:xfrm>
            <a:prstGeom prst="rect">
              <a:avLst/>
            </a:prstGeom>
            <a:solidFill>
              <a:schemeClr val="bg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4" idx="0"/>
              <a:endCxn id="4" idx="2"/>
            </p:cNvCxnSpPr>
            <p:nvPr/>
          </p:nvCxnSpPr>
          <p:spPr>
            <a:xfrm>
              <a:off x="1449531" y="1252104"/>
              <a:ext cx="0" cy="137160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200150" y="1784015"/>
              <a:ext cx="4208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24940" y="931191"/>
                <a:ext cx="5034395" cy="21680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Diffusion of two species: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=0.5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940" y="931191"/>
                <a:ext cx="5034395" cy="2168029"/>
              </a:xfrm>
              <a:prstGeom prst="rect">
                <a:avLst/>
              </a:prstGeom>
              <a:blipFill>
                <a:blip r:embed="rId3"/>
                <a:stretch>
                  <a:fillRect l="-1091" t="-1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1222" y="2929813"/>
                <a:ext cx="84685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256×256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4000 molecules in each cell (representing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 molecules)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22" y="2929813"/>
                <a:ext cx="8468591" cy="369332"/>
              </a:xfrm>
              <a:prstGeom prst="rect">
                <a:avLst/>
              </a:prstGeom>
              <a:blipFill>
                <a:blip r:embed="rId4"/>
                <a:stretch>
                  <a:fillRect l="-648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67590" y="3506862"/>
                <a:ext cx="846859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Velocity 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step: 0.1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Macroscopic velocity: 10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along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(spatial-temporal average)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computational time: 1000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90" y="3506862"/>
                <a:ext cx="8468591" cy="2031325"/>
              </a:xfrm>
              <a:prstGeom prst="rect">
                <a:avLst/>
              </a:prstGeom>
              <a:blipFill>
                <a:blip r:embed="rId5"/>
                <a:stretch>
                  <a:fillRect l="-648" t="-1502" b="-36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48096" y="1070260"/>
            <a:ext cx="1569028" cy="422121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0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Results (2/3): Diffusion problem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71599" y="1054304"/>
            <a:ext cx="1371600" cy="1371600"/>
            <a:chOff x="763731" y="1252104"/>
            <a:chExt cx="1371600" cy="1371600"/>
          </a:xfrm>
        </p:grpSpPr>
        <p:sp>
          <p:nvSpPr>
            <p:cNvPr id="4" name="Rectangle 3"/>
            <p:cNvSpPr/>
            <p:nvPr/>
          </p:nvSpPr>
          <p:spPr>
            <a:xfrm>
              <a:off x="763731" y="1252104"/>
              <a:ext cx="1371600" cy="1371600"/>
            </a:xfrm>
            <a:prstGeom prst="rect">
              <a:avLst/>
            </a:prstGeom>
            <a:solidFill>
              <a:schemeClr val="bg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4" idx="0"/>
              <a:endCxn id="4" idx="2"/>
            </p:cNvCxnSpPr>
            <p:nvPr/>
          </p:nvCxnSpPr>
          <p:spPr>
            <a:xfrm>
              <a:off x="1449531" y="1252104"/>
              <a:ext cx="0" cy="137160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200150" y="1784015"/>
              <a:ext cx="4208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39984" y="1430948"/>
                <a:ext cx="3136325" cy="618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≈0.59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984" y="1430948"/>
                <a:ext cx="3136325" cy="6183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010640" y="1392381"/>
                <a:ext cx="3719945" cy="695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640" y="1392381"/>
                <a:ext cx="3719945" cy="6954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-1106632" y="2773149"/>
                <a:ext cx="74710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=4000×100×256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6632" y="2773149"/>
                <a:ext cx="747106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04459" y="2619739"/>
                <a:ext cx="3719945" cy="695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=(0.59±0.01)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459" y="2619739"/>
                <a:ext cx="3719945" cy="6954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Arrow 14"/>
          <p:cNvSpPr/>
          <p:nvPr/>
        </p:nvSpPr>
        <p:spPr>
          <a:xfrm>
            <a:off x="4104409" y="2831642"/>
            <a:ext cx="800100" cy="252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95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Results (3/3): Taylor-Green vortex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47083" y="1012741"/>
            <a:ext cx="1371600" cy="1371600"/>
            <a:chOff x="763731" y="1252104"/>
            <a:chExt cx="1371600" cy="1371600"/>
          </a:xfrm>
        </p:grpSpPr>
        <p:sp>
          <p:nvSpPr>
            <p:cNvPr id="4" name="Rectangle 3"/>
            <p:cNvSpPr/>
            <p:nvPr/>
          </p:nvSpPr>
          <p:spPr>
            <a:xfrm>
              <a:off x="763731" y="1252104"/>
              <a:ext cx="1371600" cy="1371600"/>
            </a:xfrm>
            <a:prstGeom prst="rect">
              <a:avLst/>
            </a:prstGeom>
            <a:solidFill>
              <a:schemeClr val="bg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4" idx="0"/>
              <a:endCxn id="4" idx="2"/>
            </p:cNvCxnSpPr>
            <p:nvPr/>
          </p:nvCxnSpPr>
          <p:spPr>
            <a:xfrm>
              <a:off x="1449531" y="1252104"/>
              <a:ext cx="0" cy="137160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200150" y="1784015"/>
              <a:ext cx="4208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1222" y="2929813"/>
                <a:ext cx="8468591" cy="3724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Grid: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64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×64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molecules in each cell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22" y="2929813"/>
                <a:ext cx="8468591" cy="372410"/>
              </a:xfrm>
              <a:prstGeom prst="rect">
                <a:avLst/>
              </a:prstGeom>
              <a:blipFill>
                <a:blip r:embed="rId3"/>
                <a:stretch>
                  <a:fillRect l="-648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67590" y="3506862"/>
                <a:ext cx="8468591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condition: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step: 0.1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Macroscopic velocity: 10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each cell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computational time: 650</a:t>
                </a:r>
                <a:r>
                  <a:rPr lang="en-US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90" y="3506862"/>
                <a:ext cx="8468591" cy="2308324"/>
              </a:xfrm>
              <a:prstGeom prst="rect">
                <a:avLst/>
              </a:prstGeom>
              <a:blipFill>
                <a:blip r:embed="rId4"/>
                <a:stretch>
                  <a:fillRect l="-648" t="-1319" b="-2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0980" y="1012741"/>
            <a:ext cx="3990110" cy="144658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830" y="1386698"/>
            <a:ext cx="1040488" cy="22162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7133" y="1718762"/>
            <a:ext cx="3483716" cy="61343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4701" y="3835218"/>
            <a:ext cx="2818080" cy="506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481205" y="3899837"/>
                <a:ext cx="14131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=200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205" y="3899837"/>
                <a:ext cx="141316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103910" y="960777"/>
            <a:ext cx="327312" cy="265847"/>
          </a:xfrm>
          <a:prstGeom prst="rect">
            <a:avLst/>
          </a:prstGeom>
          <a:noFill/>
          <a:ln w="158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7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Results (3/3): Taylor-Green vortex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823604" y="1012738"/>
            <a:ext cx="1371600" cy="1371600"/>
            <a:chOff x="763731" y="1252104"/>
            <a:chExt cx="1371600" cy="1371600"/>
          </a:xfrm>
        </p:grpSpPr>
        <p:sp>
          <p:nvSpPr>
            <p:cNvPr id="4" name="Rectangle 3"/>
            <p:cNvSpPr/>
            <p:nvPr/>
          </p:nvSpPr>
          <p:spPr>
            <a:xfrm>
              <a:off x="763731" y="1252104"/>
              <a:ext cx="1371600" cy="1371600"/>
            </a:xfrm>
            <a:prstGeom prst="rect">
              <a:avLst/>
            </a:prstGeom>
            <a:solidFill>
              <a:schemeClr val="bg2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/>
            <p:cNvCxnSpPr>
              <a:stCxn id="4" idx="0"/>
              <a:endCxn id="4" idx="2"/>
            </p:cNvCxnSpPr>
            <p:nvPr/>
          </p:nvCxnSpPr>
          <p:spPr>
            <a:xfrm>
              <a:off x="1449531" y="1252104"/>
              <a:ext cx="0" cy="137160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200150" y="1784015"/>
              <a:ext cx="42083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2078" y="1391820"/>
            <a:ext cx="3483716" cy="6134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746607" y="3026125"/>
                <a:ext cx="14270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≈0.0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607" y="3026125"/>
                <a:ext cx="142705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78" y="3730133"/>
            <a:ext cx="8920273" cy="20488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73664" y="5834705"/>
                <a:ext cx="20376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=1.01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3664" y="5834705"/>
                <a:ext cx="203762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898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2736" y="3527713"/>
            <a:ext cx="924790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Neural Networks: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Differentiation vs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 Difference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Physics-informed Neural Networks: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Arbitrary measurements vs </a:t>
            </a:r>
            <a:r>
              <a:rPr lang="en-US" sz="20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b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equations beyond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Navier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-Stokes equations –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0.1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736" y="973168"/>
            <a:ext cx="8998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DSMC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Macroscopic governing equations (Continuum regime)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Down Arrow 15"/>
          <p:cNvSpPr/>
          <p:nvPr/>
        </p:nvSpPr>
        <p:spPr>
          <a:xfrm>
            <a:off x="3901786" y="1538693"/>
            <a:ext cx="394855" cy="1823604"/>
          </a:xfrm>
          <a:prstGeom prst="down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50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452A146-20B8-4FD8-A214-319B3897D56E}"/>
              </a:ext>
            </a:extLst>
          </p:cNvPr>
          <p:cNvSpPr txBox="1"/>
          <p:nvPr/>
        </p:nvSpPr>
        <p:spPr>
          <a:xfrm>
            <a:off x="-55847" y="1113291"/>
            <a:ext cx="914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Solving Inverse Stochastic Problems from Discrete Particle Observations Using the Fokker--Planck Equation and Physics-Informed Neural</a:t>
            </a:r>
          </a:p>
          <a:p>
            <a:pPr algn="ctr"/>
            <a:r>
              <a:rPr lang="en-US" sz="28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Networks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55308" y="3034235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SISC, 43:B811-B830, 2021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6B0CF8-A07B-4FF7-AEE1-479FFB2830BB}"/>
              </a:ext>
            </a:extLst>
          </p:cNvPr>
          <p:cNvSpPr txBox="1"/>
          <p:nvPr/>
        </p:nvSpPr>
        <p:spPr>
          <a:xfrm>
            <a:off x="1995947" y="3515988"/>
            <a:ext cx="5673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Xiaoli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Chen, et al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879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Background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1332DE-ADC4-4B6F-8940-DACC8D7919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892" y="1024511"/>
            <a:ext cx="3696216" cy="581106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6C172CD-11C7-4072-8A78-6B5181A84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604" y="1950035"/>
            <a:ext cx="4928792" cy="1101730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8011A18F-BD9D-44B8-B4AF-B3E81DBBA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285" y="3600962"/>
            <a:ext cx="5871429" cy="179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3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equation problem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3F4A97-1594-4E1D-97B4-119B446BB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90" y="1682838"/>
            <a:ext cx="5868219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equation problem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63000E-50B4-4DB3-A790-68319CAA6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468" y="1270100"/>
            <a:ext cx="6897063" cy="14861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65201C-655F-4955-B8F1-2D23D24D11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126" y="2976503"/>
            <a:ext cx="6601746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4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equation problem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1EEA1E-83B5-4E1B-91FE-DA69B2A56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602" y="1358459"/>
            <a:ext cx="4810796" cy="11717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63B3BD2-2C57-4A13-8EB0-C12C0B5D7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074" y="2692064"/>
            <a:ext cx="7001852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equation problem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8B12C9-E998-47CF-98C0-C919AF6E5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812" y="3429000"/>
            <a:ext cx="3572374" cy="91452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2C795BC-E007-42D3-B3CB-880C7078F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890" y="832285"/>
            <a:ext cx="5868219" cy="23911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563D1A1-1DDE-4FCE-BD57-A3973EBBC811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0"/>
          <a:stretch/>
        </p:blipFill>
        <p:spPr>
          <a:xfrm>
            <a:off x="1785547" y="4549134"/>
            <a:ext cx="5572903" cy="159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902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equation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case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C6BB6A-6071-4502-AE46-2CEBC6F1D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53" y="2111349"/>
            <a:ext cx="6944694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4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Brownian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C6BB6A-6071-4502-AE46-2CEBC6F1D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53" y="1098626"/>
            <a:ext cx="6944694" cy="1829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7EF1BD0-FAF2-4A2C-8F26-5AA718A28C90}"/>
                  </a:ext>
                </a:extLst>
              </p:cNvPr>
              <p:cNvSpPr txBox="1"/>
              <p:nvPr/>
            </p:nvSpPr>
            <p:spPr>
              <a:xfrm>
                <a:off x="1563328" y="3045179"/>
                <a:ext cx="6017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=1;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7EF1BD0-FAF2-4A2C-8F26-5AA718A2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8" y="3045179"/>
                <a:ext cx="6017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D9DE1A19-08DE-45FF-A526-79AFB315A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796" y="3664849"/>
            <a:ext cx="7030431" cy="140989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2EAC8C5-2D52-4B09-A78F-89FEFB8C5EA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0"/>
          <a:stretch/>
        </p:blipFill>
        <p:spPr>
          <a:xfrm>
            <a:off x="1785546" y="5074746"/>
            <a:ext cx="5572903" cy="159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31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Brownian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4C60AC2-81AA-4A66-A4DC-A6418594D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179" y="888661"/>
            <a:ext cx="7287642" cy="559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81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Brownian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FEDEA7-64E2-4627-9CFD-BF4652C5E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626" y="2290603"/>
            <a:ext cx="6782747" cy="22767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8FD93F-E0CE-4BEB-A8EA-423EAB4381EB}"/>
                  </a:ext>
                </a:extLst>
              </p:cNvPr>
              <p:cNvSpPr txBox="1"/>
              <p:nvPr/>
            </p:nvSpPr>
            <p:spPr>
              <a:xfrm>
                <a:off x="1563328" y="1452353"/>
                <a:ext cx="6017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=1;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88FD93F-E0CE-4BEB-A8EA-423EAB438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8" y="1452353"/>
                <a:ext cx="6017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45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Brownian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C6D6A0-1764-45BA-93C2-1120788B2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281" y="923287"/>
            <a:ext cx="7940603" cy="553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0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</a:t>
            </a:r>
            <a:r>
              <a:rPr lang="en-US" altLang="zh-CN" sz="2400" b="1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Brownian+Levy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C6BB6A-6071-4502-AE46-2CEBC6F1DC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53" y="1098626"/>
            <a:ext cx="6944694" cy="1829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7EF1BD0-FAF2-4A2C-8F26-5AA718A28C90}"/>
                  </a:ext>
                </a:extLst>
              </p:cNvPr>
              <p:cNvSpPr txBox="1"/>
              <p:nvPr/>
            </p:nvSpPr>
            <p:spPr>
              <a:xfrm>
                <a:off x="1563328" y="3045179"/>
                <a:ext cx="60173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=1.5; 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=1;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zh-CN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7EF1BD0-FAF2-4A2C-8F26-5AA718A28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3328" y="3045179"/>
                <a:ext cx="6017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42EAC8C5-2D52-4B09-A78F-89FEFB8C5E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20"/>
          <a:stretch/>
        </p:blipFill>
        <p:spPr>
          <a:xfrm>
            <a:off x="1785545" y="5046846"/>
            <a:ext cx="5572903" cy="15948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297DDB-7291-4C04-BC54-C4B8A1462D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571" y="3873441"/>
            <a:ext cx="6820852" cy="71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74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</a:t>
            </a:r>
            <a:r>
              <a:rPr lang="en-US" altLang="zh-CN" sz="2400" b="1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Brownian+Levy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46C85D-F715-4090-B5BB-E0B147034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68" y="1830629"/>
            <a:ext cx="7729064" cy="268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988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</a:t>
            </a:r>
            <a:r>
              <a:rPr lang="en-US" altLang="zh-CN" sz="2400" b="1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Brownian+Levy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FEDE074-04D8-4C33-B5B2-466497C01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79" y="1061227"/>
            <a:ext cx="7106642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1D </a:t>
            </a:r>
            <a:r>
              <a:rPr lang="en-US" altLang="zh-CN" sz="2400" b="1" dirty="0" err="1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Brownian+Levy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noise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640AF64-1DF6-4F1C-B16A-80A216446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49" y="2285227"/>
            <a:ext cx="7077902" cy="258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52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2D case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209BAC-F1B4-4C81-A8D0-AE15D75CEB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827" y="1709366"/>
            <a:ext cx="6582694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2D Brownian case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F7E9F7-6BD7-490A-8335-373429FA1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79" y="833288"/>
            <a:ext cx="7106642" cy="21434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1AA33F-89E8-4919-8DC6-2E779A660A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679" y="3240266"/>
            <a:ext cx="6973273" cy="110505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D9FF3A-D54E-4EB4-B7EE-454F34C6A5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63" y="4576924"/>
            <a:ext cx="740195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3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PINN for inverse FP problem</a:t>
            </a:r>
            <a:r>
              <a:rPr lang="zh-CN" alt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2D Brownian case</a:t>
            </a:r>
            <a:endParaRPr lang="en-US" sz="2400" b="1" dirty="0">
              <a:solidFill>
                <a:srgbClr val="C0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4553C54-0BEB-449D-8E39-ECCA181CA8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74" y="756138"/>
            <a:ext cx="7182852" cy="34104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800D2C-5C17-44E4-A2F0-7D1CCCE8D7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986" y="4166564"/>
            <a:ext cx="6745440" cy="259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5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66" y="4779671"/>
            <a:ext cx="4089214" cy="1859314"/>
          </a:xfrm>
          <a:prstGeom prst="rect">
            <a:avLst/>
          </a:prstGeom>
        </p:spPr>
      </p:pic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Background: Upscaling </a:t>
            </a:r>
            <a:r>
              <a:rPr lang="en-US" sz="2400" b="1" i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vs</a:t>
            </a:r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 Downscaling: PINNs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611" y="935183"/>
            <a:ext cx="27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Microscopic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42681" y="935183"/>
            <a:ext cx="2727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Macroscopic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7857" y="1744537"/>
            <a:ext cx="5256838" cy="22904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5" y="1421683"/>
            <a:ext cx="3838265" cy="4343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2157" y="1421683"/>
            <a:ext cx="2699472" cy="5580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50554" y="3727239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et al, SISC.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015462" y="1529402"/>
            <a:ext cx="1808018" cy="254577"/>
          </a:xfrm>
          <a:prstGeom prst="right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10292" y="1085027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upscaling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7"/>
          <a:srcRect l="23847" r="15368" b="34288"/>
          <a:stretch/>
        </p:blipFill>
        <p:spPr>
          <a:xfrm>
            <a:off x="6400331" y="4047893"/>
            <a:ext cx="2350359" cy="9544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331" y="6550223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Yang, et al, arxiv.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903" y="4149421"/>
            <a:ext cx="3269520" cy="632700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 rot="10800000">
            <a:off x="3934663" y="4525094"/>
            <a:ext cx="1808018" cy="25457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29493" y="4080719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downscaling</a:t>
            </a:r>
          </a:p>
        </p:txBody>
      </p:sp>
    </p:spTree>
    <p:extLst>
      <p:ext uri="{BB962C8B-B14F-4D97-AF65-F5344CB8AC3E}">
        <p14:creationId xmlns:p14="http://schemas.microsoft.com/office/powerpoint/2010/main" val="481929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363" y="3059025"/>
            <a:ext cx="4089214" cy="1859314"/>
          </a:xfrm>
          <a:prstGeom prst="rect">
            <a:avLst/>
          </a:prstGeom>
        </p:spPr>
      </p:pic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From Macroscopic to Microscopic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23847" r="15368" b="34288"/>
          <a:stretch/>
        </p:blipFill>
        <p:spPr>
          <a:xfrm>
            <a:off x="6161428" y="2327247"/>
            <a:ext cx="2350359" cy="9544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58073" y="6550223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Yang, et al, arxiv.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28775"/>
            <a:ext cx="3269520" cy="632700"/>
          </a:xfrm>
          <a:prstGeom prst="rect">
            <a:avLst/>
          </a:prstGeom>
        </p:spPr>
      </p:pic>
      <p:sp>
        <p:nvSpPr>
          <p:cNvPr id="15" name="Right Arrow 14"/>
          <p:cNvSpPr/>
          <p:nvPr/>
        </p:nvSpPr>
        <p:spPr>
          <a:xfrm rot="10800000">
            <a:off x="3695760" y="2804448"/>
            <a:ext cx="1808018" cy="25457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890590" y="2360073"/>
            <a:ext cx="141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downscaling</a:t>
            </a:r>
          </a:p>
        </p:txBody>
      </p:sp>
    </p:spTree>
    <p:extLst>
      <p:ext uri="{BB962C8B-B14F-4D97-AF65-F5344CB8AC3E}">
        <p14:creationId xmlns:p14="http://schemas.microsoft.com/office/powerpoint/2010/main" val="3162598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From Macroscopic to Microscopic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8073" y="6550223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Yang, et al, arxiv.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91632B9B-D672-4465-8FC8-8979931C47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77" y="865367"/>
            <a:ext cx="8294446" cy="541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212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Example: 1D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8073" y="6550223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Yang, et al, arxiv.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86F462-6DB4-4772-8F46-732774FA0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84" y="991318"/>
            <a:ext cx="7392432" cy="154326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CC2B868-4FE4-4A03-8D4B-E09B2E674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78763"/>
            <a:ext cx="9144000" cy="175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5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7">
            <a:extLst>
              <a:ext uri="{FF2B5EF4-FFF2-40B4-BE49-F238E27FC236}">
                <a16:creationId xmlns:a16="http://schemas.microsoft.com/office/drawing/2014/main" id="{4C4AE310-ADDF-442F-BF34-0CDEC583B4E8}"/>
              </a:ext>
            </a:extLst>
          </p:cNvPr>
          <p:cNvSpPr/>
          <p:nvPr/>
        </p:nvSpPr>
        <p:spPr>
          <a:xfrm>
            <a:off x="0" y="0"/>
            <a:ext cx="9144000" cy="756138"/>
          </a:xfrm>
          <a:prstGeom prst="round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 pitchFamily="18" charset="0"/>
              </a:rPr>
              <a:t>Example: 1D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8073" y="6550223"/>
            <a:ext cx="33926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Liu Yang, et al, arxiv. (2021)</a:t>
            </a:r>
            <a:endParaRPr lang="en-US" sz="1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96C0A5-A8C3-4C34-8BB2-A7A7BF1CC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0554"/>
            <a:ext cx="9144000" cy="550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5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59"/>
    </mc:Choice>
    <mc:Fallback xmlns="">
      <p:transition spd="slow" advTm="12659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84233" y="3075057"/>
            <a:ext cx="71755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ADC31F1-D89B-4C21-B37C-7E760FAC0C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759" y="6263149"/>
            <a:ext cx="822241" cy="5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01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6"/>
    </mc:Choice>
    <mc:Fallback xmlns="">
      <p:transition spd="slow" advTm="1926"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14795</TotalTime>
  <Words>1049</Words>
  <Application>Microsoft Office PowerPoint</Application>
  <PresentationFormat>全屏显示(4:3)</PresentationFormat>
  <Paragraphs>232</Paragraphs>
  <Slides>39</Slides>
  <Notes>39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9" baseType="lpstr">
      <vt:lpstr>Microsoft YaHei Light</vt:lpstr>
      <vt:lpstr>Microsoft YaHei UI</vt:lpstr>
      <vt:lpstr>华文楷体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xhmeng</dc:creator>
  <cp:lastModifiedBy>Xuhui Meng</cp:lastModifiedBy>
  <cp:revision>1434</cp:revision>
  <dcterms:created xsi:type="dcterms:W3CDTF">2017-09-04T15:34:47Z</dcterms:created>
  <dcterms:modified xsi:type="dcterms:W3CDTF">2026-04-08T06:46:07Z</dcterms:modified>
</cp:coreProperties>
</file>