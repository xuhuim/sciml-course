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6" r:id="rId2"/>
    <p:sldId id="333" r:id="rId3"/>
    <p:sldId id="346" r:id="rId4"/>
    <p:sldId id="339" r:id="rId5"/>
    <p:sldId id="342" r:id="rId6"/>
    <p:sldId id="343" r:id="rId7"/>
    <p:sldId id="344" r:id="rId8"/>
    <p:sldId id="33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8FD"/>
    <a:srgbClr val="3333FD"/>
    <a:srgbClr val="0000CC"/>
    <a:srgbClr val="CC1704"/>
    <a:srgbClr val="000099"/>
    <a:srgbClr val="003399"/>
    <a:srgbClr val="673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19" autoAdjust="0"/>
  </p:normalViewPr>
  <p:slideViewPr>
    <p:cSldViewPr snapToGrid="0">
      <p:cViewPr varScale="1">
        <p:scale>
          <a:sx n="94" d="100"/>
          <a:sy n="94" d="100"/>
        </p:scale>
        <p:origin x="20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CD06-CDB8-463C-82C0-327730F8AC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6392-4F4E-4DC5-B4DA-6DF644E2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35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82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61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9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89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11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89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3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D91E-FFF0-45B5-AFE0-22E101FDFDB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375658" y="246221"/>
            <a:ext cx="8392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Scientific Machine Learning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82D0D78-D0B9-403E-B5AC-66E83F5AC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207" y="155558"/>
            <a:ext cx="973866" cy="7045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2604B1-DFD6-4A0E-BA4B-23A06DBE53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5" r="82409"/>
          <a:stretch/>
        </p:blipFill>
        <p:spPr>
          <a:xfrm>
            <a:off x="992586" y="37675"/>
            <a:ext cx="893400" cy="9403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B7CEB32-1021-4218-A4D5-F1083BF5322E}"/>
              </a:ext>
            </a:extLst>
          </p:cNvPr>
          <p:cNvSpPr txBox="1"/>
          <p:nvPr/>
        </p:nvSpPr>
        <p:spPr>
          <a:xfrm>
            <a:off x="629265" y="1784198"/>
            <a:ext cx="8239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Project for </a:t>
            </a:r>
            <a:r>
              <a:rPr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SciML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6BF80A-5EF6-4539-ACB8-DA297CF81EAA}"/>
              </a:ext>
            </a:extLst>
          </p:cNvPr>
          <p:cNvSpPr txBox="1"/>
          <p:nvPr/>
        </p:nvSpPr>
        <p:spPr>
          <a:xfrm>
            <a:off x="629265" y="3137509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孟旭辉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126DFE-D15F-47B5-9240-27C4587C9024}"/>
              </a:ext>
            </a:extLst>
          </p:cNvPr>
          <p:cNvSpPr txBox="1"/>
          <p:nvPr/>
        </p:nvSpPr>
        <p:spPr>
          <a:xfrm>
            <a:off x="629265" y="3648390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数学与统计学院数学与应用学科交叉创新研究院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9D2569-83C5-47AE-B0C1-B755D485CBD5}"/>
              </a:ext>
            </a:extLst>
          </p:cNvPr>
          <p:cNvSpPr txBox="1"/>
          <p:nvPr/>
        </p:nvSpPr>
        <p:spPr>
          <a:xfrm>
            <a:off x="629265" y="4213821"/>
            <a:ext cx="7885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办公室：东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32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楼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111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室</a:t>
            </a:r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Email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xuhui_meng@hust.edu.cn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361427-37D8-46C8-9C84-F47E163DF02A}"/>
              </a:ext>
            </a:extLst>
          </p:cNvPr>
          <p:cNvSpPr/>
          <p:nvPr/>
        </p:nvSpPr>
        <p:spPr>
          <a:xfrm>
            <a:off x="2497488" y="5505133"/>
            <a:ext cx="4149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https://github.com/XuhuiM/SciML-Course</a:t>
            </a:r>
          </a:p>
        </p:txBody>
      </p:sp>
    </p:spTree>
    <p:extLst>
      <p:ext uri="{BB962C8B-B14F-4D97-AF65-F5344CB8AC3E}">
        <p14:creationId xmlns:p14="http://schemas.microsoft.com/office/powerpoint/2010/main" val="60508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Project I: PINNs for solving high-dimensional PDE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F0A3D8-B737-80B1-A03D-54D094E880F2}"/>
              </a:ext>
            </a:extLst>
          </p:cNvPr>
          <p:cNvSpPr txBox="1"/>
          <p:nvPr/>
        </p:nvSpPr>
        <p:spPr>
          <a:xfrm>
            <a:off x="386080" y="1056640"/>
            <a:ext cx="667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equation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2B971FF-EA64-20DE-29D1-A5AD190A7CCA}"/>
                  </a:ext>
                </a:extLst>
              </p:cNvPr>
              <p:cNvSpPr txBox="1"/>
              <p:nvPr/>
            </p:nvSpPr>
            <p:spPr>
              <a:xfrm>
                <a:off x="589280" y="1930400"/>
                <a:ext cx="7823200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2B971FF-EA64-20DE-29D1-A5AD190A7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1930400"/>
                <a:ext cx="7823200" cy="374270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929CAA70-2ADF-B714-4ED2-C6D030D34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555" y="2809098"/>
            <a:ext cx="6182889" cy="15786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79C423-EC4C-276E-E41A-83EAF3A0E61D}"/>
                  </a:ext>
                </a:extLst>
              </p:cNvPr>
              <p:cNvSpPr txBox="1"/>
              <p:nvPr/>
            </p:nvSpPr>
            <p:spPr>
              <a:xfrm>
                <a:off x="386080" y="4699096"/>
                <a:ext cx="66751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≥20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定量对比：相对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误差</a:t>
                </a: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79C423-EC4C-276E-E41A-83EAF3A0E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80" y="4699096"/>
                <a:ext cx="6675120" cy="923330"/>
              </a:xfrm>
              <a:prstGeom prst="rect">
                <a:avLst/>
              </a:prstGeom>
              <a:blipFill>
                <a:blip r:embed="rId5"/>
                <a:stretch>
                  <a:fillRect l="-548" t="-1325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BC4E88AD-641E-A1E9-A969-C43A8E9CB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9803" y="5933814"/>
            <a:ext cx="4522154" cy="54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Project I: Cavity Flow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C23F11-1F20-413F-B0C9-C412BC223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67" y="1058527"/>
            <a:ext cx="8707065" cy="11241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264ACD7-3986-44B4-9E10-A66E847BAFB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7"/>
          <a:stretch/>
        </p:blipFill>
        <p:spPr>
          <a:xfrm>
            <a:off x="1574437" y="2485023"/>
            <a:ext cx="2997563" cy="6477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6308A35-FEC4-4E1F-A094-6FCDE83E2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810" y="3224981"/>
            <a:ext cx="3442816" cy="3301763"/>
          </a:xfrm>
          <a:prstGeom prst="rect">
            <a:avLst/>
          </a:prstGeom>
        </p:spPr>
      </p:pic>
      <p:pic>
        <p:nvPicPr>
          <p:cNvPr id="10" name="Picture 56">
            <a:extLst>
              <a:ext uri="{FF2B5EF4-FFF2-40B4-BE49-F238E27FC236}">
                <a16:creationId xmlns:a16="http://schemas.microsoft.com/office/drawing/2014/main" id="{16B413D9-F138-42EE-AF54-A73838FFD49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8" t="2197" r="10667" b="11667"/>
          <a:stretch/>
        </p:blipFill>
        <p:spPr>
          <a:xfrm>
            <a:off x="5421652" y="3502145"/>
            <a:ext cx="2574999" cy="2554776"/>
          </a:xfrm>
          <a:prstGeom prst="rect">
            <a:avLst/>
          </a:prstGeom>
        </p:spPr>
      </p:pic>
      <p:sp>
        <p:nvSpPr>
          <p:cNvPr id="11" name="TextBox 59">
            <a:extLst>
              <a:ext uri="{FF2B5EF4-FFF2-40B4-BE49-F238E27FC236}">
                <a16:creationId xmlns:a16="http://schemas.microsoft.com/office/drawing/2014/main" id="{88F7498B-C8B3-4FCB-90F7-E608EBAF3B0D}"/>
              </a:ext>
            </a:extLst>
          </p:cNvPr>
          <p:cNvSpPr txBox="1"/>
          <p:nvPr/>
        </p:nvSpPr>
        <p:spPr>
          <a:xfrm>
            <a:off x="4794626" y="3132813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D8CB05D-873D-4BD5-A580-FF930A463746}"/>
                  </a:ext>
                </a:extLst>
              </p:cNvPr>
              <p:cNvSpPr txBox="1"/>
              <p:nvPr/>
            </p:nvSpPr>
            <p:spPr>
              <a:xfrm>
                <a:off x="3240366" y="1572595"/>
                <a:ext cx="2316335" cy="610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𝑈𝐿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D8CB05D-873D-4BD5-A580-FF930A463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366" y="1572595"/>
                <a:ext cx="2316335" cy="6100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6AE67CC-BB66-46B7-AB6A-4098E4CFDB21}"/>
              </a:ext>
            </a:extLst>
          </p:cNvPr>
          <p:cNvSpPr txBox="1"/>
          <p:nvPr/>
        </p:nvSpPr>
        <p:spPr>
          <a:xfrm>
            <a:off x="5639537" y="1855914"/>
            <a:ext cx="3203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in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been normalized using u/U, v/U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8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Project I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: Cavity Flow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6A1404-5122-49E0-8ECC-EF7259AACE9E}"/>
              </a:ext>
            </a:extLst>
          </p:cNvPr>
          <p:cNvSpPr txBox="1"/>
          <p:nvPr/>
        </p:nvSpPr>
        <p:spPr>
          <a:xfrm>
            <a:off x="442452" y="1081549"/>
            <a:ext cx="8013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problem: Solve NS equations given boundary conditions with Re=100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field reconstruction: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87DE39-8ABD-479A-AC75-E831B581A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32" y="2236921"/>
            <a:ext cx="7084873" cy="403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6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Project III: Reaction-diffusion system in porous media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BBBBF0C-EC59-4E32-826B-CD4EAEFC4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4888"/>
            <a:ext cx="9144000" cy="325966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EFD4D0B-289F-49B6-AD5A-C52690AC5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05679"/>
            <a:ext cx="9029843" cy="81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3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Project III: Reaction-diffusion system in porous media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F90AAD8-EE3F-4FF0-BE00-EC3773391260}"/>
                  </a:ext>
                </a:extLst>
              </p:cNvPr>
              <p:cNvSpPr txBox="1"/>
              <p:nvPr/>
            </p:nvSpPr>
            <p:spPr>
              <a:xfrm>
                <a:off x="673509" y="2628524"/>
                <a:ext cx="7796981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Inverse problem using UQ methods: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noisy data on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1. No measurements on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2. Investigate the effect of the measurements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the accuracy 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F90AAD8-EE3F-4FF0-BE00-EC3773391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09" y="2628524"/>
                <a:ext cx="7796981" cy="1289071"/>
              </a:xfrm>
              <a:prstGeom prst="rect">
                <a:avLst/>
              </a:prstGeom>
              <a:blipFill>
                <a:blip r:embed="rId3"/>
                <a:stretch>
                  <a:fillRect l="-469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19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Project IV: Neural Operator for earthquake problem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63746E08-1A30-186D-34B9-8B8172389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916" y="850982"/>
            <a:ext cx="3396713" cy="435476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A24FCC90-8D9B-C885-1226-57E79D283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66" y="2128649"/>
            <a:ext cx="7099300" cy="264160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36703909-4A4D-4D63-E62B-5F5067CC47AC}"/>
              </a:ext>
            </a:extLst>
          </p:cNvPr>
          <p:cNvSpPr txBox="1"/>
          <p:nvPr/>
        </p:nvSpPr>
        <p:spPr>
          <a:xfrm>
            <a:off x="836194" y="4823395"/>
            <a:ext cx="7471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 Neural operator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C40340A4-6C80-E919-6D1B-C360D9968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216" y="4929687"/>
            <a:ext cx="1701800" cy="330200"/>
          </a:xfrm>
          <a:prstGeom prst="rect">
            <a:avLst/>
          </a:prstGeom>
        </p:spPr>
      </p:pic>
      <p:grpSp>
        <p:nvGrpSpPr>
          <p:cNvPr id="13" name="Group 10">
            <a:extLst>
              <a:ext uri="{FF2B5EF4-FFF2-40B4-BE49-F238E27FC236}">
                <a16:creationId xmlns:a16="http://schemas.microsoft.com/office/drawing/2014/main" id="{5DC9C7C3-AA26-0FA5-FE3C-E07D6D43DACD}"/>
              </a:ext>
            </a:extLst>
          </p:cNvPr>
          <p:cNvGrpSpPr/>
          <p:nvPr/>
        </p:nvGrpSpPr>
        <p:grpSpPr>
          <a:xfrm>
            <a:off x="550444" y="1366399"/>
            <a:ext cx="7802479" cy="679548"/>
            <a:chOff x="550444" y="1366399"/>
            <a:chExt cx="7802479" cy="679548"/>
          </a:xfrm>
        </p:grpSpPr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17F60638-6B49-E2DF-05C5-1723F7B5187E}"/>
                </a:ext>
              </a:extLst>
            </p:cNvPr>
            <p:cNvSpPr txBox="1"/>
            <p:nvPr/>
          </p:nvSpPr>
          <p:spPr>
            <a:xfrm>
              <a:off x="550444" y="1366399"/>
              <a:ext cx="78024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x(t): displacement of the top floor for a building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: ground acceleration arising from the earthquake</a:t>
              </a:r>
            </a:p>
          </p:txBody>
        </p:sp>
        <p:pic>
          <p:nvPicPr>
            <p:cNvPr id="15" name="Picture 9">
              <a:extLst>
                <a:ext uri="{FF2B5EF4-FFF2-40B4-BE49-F238E27FC236}">
                  <a16:creationId xmlns:a16="http://schemas.microsoft.com/office/drawing/2014/main" id="{F1B38C47-6873-681A-2BB3-574761317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4586" y="1741147"/>
              <a:ext cx="571500" cy="304800"/>
            </a:xfrm>
            <a:prstGeom prst="rect">
              <a:avLst/>
            </a:prstGeom>
          </p:spPr>
        </p:pic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88278E-C2A3-DC90-C531-82F2A50BD980}"/>
              </a:ext>
            </a:extLst>
          </p:cNvPr>
          <p:cNvSpPr txBox="1"/>
          <p:nvPr/>
        </p:nvSpPr>
        <p:spPr>
          <a:xfrm>
            <a:off x="437955" y="5637686"/>
            <a:ext cx="791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operator: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DeepONet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FNO</a:t>
            </a:r>
          </a:p>
        </p:txBody>
      </p:sp>
    </p:spTree>
    <p:extLst>
      <p:ext uri="{BB962C8B-B14F-4D97-AF65-F5344CB8AC3E}">
        <p14:creationId xmlns:p14="http://schemas.microsoft.com/office/powerpoint/2010/main" val="76464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4233" y="3075057"/>
            <a:ext cx="7175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DC31F1-D89B-4C21-B37C-7E760FAC0C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759" y="6263149"/>
            <a:ext cx="822241" cy="5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6"/>
    </mc:Choice>
    <mc:Fallback xmlns="">
      <p:transition spd="slow" advTm="1926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15384</TotalTime>
  <Words>239</Words>
  <Application>Microsoft Office PowerPoint</Application>
  <PresentationFormat>全屏显示(4:3)</PresentationFormat>
  <Paragraphs>41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Microsoft YaHei UI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xhmeng</dc:creator>
  <cp:lastModifiedBy>Xuhui Meng</cp:lastModifiedBy>
  <cp:revision>1529</cp:revision>
  <dcterms:created xsi:type="dcterms:W3CDTF">2017-09-04T15:34:47Z</dcterms:created>
  <dcterms:modified xsi:type="dcterms:W3CDTF">2026-06-23T02:30:49Z</dcterms:modified>
</cp:coreProperties>
</file>