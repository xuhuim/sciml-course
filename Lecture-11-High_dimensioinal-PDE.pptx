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7"/>
  </p:notesMasterIdLst>
  <p:sldIdLst>
    <p:sldId id="256" r:id="rId2"/>
    <p:sldId id="304" r:id="rId3"/>
    <p:sldId id="307" r:id="rId4"/>
    <p:sldId id="571" r:id="rId5"/>
    <p:sldId id="585" r:id="rId6"/>
    <p:sldId id="586" r:id="rId7"/>
    <p:sldId id="587" r:id="rId8"/>
    <p:sldId id="588" r:id="rId9"/>
    <p:sldId id="589" r:id="rId10"/>
    <p:sldId id="580" r:id="rId11"/>
    <p:sldId id="596" r:id="rId12"/>
    <p:sldId id="572" r:id="rId13"/>
    <p:sldId id="579" r:id="rId14"/>
    <p:sldId id="583" r:id="rId15"/>
    <p:sldId id="581" r:id="rId16"/>
    <p:sldId id="573" r:id="rId17"/>
    <p:sldId id="582" r:id="rId18"/>
    <p:sldId id="578" r:id="rId19"/>
    <p:sldId id="584" r:id="rId20"/>
    <p:sldId id="574" r:id="rId21"/>
    <p:sldId id="576" r:id="rId22"/>
    <p:sldId id="486" r:id="rId23"/>
    <p:sldId id="313" r:id="rId24"/>
    <p:sldId id="487" r:id="rId25"/>
    <p:sldId id="257" r:id="rId26"/>
    <p:sldId id="591" r:id="rId27"/>
    <p:sldId id="488" r:id="rId28"/>
    <p:sldId id="489" r:id="rId29"/>
    <p:sldId id="592" r:id="rId30"/>
    <p:sldId id="593" r:id="rId31"/>
    <p:sldId id="594" r:id="rId32"/>
    <p:sldId id="491" r:id="rId33"/>
    <p:sldId id="492" r:id="rId34"/>
    <p:sldId id="595" r:id="rId35"/>
    <p:sldId id="597" r:id="rId36"/>
    <p:sldId id="598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338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8FD"/>
    <a:srgbClr val="3333FD"/>
    <a:srgbClr val="0000CC"/>
    <a:srgbClr val="CC1704"/>
    <a:srgbClr val="000099"/>
    <a:srgbClr val="003399"/>
    <a:srgbClr val="673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619" autoAdjust="0"/>
  </p:normalViewPr>
  <p:slideViewPr>
    <p:cSldViewPr snapToGrid="0">
      <p:cViewPr varScale="1">
        <p:scale>
          <a:sx n="94" d="100"/>
          <a:sy n="94" d="100"/>
        </p:scale>
        <p:origin x="20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CD06-CDB8-463C-82C0-327730F8ACA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6392-4F4E-4DC5-B4DA-6DF644E2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35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68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73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26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1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79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7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51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88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33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55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37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64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4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42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456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5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960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4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216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77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086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254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356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77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256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256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922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609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081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97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339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325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634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414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018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772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366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347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951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041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337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013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480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3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D91E-FFF0-45B5-AFE0-22E101FDFDB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4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26" Type="http://schemas.openxmlformats.org/officeDocument/2006/relationships/image" Target="../media/image330.png"/><Relationship Id="rId3" Type="http://schemas.openxmlformats.org/officeDocument/2006/relationships/image" Target="../media/image5.png"/><Relationship Id="rId7" Type="http://schemas.openxmlformats.org/officeDocument/2006/relationships/oleObject" Target="../embeddings/oleObject1.bin"/><Relationship Id="rId17" Type="http://schemas.openxmlformats.org/officeDocument/2006/relationships/image" Target="../media/image12.png"/><Relationship Id="rId25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19.png"/><Relationship Id="rId5" Type="http://schemas.openxmlformats.org/officeDocument/2006/relationships/image" Target="../media/image6.wmf"/><Relationship Id="rId15" Type="http://schemas.openxmlformats.org/officeDocument/2006/relationships/image" Target="../media/image10.png"/><Relationship Id="rId28" Type="http://schemas.openxmlformats.org/officeDocument/2006/relationships/image" Target="../media/image26.png"/><Relationship Id="rId19" Type="http://schemas.openxmlformats.org/officeDocument/2006/relationships/image" Target="../media/image14.png"/><Relationship Id="rId4" Type="http://schemas.openxmlformats.org/officeDocument/2006/relationships/oleObject" Target="../embeddings/oleObject1.bin"/><Relationship Id="rId14" Type="http://schemas.openxmlformats.org/officeDocument/2006/relationships/image" Target="../media/image9.png"/><Relationship Id="rId27" Type="http://schemas.openxmlformats.org/officeDocument/2006/relationships/image" Target="../media/image3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1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5.emf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5.emf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3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4.emf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image" Target="../media/image43.emf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emf"/><Relationship Id="rId11" Type="http://schemas.openxmlformats.org/officeDocument/2006/relationships/image" Target="../media/image58.png"/><Relationship Id="rId5" Type="http://schemas.openxmlformats.org/officeDocument/2006/relationships/image" Target="../media/image53.emf"/><Relationship Id="rId10" Type="http://schemas.openxmlformats.org/officeDocument/2006/relationships/image" Target="../media/image57.png"/><Relationship Id="rId4" Type="http://schemas.openxmlformats.org/officeDocument/2006/relationships/image" Target="../media/image52.emf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6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emf"/><Relationship Id="rId5" Type="http://schemas.openxmlformats.org/officeDocument/2006/relationships/image" Target="../media/image59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emf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6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0.png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0.png"/><Relationship Id="rId5" Type="http://schemas.openxmlformats.org/officeDocument/2006/relationships/image" Target="../media/image690.png"/><Relationship Id="rId4" Type="http://schemas.openxmlformats.org/officeDocument/2006/relationships/image" Target="../media/image6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0.png"/><Relationship Id="rId4" Type="http://schemas.openxmlformats.org/officeDocument/2006/relationships/image" Target="../media/image8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19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19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19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375658" y="246221"/>
            <a:ext cx="8392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Scientific Machine Learning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82D0D78-D0B9-403E-B5AC-66E83F5AC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207" y="155558"/>
            <a:ext cx="973866" cy="7045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2604B1-DFD6-4A0E-BA4B-23A06DBE53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5" r="82409"/>
          <a:stretch/>
        </p:blipFill>
        <p:spPr>
          <a:xfrm>
            <a:off x="992586" y="37675"/>
            <a:ext cx="893400" cy="9403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B7CEB32-1021-4218-A4D5-F1083BF5322E}"/>
              </a:ext>
            </a:extLst>
          </p:cNvPr>
          <p:cNvSpPr txBox="1"/>
          <p:nvPr/>
        </p:nvSpPr>
        <p:spPr>
          <a:xfrm>
            <a:off x="285135" y="1784198"/>
            <a:ext cx="8583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11: PINN for high-dimensional PDE problems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6BF80A-5EF6-4539-ACB8-DA297CF81EAA}"/>
              </a:ext>
            </a:extLst>
          </p:cNvPr>
          <p:cNvSpPr txBox="1"/>
          <p:nvPr/>
        </p:nvSpPr>
        <p:spPr>
          <a:xfrm>
            <a:off x="629265" y="3137509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孟旭辉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126DFE-D15F-47B5-9240-27C4587C9024}"/>
              </a:ext>
            </a:extLst>
          </p:cNvPr>
          <p:cNvSpPr txBox="1"/>
          <p:nvPr/>
        </p:nvSpPr>
        <p:spPr>
          <a:xfrm>
            <a:off x="629265" y="3648390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数学与统计学院数学与应用学科交叉创新研究院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9D2569-83C5-47AE-B0C1-B755D485CBD5}"/>
              </a:ext>
            </a:extLst>
          </p:cNvPr>
          <p:cNvSpPr txBox="1"/>
          <p:nvPr/>
        </p:nvSpPr>
        <p:spPr>
          <a:xfrm>
            <a:off x="629265" y="4213821"/>
            <a:ext cx="7885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办公室：东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32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楼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111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室</a:t>
            </a:r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Email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xuhui_meng@hust.edu.cn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361427-37D8-46C8-9C84-F47E163DF02A}"/>
              </a:ext>
            </a:extLst>
          </p:cNvPr>
          <p:cNvSpPr/>
          <p:nvPr/>
        </p:nvSpPr>
        <p:spPr>
          <a:xfrm>
            <a:off x="2497488" y="5505133"/>
            <a:ext cx="4149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https://github.com/XuhuiM/SciML-Course</a:t>
            </a:r>
          </a:p>
        </p:txBody>
      </p:sp>
    </p:spTree>
    <p:extLst>
      <p:ext uri="{BB962C8B-B14F-4D97-AF65-F5344CB8AC3E}">
        <p14:creationId xmlns:p14="http://schemas.microsoft.com/office/powerpoint/2010/main" val="60508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0" y="1152370"/>
            <a:ext cx="9144000" cy="195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Monte Carlo physics-informed neural networks for multiscale heat conduction via phonon Boltzmann transport equation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B366CFB-31D6-4908-842D-079A9047D9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144" y="5970430"/>
            <a:ext cx="1226856" cy="887570"/>
          </a:xfrm>
          <a:prstGeom prst="rect">
            <a:avLst/>
          </a:prstGeom>
        </p:spPr>
      </p:pic>
      <p:sp>
        <p:nvSpPr>
          <p:cNvPr id="7" name="文本框 13">
            <a:extLst>
              <a:ext uri="{FF2B5EF4-FFF2-40B4-BE49-F238E27FC236}">
                <a16:creationId xmlns:a16="http://schemas.microsoft.com/office/drawing/2014/main" id="{6FD2DFCA-2704-4D39-B822-EA55841992A2}"/>
              </a:ext>
            </a:extLst>
          </p:cNvPr>
          <p:cNvSpPr txBox="1"/>
          <p:nvPr/>
        </p:nvSpPr>
        <p:spPr>
          <a:xfrm>
            <a:off x="1633678" y="4058275"/>
            <a:ext cx="602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Lin et al., JCP, 2025</a:t>
            </a:r>
          </a:p>
        </p:txBody>
      </p:sp>
    </p:spTree>
    <p:extLst>
      <p:ext uri="{BB962C8B-B14F-4D97-AF65-F5344CB8AC3E}">
        <p14:creationId xmlns:p14="http://schemas.microsoft.com/office/powerpoint/2010/main" val="124648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62"/>
    </mc:Choice>
    <mc:Fallback xmlns="">
      <p:transition spd="slow" advTm="1766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From DNNs to PINNs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74" y="886423"/>
            <a:ext cx="4640208" cy="3508451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587891" y="1013397"/>
            <a:ext cx="3474611" cy="3171315"/>
            <a:chOff x="5465971" y="1054037"/>
            <a:chExt cx="3474611" cy="3171315"/>
          </a:xfrm>
        </p:grpSpPr>
        <p:grpSp>
          <p:nvGrpSpPr>
            <p:cNvPr id="5" name="组合 4"/>
            <p:cNvGrpSpPr/>
            <p:nvPr/>
          </p:nvGrpSpPr>
          <p:grpSpPr>
            <a:xfrm>
              <a:off x="5465971" y="1054037"/>
              <a:ext cx="3474611" cy="2004879"/>
              <a:chOff x="5151229" y="1346753"/>
              <a:chExt cx="3474611" cy="200487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5151229" y="1346753"/>
                    <a:ext cx="339344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文本框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229" y="1346753"/>
                    <a:ext cx="339344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/>
                  <p:cNvSpPr txBox="1"/>
                  <p:nvPr/>
                </p:nvSpPr>
                <p:spPr>
                  <a:xfrm>
                    <a:off x="5232400" y="1859364"/>
                    <a:ext cx="3393440" cy="14922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b="0" dirty="0"/>
                  </a:p>
                  <a:p>
                    <a:endParaRPr lang="en-US" b="0" dirty="0"/>
                  </a:p>
                  <a:p>
                    <a:pPr algn="ctr"/>
                    <a:r>
                      <a:rPr lang="en-US" dirty="0"/>
                      <a:t>…</a:t>
                    </a:r>
                  </a:p>
                  <a:p>
                    <a:pPr algn="ctr"/>
                    <a:endParaRPr lang="en-US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文本框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32400" y="1859364"/>
                    <a:ext cx="3393440" cy="149226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文本框 3"/>
            <p:cNvSpPr txBox="1"/>
            <p:nvPr/>
          </p:nvSpPr>
          <p:spPr>
            <a:xfrm>
              <a:off x="5618371" y="1054037"/>
              <a:ext cx="477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618371" y="3279077"/>
              <a:ext cx="2844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  PDE part: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Chain rule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5658956" y="3856020"/>
                  <a:ext cx="31698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956" y="3856020"/>
                  <a:ext cx="316981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文本框 11"/>
          <p:cNvSpPr txBox="1"/>
          <p:nvPr/>
        </p:nvSpPr>
        <p:spPr>
          <a:xfrm>
            <a:off x="580738" y="4661765"/>
            <a:ext cx="8056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0738" y="5035327"/>
            <a:ext cx="258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problem: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2578313" y="5074632"/>
                <a:ext cx="4522905" cy="4585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313" y="5074632"/>
                <a:ext cx="4522905" cy="458523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580738" y="5487850"/>
            <a:ext cx="258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problem: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2578313" y="5548280"/>
                <a:ext cx="5696816" cy="479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313" y="5548280"/>
                <a:ext cx="5696816" cy="479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580738" y="5968233"/>
            <a:ext cx="773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framework for forward and inverse PDE problems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mesh for computations of derivatives</a:t>
            </a:r>
          </a:p>
        </p:txBody>
      </p:sp>
      <p:sp>
        <p:nvSpPr>
          <p:cNvPr id="18" name="矩形 17"/>
          <p:cNvSpPr/>
          <p:nvPr/>
        </p:nvSpPr>
        <p:spPr>
          <a:xfrm>
            <a:off x="7250533" y="6396335"/>
            <a:ext cx="1893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Raissi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al, JCP, 2019</a:t>
            </a:r>
          </a:p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Meng, et al, CMAME, 2020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4502D57-CAF0-4102-BED5-2494861DCDD5}"/>
              </a:ext>
            </a:extLst>
          </p:cNvPr>
          <p:cNvSpPr/>
          <p:nvPr/>
        </p:nvSpPr>
        <p:spPr>
          <a:xfrm>
            <a:off x="4139379" y="5404660"/>
            <a:ext cx="2684206" cy="671676"/>
          </a:xfrm>
          <a:prstGeom prst="ellipse">
            <a:avLst/>
          </a:prstGeom>
          <a:noFill/>
          <a:ln w="15875">
            <a:solidFill>
              <a:srgbClr val="3333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30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Mini-batch training – stochastic gradient descent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7658E04-3302-40C1-B714-2BFC445B2037}"/>
              </a:ext>
            </a:extLst>
          </p:cNvPr>
          <p:cNvGrpSpPr/>
          <p:nvPr/>
        </p:nvGrpSpPr>
        <p:grpSpPr>
          <a:xfrm>
            <a:off x="506801" y="1046480"/>
            <a:ext cx="4481615" cy="2514374"/>
            <a:chOff x="334081" y="1249680"/>
            <a:chExt cx="4481615" cy="2514374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197C5A9-4E81-44F8-A8CD-B3918DD9CD33}"/>
                </a:ext>
              </a:extLst>
            </p:cNvPr>
            <p:cNvGrpSpPr/>
            <p:nvPr/>
          </p:nvGrpSpPr>
          <p:grpSpPr>
            <a:xfrm>
              <a:off x="334081" y="1249680"/>
              <a:ext cx="4481615" cy="2514374"/>
              <a:chOff x="2014680" y="794893"/>
              <a:chExt cx="4877805" cy="2938641"/>
            </a:xfrm>
          </p:grpSpPr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7B534866-10CA-47CF-A7CD-49A90DCBB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99296" y="794893"/>
                <a:ext cx="4493189" cy="293864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1" name="对象 20">
                    <a:extLst>
                      <a:ext uri="{FF2B5EF4-FFF2-40B4-BE49-F238E27FC236}">
                        <a16:creationId xmlns:a16="http://schemas.microsoft.com/office/drawing/2014/main" id="{9CA464B2-0C37-461E-938E-621ED6BFE316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014680" y="1882775"/>
                  <a:ext cx="312882" cy="34417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" imgW="126720" imgH="139680" progId="Equation.DSMT4">
                          <p:embed/>
                        </p:oleObj>
                      </mc:Choice>
                      <mc:Fallback>
                        <p:oleObj name="Equation" r:id="rId4" imgW="126720" imgH="139680" progId="Equation.DSMT4">
                          <p:embed/>
                          <p:pic>
                            <p:nvPicPr>
                              <p:cNvPr id="21" name="对象 20">
                                <a:extLst>
                                  <a:ext uri="{FF2B5EF4-FFF2-40B4-BE49-F238E27FC236}">
                                    <a16:creationId xmlns:a16="http://schemas.microsoft.com/office/drawing/2014/main" id="{9CA464B2-0C37-461E-938E-621ED6BFE316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014680" y="1882775"/>
                                <a:ext cx="312882" cy="34417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7" name="对象 6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50979354"/>
                      </p:ext>
                    </p:extLst>
                  </p:nvPr>
                </p:nvGraphicFramePr>
                <p:xfrm>
                  <a:off x="2014680" y="1882775"/>
                  <a:ext cx="312882" cy="34417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144" name="Equation" r:id="rId7" imgW="126720" imgH="139680" progId="Equation.DSMT4">
                          <p:embed/>
                        </p:oleObj>
                      </mc:Choice>
                      <mc:Fallback>
                        <p:oleObj name="Equation" r:id="rId7" imgW="126720" imgH="139680" progId="Equation.DSMT4">
                          <p:embed/>
                          <p:pic>
                            <p:nvPicPr>
                              <p:cNvPr id="13" name="对象 12"/>
                              <p:cNvPicPr/>
                              <p:nvPr/>
                            </p:nvPicPr>
                            <p:blipFill>
                              <a:blip r:embed="rId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014680" y="1882775"/>
                                <a:ext cx="312882" cy="34417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A34F9C57-7E1C-48C5-8E36-9AA12DF7616E}"/>
                    </a:ext>
                  </a:extLst>
                </p:cNvPr>
                <p:cNvSpPr txBox="1"/>
                <p:nvPr/>
              </p:nvSpPr>
              <p:spPr>
                <a:xfrm>
                  <a:off x="1778000" y="1249680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8000" y="1249680"/>
                  <a:ext cx="77216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1B05481-2810-424A-BE27-0DAEEC2A4ED0}"/>
                    </a:ext>
                  </a:extLst>
                </p:cNvPr>
                <p:cNvSpPr txBox="1"/>
                <p:nvPr/>
              </p:nvSpPr>
              <p:spPr>
                <a:xfrm>
                  <a:off x="1778000" y="1846319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8000" y="1846319"/>
                  <a:ext cx="77216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E97AD35-078E-4CF6-AABA-B72C20D2FD98}"/>
                    </a:ext>
                  </a:extLst>
                </p:cNvPr>
                <p:cNvSpPr txBox="1"/>
                <p:nvPr/>
              </p:nvSpPr>
              <p:spPr>
                <a:xfrm>
                  <a:off x="1757680" y="2435854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7680" y="2435854"/>
                  <a:ext cx="77216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570CDDB-8246-4F1E-ACEC-F0C131A3AC5D}"/>
                    </a:ext>
                  </a:extLst>
                </p:cNvPr>
                <p:cNvSpPr txBox="1"/>
                <p:nvPr/>
              </p:nvSpPr>
              <p:spPr>
                <a:xfrm>
                  <a:off x="1778000" y="3025389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8000" y="3025389"/>
                  <a:ext cx="77216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5038538-329D-4AC6-8DC4-B1A8BB5F03D1}"/>
                    </a:ext>
                  </a:extLst>
                </p:cNvPr>
                <p:cNvSpPr txBox="1"/>
                <p:nvPr/>
              </p:nvSpPr>
              <p:spPr>
                <a:xfrm>
                  <a:off x="2909183" y="1283652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183" y="1283652"/>
                  <a:ext cx="77216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06FC5C5-15A3-444A-A55B-CFFE713889F9}"/>
                    </a:ext>
                  </a:extLst>
                </p:cNvPr>
                <p:cNvSpPr txBox="1"/>
                <p:nvPr/>
              </p:nvSpPr>
              <p:spPr>
                <a:xfrm>
                  <a:off x="2909183" y="1837945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183" y="1837945"/>
                  <a:ext cx="77216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E5504B11-A488-4549-B35B-B43C05C8C661}"/>
                    </a:ext>
                  </a:extLst>
                </p:cNvPr>
                <p:cNvSpPr txBox="1"/>
                <p:nvPr/>
              </p:nvSpPr>
              <p:spPr>
                <a:xfrm>
                  <a:off x="2909183" y="2435854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183" y="2435854"/>
                  <a:ext cx="77216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D13E142-8319-4CE0-A342-8269C8B11675}"/>
                    </a:ext>
                  </a:extLst>
                </p:cNvPr>
                <p:cNvSpPr txBox="1"/>
                <p:nvPr/>
              </p:nvSpPr>
              <p:spPr>
                <a:xfrm>
                  <a:off x="2909183" y="3033763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183" y="3033763"/>
                  <a:ext cx="77216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CA74D5C-6065-448C-B645-1A983DFAC011}"/>
              </a:ext>
            </a:extLst>
          </p:cNvPr>
          <p:cNvGrpSpPr/>
          <p:nvPr/>
        </p:nvGrpSpPr>
        <p:grpSpPr>
          <a:xfrm>
            <a:off x="5232400" y="1222772"/>
            <a:ext cx="3416215" cy="1992233"/>
            <a:chOff x="5151229" y="1346753"/>
            <a:chExt cx="3416215" cy="1992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0FE9ABE-C477-43EF-AFC3-FCDB9EDEC099}"/>
                    </a:ext>
                  </a:extLst>
                </p:cNvPr>
                <p:cNvSpPr txBox="1"/>
                <p:nvPr/>
              </p:nvSpPr>
              <p:spPr>
                <a:xfrm>
                  <a:off x="5151229" y="1346753"/>
                  <a:ext cx="33934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229" y="1346753"/>
                  <a:ext cx="3393440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05BF10C-EC34-4CA3-BF26-6E8209463832}"/>
                    </a:ext>
                  </a:extLst>
                </p:cNvPr>
                <p:cNvSpPr txBox="1"/>
                <p:nvPr/>
              </p:nvSpPr>
              <p:spPr>
                <a:xfrm>
                  <a:off x="5174004" y="1846718"/>
                  <a:ext cx="3393440" cy="14922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b="0" dirty="0"/>
                </a:p>
                <a:p>
                  <a:endParaRPr lang="en-US" b="0" dirty="0"/>
                </a:p>
                <a:p>
                  <a:pPr algn="ctr"/>
                  <a:r>
                    <a:rPr lang="en-US" dirty="0"/>
                    <a:t>…</a:t>
                  </a:r>
                </a:p>
                <a:p>
                  <a:pPr algn="ctr"/>
                  <a:endParaRPr lang="en-US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004" y="1846718"/>
                  <a:ext cx="3393440" cy="1492268"/>
                </a:xfrm>
                <a:prstGeom prst="rect">
                  <a:avLst/>
                </a:prstGeom>
                <a:blipFill>
                  <a:blip r:embed="rId25"/>
                  <a:stretch>
                    <a:fillRect b="-1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A984CD7-F73E-401F-9779-3408230820A6}"/>
                  </a:ext>
                </a:extLst>
              </p:cNvPr>
              <p:cNvSpPr txBox="1"/>
              <p:nvPr/>
            </p:nvSpPr>
            <p:spPr>
              <a:xfrm>
                <a:off x="421881" y="3894619"/>
                <a:ext cx="8495978" cy="1142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 function: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⁡([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(full-batch training)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A984CD7-F73E-401F-9779-34082308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81" y="3894619"/>
                <a:ext cx="8495978" cy="1142492"/>
              </a:xfrm>
              <a:prstGeom prst="rect">
                <a:avLst/>
              </a:prstGeom>
              <a:blipFill>
                <a:blip r:embed="rId26"/>
                <a:stretch>
                  <a:fillRect l="-717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箭头: 下 1">
            <a:extLst>
              <a:ext uri="{FF2B5EF4-FFF2-40B4-BE49-F238E27FC236}">
                <a16:creationId xmlns:a16="http://schemas.microsoft.com/office/drawing/2014/main" id="{DE11866C-DA71-4A65-AD13-C23603E9461C}"/>
              </a:ext>
            </a:extLst>
          </p:cNvPr>
          <p:cNvSpPr/>
          <p:nvPr/>
        </p:nvSpPr>
        <p:spPr>
          <a:xfrm>
            <a:off x="3854063" y="5122606"/>
            <a:ext cx="373808" cy="6889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47F084F-697B-4F97-A6A3-E339DBD78CFB}"/>
                  </a:ext>
                </a:extLst>
              </p:cNvPr>
              <p:cNvSpPr/>
              <p:nvPr/>
            </p:nvSpPr>
            <p:spPr>
              <a:xfrm>
                <a:off x="421881" y="5716725"/>
                <a:ext cx="6877664" cy="1037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(stochastic gradient decent)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47F084F-697B-4F97-A6A3-E339DBD78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81" y="5716725"/>
                <a:ext cx="6877664" cy="1037463"/>
              </a:xfrm>
              <a:prstGeom prst="rect">
                <a:avLst/>
              </a:prstGeom>
              <a:blipFill>
                <a:blip r:embed="rId27"/>
                <a:stretch>
                  <a:fillRect l="-709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438F5308-A6FE-4063-AB5D-300F5CE0B463}"/>
              </a:ext>
            </a:extLst>
          </p:cNvPr>
          <p:cNvSpPr txBox="1"/>
          <p:nvPr/>
        </p:nvSpPr>
        <p:spPr>
          <a:xfrm>
            <a:off x="4375355" y="5230761"/>
            <a:ext cx="29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Mini-batch training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508729-D550-4D4C-AD6B-6BE79878DC7B}"/>
                  </a:ext>
                </a:extLst>
              </p:cNvPr>
              <p:cNvSpPr txBox="1"/>
              <p:nvPr/>
            </p:nvSpPr>
            <p:spPr>
              <a:xfrm>
                <a:off x="4930225" y="1830258"/>
                <a:ext cx="3793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508729-D550-4D4C-AD6B-6BE79878D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225" y="1830258"/>
                <a:ext cx="379343" cy="461665"/>
              </a:xfrm>
              <a:prstGeom prst="rect">
                <a:avLst/>
              </a:prstGeom>
              <a:blipFill>
                <a:blip r:embed="rId28"/>
                <a:stretch>
                  <a:fillRect l="-1613" r="-1613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1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Stochastic gradient descent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A984CD7-F73E-401F-9779-3408230820A6}"/>
                  </a:ext>
                </a:extLst>
              </p:cNvPr>
              <p:cNvSpPr txBox="1"/>
              <p:nvPr/>
            </p:nvSpPr>
            <p:spPr>
              <a:xfrm>
                <a:off x="324011" y="1354206"/>
                <a:ext cx="8495978" cy="1142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 function: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⁡([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(full-batch training)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A984CD7-F73E-401F-9779-34082308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11" y="1354206"/>
                <a:ext cx="8495978" cy="1142492"/>
              </a:xfrm>
              <a:prstGeom prst="rect">
                <a:avLst/>
              </a:prstGeom>
              <a:blipFill>
                <a:blip r:embed="rId3"/>
                <a:stretch>
                  <a:fillRect l="-717" b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47F084F-697B-4F97-A6A3-E339DBD78CFB}"/>
                  </a:ext>
                </a:extLst>
              </p:cNvPr>
              <p:cNvSpPr/>
              <p:nvPr/>
            </p:nvSpPr>
            <p:spPr>
              <a:xfrm>
                <a:off x="401561" y="4160047"/>
                <a:ext cx="6877664" cy="1037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(stochastic gradient decent)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47F084F-697B-4F97-A6A3-E339DBD78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61" y="4160047"/>
                <a:ext cx="6877664" cy="1037463"/>
              </a:xfrm>
              <a:prstGeom prst="rect">
                <a:avLst/>
              </a:prstGeom>
              <a:blipFill>
                <a:blip r:embed="rId4"/>
                <a:stretch>
                  <a:fillRect l="-798" b="-8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1A1FE8D-231C-7B72-257A-AC385971631D}"/>
                  </a:ext>
                </a:extLst>
              </p:cNvPr>
              <p:cNvSpPr txBox="1"/>
              <p:nvPr/>
            </p:nvSpPr>
            <p:spPr>
              <a:xfrm>
                <a:off x="878787" y="2697953"/>
                <a:ext cx="6324359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1A1FE8D-231C-7B72-257A-AC3859716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7" y="2697953"/>
                <a:ext cx="6324359" cy="7857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D5E4D75E-ABDA-73FB-1028-C296D717E0F7}"/>
              </a:ext>
            </a:extLst>
          </p:cNvPr>
          <p:cNvSpPr txBox="1"/>
          <p:nvPr/>
        </p:nvSpPr>
        <p:spPr>
          <a:xfrm>
            <a:off x="101600" y="832711"/>
            <a:ext cx="482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Full-batch training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BACC12-1C36-9E50-6A27-258892C27718}"/>
              </a:ext>
            </a:extLst>
          </p:cNvPr>
          <p:cNvSpPr txBox="1"/>
          <p:nvPr/>
        </p:nvSpPr>
        <p:spPr>
          <a:xfrm>
            <a:off x="101600" y="3560254"/>
            <a:ext cx="482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Mini-batch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310DEE-5E41-B19A-E68E-85F82E7F6E73}"/>
                  </a:ext>
                </a:extLst>
              </p:cNvPr>
              <p:cNvSpPr txBox="1"/>
              <p:nvPr/>
            </p:nvSpPr>
            <p:spPr>
              <a:xfrm>
                <a:off x="878786" y="5353959"/>
                <a:ext cx="6324359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310DEE-5E41-B19A-E68E-85F82E7F6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6" y="5353959"/>
                <a:ext cx="6324359" cy="7857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16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SGD-unbiased estimator of gradient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47F084F-697B-4F97-A6A3-E339DBD78CFB}"/>
                  </a:ext>
                </a:extLst>
              </p:cNvPr>
              <p:cNvSpPr/>
              <p:nvPr/>
            </p:nvSpPr>
            <p:spPr>
              <a:xfrm>
                <a:off x="442201" y="1498854"/>
                <a:ext cx="6877664" cy="1037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(stochastic gradient decent)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47F084F-697B-4F97-A6A3-E339DBD78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01" y="1498854"/>
                <a:ext cx="6877664" cy="1037463"/>
              </a:xfrm>
              <a:prstGeom prst="rect">
                <a:avLst/>
              </a:prstGeom>
              <a:blipFill>
                <a:blip r:embed="rId3"/>
                <a:stretch>
                  <a:fillRect l="-798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61BACC12-1C36-9E50-6A27-258892C27718}"/>
              </a:ext>
            </a:extLst>
          </p:cNvPr>
          <p:cNvSpPr txBox="1"/>
          <p:nvPr/>
        </p:nvSpPr>
        <p:spPr>
          <a:xfrm>
            <a:off x="71120" y="912587"/>
            <a:ext cx="482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Mini-batch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310DEE-5E41-B19A-E68E-85F82E7F6E73}"/>
                  </a:ext>
                </a:extLst>
              </p:cNvPr>
              <p:cNvSpPr txBox="1"/>
              <p:nvPr/>
            </p:nvSpPr>
            <p:spPr>
              <a:xfrm>
                <a:off x="995506" y="2773319"/>
                <a:ext cx="6324359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310DEE-5E41-B19A-E68E-85F82E7F6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06" y="2773319"/>
                <a:ext cx="6324359" cy="785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6605A8-CFB6-BD56-8D6D-8A4AE98B0E76}"/>
                  </a:ext>
                </a:extLst>
              </p:cNvPr>
              <p:cNvSpPr txBox="1"/>
              <p:nvPr/>
            </p:nvSpPr>
            <p:spPr>
              <a:xfrm>
                <a:off x="442201" y="3565216"/>
                <a:ext cx="4826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p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Special case: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6605A8-CFB6-BD56-8D6D-8A4AE98B0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01" y="3565216"/>
                <a:ext cx="4826000" cy="461665"/>
              </a:xfrm>
              <a:prstGeom prst="rect">
                <a:avLst/>
              </a:prstGeom>
              <a:blipFill>
                <a:blip r:embed="rId5"/>
                <a:stretch>
                  <a:fillRect l="-1770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36CE1C-17B9-FF82-A0AB-1DE5485C0A9B}"/>
                  </a:ext>
                </a:extLst>
              </p:cNvPr>
              <p:cNvSpPr txBox="1"/>
              <p:nvPr/>
            </p:nvSpPr>
            <p:spPr>
              <a:xfrm>
                <a:off x="995505" y="4148096"/>
                <a:ext cx="6324359" cy="797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36CE1C-17B9-FF82-A0AB-1DE5485C0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05" y="4148096"/>
                <a:ext cx="6324359" cy="7973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4D5A4299-016C-3418-5CBE-A3F78769C069}"/>
              </a:ext>
            </a:extLst>
          </p:cNvPr>
          <p:cNvSpPr txBox="1"/>
          <p:nvPr/>
        </p:nvSpPr>
        <p:spPr>
          <a:xfrm>
            <a:off x="4155440" y="5588054"/>
            <a:ext cx="3164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of full-batch training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D82554D5-2342-9D1A-1E84-B1F1C7017FF8}"/>
              </a:ext>
            </a:extLst>
          </p:cNvPr>
          <p:cNvSpPr/>
          <p:nvPr/>
        </p:nvSpPr>
        <p:spPr>
          <a:xfrm rot="10800000">
            <a:off x="5559852" y="4944156"/>
            <a:ext cx="355600" cy="6253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43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SGD-unbiased estimator of gradient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47F084F-697B-4F97-A6A3-E339DBD78CFB}"/>
                  </a:ext>
                </a:extLst>
              </p:cNvPr>
              <p:cNvSpPr/>
              <p:nvPr/>
            </p:nvSpPr>
            <p:spPr>
              <a:xfrm>
                <a:off x="442201" y="1498854"/>
                <a:ext cx="6877664" cy="1037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(stochastic gradient decent)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47F084F-697B-4F97-A6A3-E339DBD78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01" y="1498854"/>
                <a:ext cx="6877664" cy="1037463"/>
              </a:xfrm>
              <a:prstGeom prst="rect">
                <a:avLst/>
              </a:prstGeom>
              <a:blipFill>
                <a:blip r:embed="rId3"/>
                <a:stretch>
                  <a:fillRect l="-798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61BACC12-1C36-9E50-6A27-258892C27718}"/>
              </a:ext>
            </a:extLst>
          </p:cNvPr>
          <p:cNvSpPr txBox="1"/>
          <p:nvPr/>
        </p:nvSpPr>
        <p:spPr>
          <a:xfrm>
            <a:off x="71120" y="912587"/>
            <a:ext cx="482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Mini-batch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310DEE-5E41-B19A-E68E-85F82E7F6E73}"/>
                  </a:ext>
                </a:extLst>
              </p:cNvPr>
              <p:cNvSpPr txBox="1"/>
              <p:nvPr/>
            </p:nvSpPr>
            <p:spPr>
              <a:xfrm>
                <a:off x="995506" y="2773319"/>
                <a:ext cx="6324359" cy="797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310DEE-5E41-B19A-E68E-85F82E7F6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06" y="2773319"/>
                <a:ext cx="6324359" cy="7973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6605A8-CFB6-BD56-8D6D-8A4AE98B0E76}"/>
                  </a:ext>
                </a:extLst>
              </p:cNvPr>
              <p:cNvSpPr txBox="1"/>
              <p:nvPr/>
            </p:nvSpPr>
            <p:spPr>
              <a:xfrm>
                <a:off x="442201" y="3622739"/>
                <a:ext cx="4826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p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case: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&gt;1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6605A8-CFB6-BD56-8D6D-8A4AE98B0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01" y="3622739"/>
                <a:ext cx="4826000" cy="461665"/>
              </a:xfrm>
              <a:prstGeom prst="rect">
                <a:avLst/>
              </a:prstGeom>
              <a:blipFill>
                <a:blip r:embed="rId5"/>
                <a:stretch>
                  <a:fillRect l="-1770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36CE1C-17B9-FF82-A0AB-1DE5485C0A9B}"/>
                  </a:ext>
                </a:extLst>
              </p:cNvPr>
              <p:cNvSpPr txBox="1"/>
              <p:nvPr/>
            </p:nvSpPr>
            <p:spPr>
              <a:xfrm>
                <a:off x="995505" y="4148096"/>
                <a:ext cx="6324359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36CE1C-17B9-FF82-A0AB-1DE5485C0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05" y="4148096"/>
                <a:ext cx="6324359" cy="7857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4D5A4299-016C-3418-5CBE-A3F78769C069}"/>
              </a:ext>
            </a:extLst>
          </p:cNvPr>
          <p:cNvSpPr txBox="1"/>
          <p:nvPr/>
        </p:nvSpPr>
        <p:spPr>
          <a:xfrm>
            <a:off x="3492708" y="5638346"/>
            <a:ext cx="3164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of full-batch training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D82554D5-2342-9D1A-1E84-B1F1C7017FF8}"/>
              </a:ext>
            </a:extLst>
          </p:cNvPr>
          <p:cNvSpPr/>
          <p:nvPr/>
        </p:nvSpPr>
        <p:spPr>
          <a:xfrm rot="10800000">
            <a:off x="4719320" y="4973416"/>
            <a:ext cx="355600" cy="6253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32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SGD-unbiased estimator of gradient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D372B7-8B5F-5699-E498-9F1683AE749A}"/>
              </a:ext>
            </a:extLst>
          </p:cNvPr>
          <p:cNvSpPr txBox="1"/>
          <p:nvPr/>
        </p:nvSpPr>
        <p:spPr>
          <a:xfrm>
            <a:off x="243840" y="965200"/>
            <a:ext cx="7589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Remarks: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EAB384-3334-A0FD-039E-03ADA793729A}"/>
              </a:ext>
            </a:extLst>
          </p:cNvPr>
          <p:cNvSpPr txBox="1"/>
          <p:nvPr/>
        </p:nvSpPr>
        <p:spPr>
          <a:xfrm>
            <a:off x="243840" y="177800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SGD with fixed learning rate/step size cannot converge to global/local minimizers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8A8E2D-FE96-AA2E-BB54-BEBB6F899190}"/>
                  </a:ext>
                </a:extLst>
              </p:cNvPr>
              <p:cNvSpPr txBox="1"/>
              <p:nvPr/>
            </p:nvSpPr>
            <p:spPr>
              <a:xfrm>
                <a:off x="2819640" y="2179728"/>
                <a:ext cx="6324359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8A8E2D-FE96-AA2E-BB54-BEBB6F899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640" y="2179728"/>
                <a:ext cx="6324359" cy="785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FBFF570-3061-4DBA-1B40-76760B0298A4}"/>
                  </a:ext>
                </a:extLst>
              </p:cNvPr>
              <p:cNvSpPr txBox="1"/>
              <p:nvPr/>
            </p:nvSpPr>
            <p:spPr>
              <a:xfrm>
                <a:off x="-342539" y="2501912"/>
                <a:ext cx="6324359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FBFF570-3061-4DBA-1B40-76760B029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2539" y="2501912"/>
                <a:ext cx="6324359" cy="785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0F1EA36-325F-9732-344E-B687566A723E}"/>
                  </a:ext>
                </a:extLst>
              </p:cNvPr>
              <p:cNvSpPr txBox="1"/>
              <p:nvPr/>
            </p:nvSpPr>
            <p:spPr>
              <a:xfrm>
                <a:off x="2636759" y="3253157"/>
                <a:ext cx="6324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≠0,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0F1EA36-325F-9732-344E-B687566A7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759" y="3253157"/>
                <a:ext cx="632435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左大括号 15">
            <a:extLst>
              <a:ext uri="{FF2B5EF4-FFF2-40B4-BE49-F238E27FC236}">
                <a16:creationId xmlns:a16="http://schemas.microsoft.com/office/drawing/2014/main" id="{992BB2BC-E2B3-997A-652F-747C4E73DC55}"/>
              </a:ext>
            </a:extLst>
          </p:cNvPr>
          <p:cNvSpPr/>
          <p:nvPr/>
        </p:nvSpPr>
        <p:spPr>
          <a:xfrm>
            <a:off x="4378960" y="2572592"/>
            <a:ext cx="193040" cy="856408"/>
          </a:xfrm>
          <a:prstGeom prst="leftBrace">
            <a:avLst>
              <a:gd name="adj1" fmla="val 3333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06D36D-35F8-208B-1B01-2E3B9FD26A29}"/>
              </a:ext>
            </a:extLst>
          </p:cNvPr>
          <p:cNvSpPr txBox="1"/>
          <p:nvPr/>
        </p:nvSpPr>
        <p:spPr>
          <a:xfrm>
            <a:off x="238999" y="453274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computationally more efficient; avoid local minimal…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AAA0FC4-D5F2-7B6A-D9EF-CF66886029F2}"/>
                  </a:ext>
                </a:extLst>
              </p:cNvPr>
              <p:cNvSpPr txBox="1"/>
              <p:nvPr/>
            </p:nvSpPr>
            <p:spPr>
              <a:xfrm>
                <a:off x="238999" y="5323361"/>
                <a:ext cx="91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for convergence: decrease learning rata/step size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0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AAA0FC4-D5F2-7B6A-D9EF-CF6688602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99" y="5323361"/>
                <a:ext cx="9144000" cy="400110"/>
              </a:xfrm>
              <a:prstGeom prst="rect">
                <a:avLst/>
              </a:prstGeom>
              <a:blipFill>
                <a:blip r:embed="rId6"/>
                <a:stretch>
                  <a:fillRect l="-600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B2B402F-BBF1-B4E1-AA8F-3E5885922C6F}"/>
                  </a:ext>
                </a:extLst>
              </p:cNvPr>
              <p:cNvSpPr txBox="1"/>
              <p:nvPr/>
            </p:nvSpPr>
            <p:spPr>
              <a:xfrm>
                <a:off x="1605280" y="3604722"/>
                <a:ext cx="4866640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B2B402F-BBF1-B4E1-AA8F-3E5885922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280" y="3604722"/>
                <a:ext cx="4866640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07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SGD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D372B7-8B5F-5699-E498-9F1683AE749A}"/>
              </a:ext>
            </a:extLst>
          </p:cNvPr>
          <p:cNvSpPr txBox="1"/>
          <p:nvPr/>
        </p:nvSpPr>
        <p:spPr>
          <a:xfrm>
            <a:off x="243840" y="965200"/>
            <a:ext cx="7589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Remarks: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EAB384-3334-A0FD-039E-03ADA793729A}"/>
              </a:ext>
            </a:extLst>
          </p:cNvPr>
          <p:cNvSpPr txBox="1"/>
          <p:nvPr/>
        </p:nvSpPr>
        <p:spPr>
          <a:xfrm>
            <a:off x="243840" y="177800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theoretical analyses on the convergence of SGD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DBB2ED-2A9C-C6CC-E8D3-9E841C3BB8A5}"/>
              </a:ext>
            </a:extLst>
          </p:cNvPr>
          <p:cNvSpPr txBox="1"/>
          <p:nvPr/>
        </p:nvSpPr>
        <p:spPr>
          <a:xfrm>
            <a:off x="650240" y="2418080"/>
            <a:ext cx="6929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Guillaume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Garrigos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Handbook of Convergence Theorems for (Stochastic) Gradient Methods, 2023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6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0" y="1326982"/>
            <a:ext cx="9311148" cy="4665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 (DNNs): Universal Approximation Theorem</a:t>
            </a:r>
          </a:p>
          <a:p>
            <a:pPr>
              <a:lnSpc>
                <a:spcPct val="125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Monte Carlo PINNs for solving phonon Boltzmann equation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experiments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7600B9-8112-4CB0-8EB8-9B2C83ACC3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866" y="6373190"/>
            <a:ext cx="670134" cy="48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0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067"/>
    </mc:Choice>
    <mc:Fallback xmlns="">
      <p:transition spd="slow" advTm="6506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Phonon Boltzmann transport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5AB609-5824-4A2C-B635-AE7182E093FA}"/>
                  </a:ext>
                </a:extLst>
              </p:cNvPr>
              <p:cNvSpPr txBox="1"/>
              <p:nvPr/>
            </p:nvSpPr>
            <p:spPr>
              <a:xfrm>
                <a:off x="2204369" y="1210343"/>
                <a:ext cx="6341806" cy="1660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𝐾𝑛</m:t>
                          </m:r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altLang="zh-CN" sz="2000" dirty="0"/>
              </a:p>
              <a:p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𝑒𝑑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𝑠𝑒𝑑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5AB609-5824-4A2C-B635-AE7182E09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369" y="1210343"/>
                <a:ext cx="6341806" cy="1660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D2DFDA41-7838-493F-A94D-2AAB064FD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996" y="2957752"/>
            <a:ext cx="5380008" cy="18597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AB4C49F-95E3-473B-87A8-ACCC7D533DDA}"/>
              </a:ext>
            </a:extLst>
          </p:cNvPr>
          <p:cNvSpPr txBox="1"/>
          <p:nvPr/>
        </p:nvSpPr>
        <p:spPr>
          <a:xfrm>
            <a:off x="5265177" y="5032178"/>
            <a:ext cx="2930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method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38590D0-C93E-4C3F-BA84-64F47F6E979F}"/>
              </a:ext>
            </a:extLst>
          </p:cNvPr>
          <p:cNvSpPr txBox="1"/>
          <p:nvPr/>
        </p:nvSpPr>
        <p:spPr>
          <a:xfrm>
            <a:off x="936354" y="5065552"/>
            <a:ext cx="2930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method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C49F5B-80DF-4433-B614-4D1A1BFDEC87}"/>
              </a:ext>
            </a:extLst>
          </p:cNvPr>
          <p:cNvSpPr txBox="1"/>
          <p:nvPr/>
        </p:nvSpPr>
        <p:spPr>
          <a:xfrm>
            <a:off x="5589641" y="5533624"/>
            <a:ext cx="2605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DSMC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of ray effect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7883D75-60CD-4999-B115-F027CF72DA96}"/>
              </a:ext>
            </a:extLst>
          </p:cNvPr>
          <p:cNvSpPr txBox="1"/>
          <p:nvPr/>
        </p:nvSpPr>
        <p:spPr>
          <a:xfrm>
            <a:off x="1354225" y="5533624"/>
            <a:ext cx="35297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DVM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Curse of dimensionality</a:t>
            </a:r>
          </a:p>
        </p:txBody>
      </p:sp>
      <p:sp>
        <p:nvSpPr>
          <p:cNvPr id="32" name="文本框 18">
            <a:extLst>
              <a:ext uri="{FF2B5EF4-FFF2-40B4-BE49-F238E27FC236}">
                <a16:creationId xmlns:a16="http://schemas.microsoft.com/office/drawing/2014/main" id="{8156220A-1AB9-406F-B38F-65360B420814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2A91DB-EFCF-1D2D-013A-62DBE12E6D4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59" b="57378"/>
          <a:stretch/>
        </p:blipFill>
        <p:spPr>
          <a:xfrm>
            <a:off x="127669" y="985906"/>
            <a:ext cx="2419035" cy="197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97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/>
      <p:bldP spid="8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Monte Carlo PINNs for phonon BTE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994317-07C0-4D8B-92FB-00C2DBE1F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5" y="988805"/>
            <a:ext cx="5594555" cy="191567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90BC691-7AD4-4088-B383-68F319FE5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213" y="3109231"/>
            <a:ext cx="2281085" cy="4094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10E75DD-7F66-49BE-B2F8-742FFEA98156}"/>
                  </a:ext>
                </a:extLst>
              </p:cNvPr>
              <p:cNvSpPr txBox="1"/>
              <p:nvPr/>
            </p:nvSpPr>
            <p:spPr>
              <a:xfrm>
                <a:off x="4291781" y="3118547"/>
                <a:ext cx="29201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10E75DD-7F66-49BE-B2F8-742FFEA98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781" y="3118547"/>
                <a:ext cx="2920180" cy="400110"/>
              </a:xfrm>
              <a:prstGeom prst="rect">
                <a:avLst/>
              </a:prstGeom>
              <a:blipFill>
                <a:blip r:embed="rId5"/>
                <a:stretch>
                  <a:fillRect l="-1879" t="-6154" b="-2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CDE5EB6A-B80D-4585-8CBC-C7A150E8F821}"/>
              </a:ext>
            </a:extLst>
          </p:cNvPr>
          <p:cNvSpPr txBox="1"/>
          <p:nvPr/>
        </p:nvSpPr>
        <p:spPr>
          <a:xfrm>
            <a:off x="462115" y="3834581"/>
            <a:ext cx="8495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sampling approach in PINNs: Randomly select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 at each step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E662DB-C852-468D-B71D-F00C2B9CB794}"/>
              </a:ext>
            </a:extLst>
          </p:cNvPr>
          <p:cNvSpPr>
            <a:spLocks noChangeAspect="1"/>
          </p:cNvSpPr>
          <p:nvPr/>
        </p:nvSpPr>
        <p:spPr>
          <a:xfrm>
            <a:off x="1774722" y="4550615"/>
            <a:ext cx="5506066" cy="17108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419F5D8-E86D-4648-9E7F-4CFFF49AE773}"/>
                  </a:ext>
                </a:extLst>
              </p:cNvPr>
              <p:cNvSpPr/>
              <p:nvPr/>
            </p:nvSpPr>
            <p:spPr>
              <a:xfrm>
                <a:off x="7458227" y="4554232"/>
                <a:ext cx="1247777" cy="612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419F5D8-E86D-4648-9E7F-4CFFF49AE7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227" y="4554232"/>
                <a:ext cx="1247777" cy="6127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02C330E-FD6E-4A91-B487-45BC34739C4D}"/>
                  </a:ext>
                </a:extLst>
              </p:cNvPr>
              <p:cNvSpPr/>
              <p:nvPr/>
            </p:nvSpPr>
            <p:spPr>
              <a:xfrm>
                <a:off x="7458227" y="5437755"/>
                <a:ext cx="1267205" cy="706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𝑒𝑑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02C330E-FD6E-4A91-B487-45BC34739C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227" y="5437755"/>
                <a:ext cx="1267205" cy="7064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C5E859E1-AE13-4C3C-A63B-04E40847D6FA}"/>
              </a:ext>
            </a:extLst>
          </p:cNvPr>
          <p:cNvSpPr txBox="1"/>
          <p:nvPr/>
        </p:nvSpPr>
        <p:spPr>
          <a:xfrm>
            <a:off x="4527755" y="6240074"/>
            <a:ext cx="1386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6E4762-A6B1-4F33-8642-21FBE63A4B5A}"/>
              </a:ext>
            </a:extLst>
          </p:cNvPr>
          <p:cNvSpPr txBox="1"/>
          <p:nvPr/>
        </p:nvSpPr>
        <p:spPr>
          <a:xfrm>
            <a:off x="1445343" y="5164791"/>
            <a:ext cx="776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A930886-907B-4C79-ABD0-606311014569}"/>
              </a:ext>
            </a:extLst>
          </p:cNvPr>
          <p:cNvSpPr>
            <a:spLocks noChangeAspect="1"/>
          </p:cNvSpPr>
          <p:nvPr/>
        </p:nvSpPr>
        <p:spPr>
          <a:xfrm>
            <a:off x="4822723" y="566330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87BED91-6F9C-4CB2-A4FC-C4B39895DB48}"/>
              </a:ext>
            </a:extLst>
          </p:cNvPr>
          <p:cNvSpPr>
            <a:spLocks noChangeAspect="1"/>
          </p:cNvSpPr>
          <p:nvPr/>
        </p:nvSpPr>
        <p:spPr>
          <a:xfrm>
            <a:off x="4090298" y="517726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DE51143-AF59-443E-8465-17994A1499D5}"/>
              </a:ext>
            </a:extLst>
          </p:cNvPr>
          <p:cNvSpPr>
            <a:spLocks noChangeAspect="1"/>
          </p:cNvSpPr>
          <p:nvPr/>
        </p:nvSpPr>
        <p:spPr>
          <a:xfrm>
            <a:off x="5383167" y="49076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2B7C522-243D-4BD8-BBB9-6EB4753E5012}"/>
              </a:ext>
            </a:extLst>
          </p:cNvPr>
          <p:cNvSpPr>
            <a:spLocks noChangeAspect="1"/>
          </p:cNvSpPr>
          <p:nvPr/>
        </p:nvSpPr>
        <p:spPr>
          <a:xfrm>
            <a:off x="3190723" y="576170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92171AA-8D6B-43F2-858D-8EC4D71893F5}"/>
              </a:ext>
            </a:extLst>
          </p:cNvPr>
          <p:cNvSpPr>
            <a:spLocks noChangeAspect="1"/>
          </p:cNvSpPr>
          <p:nvPr/>
        </p:nvSpPr>
        <p:spPr>
          <a:xfrm>
            <a:off x="6916994" y="581570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9AF9DA5-5155-4367-864F-14CC06C89B43}"/>
              </a:ext>
            </a:extLst>
          </p:cNvPr>
          <p:cNvSpPr>
            <a:spLocks noChangeAspect="1"/>
          </p:cNvSpPr>
          <p:nvPr/>
        </p:nvSpPr>
        <p:spPr>
          <a:xfrm>
            <a:off x="2949755" y="49076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001562F-B9D4-4D76-983F-57AE7F0EB8CF}"/>
              </a:ext>
            </a:extLst>
          </p:cNvPr>
          <p:cNvCxnSpPr/>
          <p:nvPr/>
        </p:nvCxnSpPr>
        <p:spPr>
          <a:xfrm>
            <a:off x="2566219" y="4338653"/>
            <a:ext cx="0" cy="2258447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2B92A7B6-F968-4326-A55E-3709C76E963A}"/>
              </a:ext>
            </a:extLst>
          </p:cNvPr>
          <p:cNvSpPr>
            <a:spLocks noChangeAspect="1"/>
          </p:cNvSpPr>
          <p:nvPr/>
        </p:nvSpPr>
        <p:spPr>
          <a:xfrm>
            <a:off x="6690929" y="505679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746F05E-2441-4DE9-9277-E4308A986962}"/>
              </a:ext>
            </a:extLst>
          </p:cNvPr>
          <p:cNvSpPr>
            <a:spLocks noChangeAspect="1"/>
          </p:cNvSpPr>
          <p:nvPr/>
        </p:nvSpPr>
        <p:spPr>
          <a:xfrm>
            <a:off x="2517058" y="4775119"/>
            <a:ext cx="108000" cy="108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4061124-D1CE-49A7-8CE1-0BB9B37C673D}"/>
              </a:ext>
            </a:extLst>
          </p:cNvPr>
          <p:cNvSpPr>
            <a:spLocks noChangeAspect="1"/>
          </p:cNvSpPr>
          <p:nvPr/>
        </p:nvSpPr>
        <p:spPr>
          <a:xfrm>
            <a:off x="2517517" y="5029174"/>
            <a:ext cx="108000" cy="108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A22DE77-C41F-4A73-872F-0DC70211175C}"/>
              </a:ext>
            </a:extLst>
          </p:cNvPr>
          <p:cNvSpPr>
            <a:spLocks noChangeAspect="1"/>
          </p:cNvSpPr>
          <p:nvPr/>
        </p:nvSpPr>
        <p:spPr>
          <a:xfrm>
            <a:off x="2517058" y="5653701"/>
            <a:ext cx="108000" cy="108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64743BC-7260-4DF3-BB24-DCC39F86D5B9}"/>
              </a:ext>
            </a:extLst>
          </p:cNvPr>
          <p:cNvSpPr>
            <a:spLocks noChangeAspect="1"/>
          </p:cNvSpPr>
          <p:nvPr/>
        </p:nvSpPr>
        <p:spPr>
          <a:xfrm>
            <a:off x="2517058" y="6013274"/>
            <a:ext cx="108000" cy="108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DF2E96A-2F1F-4B71-9F43-E3E9D99536BB}"/>
              </a:ext>
            </a:extLst>
          </p:cNvPr>
          <p:cNvSpPr>
            <a:spLocks noChangeAspect="1"/>
          </p:cNvSpPr>
          <p:nvPr/>
        </p:nvSpPr>
        <p:spPr>
          <a:xfrm>
            <a:off x="2507226" y="5364846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9EE1BFC-44CE-4469-9789-F1DC1FDE3F19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7" r="12886" b="4562"/>
          <a:stretch/>
        </p:blipFill>
        <p:spPr>
          <a:xfrm>
            <a:off x="6216583" y="887667"/>
            <a:ext cx="2523598" cy="2175314"/>
          </a:xfrm>
          <a:prstGeom prst="rect">
            <a:avLst/>
          </a:prstGeom>
        </p:spPr>
      </p:pic>
      <p:sp>
        <p:nvSpPr>
          <p:cNvPr id="21" name="文本框 18">
            <a:extLst>
              <a:ext uri="{FF2B5EF4-FFF2-40B4-BE49-F238E27FC236}">
                <a16:creationId xmlns:a16="http://schemas.microsoft.com/office/drawing/2014/main" id="{C78B67B9-1F34-9C06-FF3A-820D3503F32A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</p:spTree>
    <p:extLst>
      <p:ext uri="{BB962C8B-B14F-4D97-AF65-F5344CB8AC3E}">
        <p14:creationId xmlns:p14="http://schemas.microsoft.com/office/powerpoint/2010/main" val="155053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0E662DB-C852-468D-B71D-F00C2B9CB794}"/>
              </a:ext>
            </a:extLst>
          </p:cNvPr>
          <p:cNvSpPr>
            <a:spLocks noChangeAspect="1"/>
          </p:cNvSpPr>
          <p:nvPr/>
        </p:nvSpPr>
        <p:spPr>
          <a:xfrm>
            <a:off x="1774722" y="4550615"/>
            <a:ext cx="5506066" cy="17108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Two-step sampling method in MC-PINNs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994317-07C0-4D8B-92FB-00C2DBE1F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85" y="799234"/>
            <a:ext cx="5594555" cy="1915676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001562F-B9D4-4D76-983F-57AE7F0EB8CF}"/>
              </a:ext>
            </a:extLst>
          </p:cNvPr>
          <p:cNvCxnSpPr/>
          <p:nvPr/>
        </p:nvCxnSpPr>
        <p:spPr>
          <a:xfrm>
            <a:off x="2566219" y="4338653"/>
            <a:ext cx="0" cy="2258447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C90BC691-7AD4-4088-B383-68F319FE5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830" y="1494275"/>
            <a:ext cx="2281085" cy="4094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DE5EB6A-B80D-4585-8CBC-C7A150E8F821}"/>
                  </a:ext>
                </a:extLst>
              </p:cNvPr>
              <p:cNvSpPr txBox="1"/>
              <p:nvPr/>
            </p:nvSpPr>
            <p:spPr>
              <a:xfrm>
                <a:off x="394917" y="2678494"/>
                <a:ext cx="8495071" cy="1644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Two-step sampling method: </a:t>
                </a:r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1. Randomly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points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</a:t>
                </a: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2. Randomly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points at </a:t>
                </a:r>
                <a:r>
                  <a:rPr lang="en-US" altLang="zh-C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domain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DE5EB6A-B80D-4585-8CBC-C7A150E8F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17" y="2678494"/>
                <a:ext cx="8495071" cy="1644617"/>
              </a:xfrm>
              <a:prstGeom prst="rect">
                <a:avLst/>
              </a:prstGeom>
              <a:blipFill>
                <a:blip r:embed="rId5"/>
                <a:stretch>
                  <a:fillRect l="-646" t="-185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419F5D8-E86D-4648-9E7F-4CFFF49AE773}"/>
                  </a:ext>
                </a:extLst>
              </p:cNvPr>
              <p:cNvSpPr/>
              <p:nvPr/>
            </p:nvSpPr>
            <p:spPr>
              <a:xfrm>
                <a:off x="7458227" y="4554232"/>
                <a:ext cx="1247777" cy="612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419F5D8-E86D-4648-9E7F-4CFFF49AE7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227" y="4554232"/>
                <a:ext cx="1247777" cy="6127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02C330E-FD6E-4A91-B487-45BC34739C4D}"/>
                  </a:ext>
                </a:extLst>
              </p:cNvPr>
              <p:cNvSpPr/>
              <p:nvPr/>
            </p:nvSpPr>
            <p:spPr>
              <a:xfrm>
                <a:off x="7458227" y="5437755"/>
                <a:ext cx="1267205" cy="706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𝑒𝑑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02C330E-FD6E-4A91-B487-45BC34739C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227" y="5437755"/>
                <a:ext cx="1267205" cy="7064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C5E859E1-AE13-4C3C-A63B-04E40847D6FA}"/>
              </a:ext>
            </a:extLst>
          </p:cNvPr>
          <p:cNvSpPr txBox="1"/>
          <p:nvPr/>
        </p:nvSpPr>
        <p:spPr>
          <a:xfrm>
            <a:off x="4527755" y="6240074"/>
            <a:ext cx="1386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6E4762-A6B1-4F33-8642-21FBE63A4B5A}"/>
              </a:ext>
            </a:extLst>
          </p:cNvPr>
          <p:cNvSpPr txBox="1"/>
          <p:nvPr/>
        </p:nvSpPr>
        <p:spPr>
          <a:xfrm>
            <a:off x="1445342" y="5164791"/>
            <a:ext cx="1386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DF2E96A-2F1F-4B71-9F43-E3E9D99536BB}"/>
              </a:ext>
            </a:extLst>
          </p:cNvPr>
          <p:cNvSpPr>
            <a:spLocks noChangeAspect="1"/>
          </p:cNvSpPr>
          <p:nvPr/>
        </p:nvSpPr>
        <p:spPr>
          <a:xfrm>
            <a:off x="2507226" y="5364846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5567FBD-A426-40B6-951E-2F95D6810E9A}"/>
              </a:ext>
            </a:extLst>
          </p:cNvPr>
          <p:cNvSpPr>
            <a:spLocks noChangeAspect="1"/>
          </p:cNvSpPr>
          <p:nvPr/>
        </p:nvSpPr>
        <p:spPr>
          <a:xfrm>
            <a:off x="2507226" y="494879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944ED70-52F8-4443-9EB5-E09F9C519A7A}"/>
              </a:ext>
            </a:extLst>
          </p:cNvPr>
          <p:cNvSpPr>
            <a:spLocks noChangeAspect="1"/>
          </p:cNvSpPr>
          <p:nvPr/>
        </p:nvSpPr>
        <p:spPr>
          <a:xfrm>
            <a:off x="2507226" y="570027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EFC8C3F-8E42-4B16-A931-147ADF53428B}"/>
              </a:ext>
            </a:extLst>
          </p:cNvPr>
          <p:cNvSpPr>
            <a:spLocks noChangeAspect="1"/>
          </p:cNvSpPr>
          <p:nvPr/>
        </p:nvSpPr>
        <p:spPr>
          <a:xfrm>
            <a:off x="2507342" y="5980853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8050A152-8554-40F1-AD42-421A48C08631}"/>
              </a:ext>
            </a:extLst>
          </p:cNvPr>
          <p:cNvSpPr>
            <a:spLocks noChangeAspect="1"/>
          </p:cNvSpPr>
          <p:nvPr/>
        </p:nvSpPr>
        <p:spPr>
          <a:xfrm>
            <a:off x="2905989" y="5364846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D73C6F1-D931-4DC1-A042-A355278A4ACA}"/>
              </a:ext>
            </a:extLst>
          </p:cNvPr>
          <p:cNvSpPr>
            <a:spLocks noChangeAspect="1"/>
          </p:cNvSpPr>
          <p:nvPr/>
        </p:nvSpPr>
        <p:spPr>
          <a:xfrm>
            <a:off x="2905989" y="494879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8ADC4A7B-6CC9-434A-A613-25E9495B9111}"/>
              </a:ext>
            </a:extLst>
          </p:cNvPr>
          <p:cNvSpPr>
            <a:spLocks noChangeAspect="1"/>
          </p:cNvSpPr>
          <p:nvPr/>
        </p:nvSpPr>
        <p:spPr>
          <a:xfrm>
            <a:off x="2905989" y="570027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BB1872B-E452-467C-A598-AC59C9D80CAF}"/>
              </a:ext>
            </a:extLst>
          </p:cNvPr>
          <p:cNvSpPr>
            <a:spLocks noChangeAspect="1"/>
          </p:cNvSpPr>
          <p:nvPr/>
        </p:nvSpPr>
        <p:spPr>
          <a:xfrm>
            <a:off x="2906105" y="5980853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5E689242-9C3F-442D-815E-FC049B804A7B}"/>
              </a:ext>
            </a:extLst>
          </p:cNvPr>
          <p:cNvSpPr>
            <a:spLocks noChangeAspect="1"/>
          </p:cNvSpPr>
          <p:nvPr/>
        </p:nvSpPr>
        <p:spPr>
          <a:xfrm>
            <a:off x="3758284" y="5364846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C8B5A856-0452-4853-BAAE-35000E4D062C}"/>
              </a:ext>
            </a:extLst>
          </p:cNvPr>
          <p:cNvSpPr>
            <a:spLocks noChangeAspect="1"/>
          </p:cNvSpPr>
          <p:nvPr/>
        </p:nvSpPr>
        <p:spPr>
          <a:xfrm>
            <a:off x="3758284" y="494879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7E82D2E-C499-4B53-81A9-8390617EE72C}"/>
              </a:ext>
            </a:extLst>
          </p:cNvPr>
          <p:cNvSpPr>
            <a:spLocks noChangeAspect="1"/>
          </p:cNvSpPr>
          <p:nvPr/>
        </p:nvSpPr>
        <p:spPr>
          <a:xfrm>
            <a:off x="3758284" y="570027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9B0A1115-04F5-4D75-81DA-5F40DDE66340}"/>
              </a:ext>
            </a:extLst>
          </p:cNvPr>
          <p:cNvSpPr>
            <a:spLocks noChangeAspect="1"/>
          </p:cNvSpPr>
          <p:nvPr/>
        </p:nvSpPr>
        <p:spPr>
          <a:xfrm>
            <a:off x="3758400" y="5980853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0732EB42-9560-4B81-9052-772DF750661D}"/>
              </a:ext>
            </a:extLst>
          </p:cNvPr>
          <p:cNvSpPr>
            <a:spLocks noChangeAspect="1"/>
          </p:cNvSpPr>
          <p:nvPr/>
        </p:nvSpPr>
        <p:spPr>
          <a:xfrm>
            <a:off x="4588453" y="5364846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4BD1BD8-BE81-4215-99D3-F87AE4291CED}"/>
              </a:ext>
            </a:extLst>
          </p:cNvPr>
          <p:cNvSpPr>
            <a:spLocks noChangeAspect="1"/>
          </p:cNvSpPr>
          <p:nvPr/>
        </p:nvSpPr>
        <p:spPr>
          <a:xfrm>
            <a:off x="4588453" y="494879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64AF6B2B-8BA2-44C4-BCDA-B92DBB035956}"/>
              </a:ext>
            </a:extLst>
          </p:cNvPr>
          <p:cNvSpPr>
            <a:spLocks noChangeAspect="1"/>
          </p:cNvSpPr>
          <p:nvPr/>
        </p:nvSpPr>
        <p:spPr>
          <a:xfrm>
            <a:off x="4588453" y="570027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7E7F2B0-7C81-4DF4-A5DF-0D523151F1DA}"/>
              </a:ext>
            </a:extLst>
          </p:cNvPr>
          <p:cNvSpPr>
            <a:spLocks noChangeAspect="1"/>
          </p:cNvSpPr>
          <p:nvPr/>
        </p:nvSpPr>
        <p:spPr>
          <a:xfrm>
            <a:off x="4588569" y="5980853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8E69C852-17CF-42D4-8148-6762B68C1CDA}"/>
              </a:ext>
            </a:extLst>
          </p:cNvPr>
          <p:cNvSpPr>
            <a:spLocks noChangeAspect="1"/>
          </p:cNvSpPr>
          <p:nvPr/>
        </p:nvSpPr>
        <p:spPr>
          <a:xfrm>
            <a:off x="2507226" y="5364846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194C6948-7E50-49DD-9AEB-21A0F4BF7A4F}"/>
              </a:ext>
            </a:extLst>
          </p:cNvPr>
          <p:cNvSpPr>
            <a:spLocks noChangeAspect="1"/>
          </p:cNvSpPr>
          <p:nvPr/>
        </p:nvSpPr>
        <p:spPr>
          <a:xfrm>
            <a:off x="2517058" y="4657401"/>
            <a:ext cx="108000" cy="108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E19E29A3-DAAF-42E2-A8BC-A6A5657DEC45}"/>
              </a:ext>
            </a:extLst>
          </p:cNvPr>
          <p:cNvSpPr>
            <a:spLocks noChangeAspect="1"/>
          </p:cNvSpPr>
          <p:nvPr/>
        </p:nvSpPr>
        <p:spPr>
          <a:xfrm>
            <a:off x="2521897" y="5156290"/>
            <a:ext cx="108000" cy="108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855AF8C-A11A-49AD-A3E3-FB71C00C609B}"/>
              </a:ext>
            </a:extLst>
          </p:cNvPr>
          <p:cNvSpPr>
            <a:spLocks noChangeAspect="1"/>
          </p:cNvSpPr>
          <p:nvPr/>
        </p:nvSpPr>
        <p:spPr>
          <a:xfrm>
            <a:off x="2521897" y="5525813"/>
            <a:ext cx="108000" cy="108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20FC2916-55B3-4BF4-A578-BDF8F6B8EC98}"/>
              </a:ext>
            </a:extLst>
          </p:cNvPr>
          <p:cNvSpPr>
            <a:spLocks noChangeAspect="1"/>
          </p:cNvSpPr>
          <p:nvPr/>
        </p:nvSpPr>
        <p:spPr>
          <a:xfrm>
            <a:off x="2517058" y="6132303"/>
            <a:ext cx="108000" cy="108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C319B48A-4137-4254-9478-24A51D5D0F6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7" r="12886" b="4562"/>
          <a:stretch/>
        </p:blipFill>
        <p:spPr>
          <a:xfrm>
            <a:off x="6077808" y="2201311"/>
            <a:ext cx="2466416" cy="2126024"/>
          </a:xfrm>
          <a:prstGeom prst="rect">
            <a:avLst/>
          </a:prstGeom>
        </p:spPr>
      </p:pic>
      <p:sp>
        <p:nvSpPr>
          <p:cNvPr id="4" name="文本框 18">
            <a:extLst>
              <a:ext uri="{FF2B5EF4-FFF2-40B4-BE49-F238E27FC236}">
                <a16:creationId xmlns:a16="http://schemas.microsoft.com/office/drawing/2014/main" id="{DC82674F-D102-05AE-BE8D-989D1F003095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</p:spTree>
    <p:extLst>
      <p:ext uri="{BB962C8B-B14F-4D97-AF65-F5344CB8AC3E}">
        <p14:creationId xmlns:p14="http://schemas.microsoft.com/office/powerpoint/2010/main" val="383605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Gradients unbiasedness and convergence</a:t>
            </a:r>
          </a:p>
        </p:txBody>
      </p:sp>
      <p:sp>
        <p:nvSpPr>
          <p:cNvPr id="6" name="文本框 18">
            <a:extLst>
              <a:ext uri="{FF2B5EF4-FFF2-40B4-BE49-F238E27FC236}">
                <a16:creationId xmlns:a16="http://schemas.microsoft.com/office/drawing/2014/main" id="{A7F5B5BA-1A73-46C8-A1C4-29F59FA635AA}"/>
              </a:ext>
            </a:extLst>
          </p:cNvPr>
          <p:cNvSpPr txBox="1"/>
          <p:nvPr/>
        </p:nvSpPr>
        <p:spPr>
          <a:xfrm>
            <a:off x="6751691" y="6334780"/>
            <a:ext cx="256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Garrigos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36FBBD-21EB-4EED-A36B-65F7F3DB3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535" y="921407"/>
            <a:ext cx="2484871" cy="59979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8DE28DF-E73C-4DDA-98C8-438402CB0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3483"/>
            <a:ext cx="3131700" cy="79281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9954204-29F6-4EA8-8213-163850ACA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061" y="1784976"/>
            <a:ext cx="4611030" cy="2942651"/>
          </a:xfrm>
          <a:prstGeom prst="rect">
            <a:avLst/>
          </a:prstGeom>
        </p:spPr>
      </p:pic>
      <p:sp>
        <p:nvSpPr>
          <p:cNvPr id="16" name="箭头: 右 15">
            <a:extLst>
              <a:ext uri="{FF2B5EF4-FFF2-40B4-BE49-F238E27FC236}">
                <a16:creationId xmlns:a16="http://schemas.microsoft.com/office/drawing/2014/main" id="{9AB35C33-9F18-4A3E-AE59-A699A57E886F}"/>
              </a:ext>
            </a:extLst>
          </p:cNvPr>
          <p:cNvSpPr/>
          <p:nvPr/>
        </p:nvSpPr>
        <p:spPr>
          <a:xfrm>
            <a:off x="3301500" y="2782530"/>
            <a:ext cx="1435510" cy="38345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BE6E226-66D2-4D7A-8398-3E682BD57E65}"/>
              </a:ext>
            </a:extLst>
          </p:cNvPr>
          <p:cNvSpPr txBox="1"/>
          <p:nvPr/>
        </p:nvSpPr>
        <p:spPr>
          <a:xfrm>
            <a:off x="3301500" y="2490560"/>
            <a:ext cx="1605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mini-batch</a:t>
            </a:r>
            <a:endParaRPr lang="zh-CN" altLang="en-US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E78DC38-EABC-456B-9E74-543E09ADA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401" y="4853419"/>
            <a:ext cx="7836194" cy="1322660"/>
          </a:xfrm>
          <a:prstGeom prst="rect">
            <a:avLst/>
          </a:prstGeom>
        </p:spPr>
      </p:pic>
      <p:sp>
        <p:nvSpPr>
          <p:cNvPr id="3" name="文本框 18">
            <a:extLst>
              <a:ext uri="{FF2B5EF4-FFF2-40B4-BE49-F238E27FC236}">
                <a16:creationId xmlns:a16="http://schemas.microsoft.com/office/drawing/2014/main" id="{E8733B69-7DFF-E823-94DD-728E0DCBDEEA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</p:spTree>
    <p:extLst>
      <p:ext uri="{BB962C8B-B14F-4D97-AF65-F5344CB8AC3E}">
        <p14:creationId xmlns:p14="http://schemas.microsoft.com/office/powerpoint/2010/main" val="332530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0" y="1326982"/>
            <a:ext cx="9311148" cy="4665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 (DNNs): Universal Approximation Theorem</a:t>
            </a:r>
          </a:p>
          <a:p>
            <a:pPr>
              <a:lnSpc>
                <a:spcPct val="125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PINNs for solving phonon Boltzmann equation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experiments: Forward problems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7600B9-8112-4CB0-8EB8-9B2C83ACC3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866" y="6373190"/>
            <a:ext cx="670134" cy="48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3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067"/>
    </mc:Choice>
    <mc:Fallback xmlns="">
      <p:transition spd="slow" advTm="6506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MC-PINNs for 1D steady multiscale heat conduction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F50CC1-2840-41DF-B854-00E28D8DE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07" y="1061292"/>
            <a:ext cx="1437408" cy="2153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/>
              <p:nvPr/>
            </p:nvSpPr>
            <p:spPr>
              <a:xfrm>
                <a:off x="2236640" y="1670463"/>
                <a:ext cx="2546555" cy="93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=40,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endParaRPr lang="en-US" altLang="zh-CN" b="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DNN: 30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×4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640" y="1670463"/>
                <a:ext cx="2546555" cy="935513"/>
              </a:xfrm>
              <a:prstGeom prst="rect">
                <a:avLst/>
              </a:prstGeom>
              <a:blipFill>
                <a:blip r:embed="rId4"/>
                <a:stretch>
                  <a:fillRect l="-1675" t="-1307" b="-84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6FFA6D57-E9F7-41AB-9E4C-51F277D1823C}"/>
              </a:ext>
            </a:extLst>
          </p:cNvPr>
          <p:cNvGrpSpPr/>
          <p:nvPr/>
        </p:nvGrpSpPr>
        <p:grpSpPr>
          <a:xfrm>
            <a:off x="4572000" y="1174084"/>
            <a:ext cx="4406016" cy="2410397"/>
            <a:chOff x="4492178" y="1174084"/>
            <a:chExt cx="4406016" cy="2410397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D22B274-A424-483B-A586-2ACD5E56D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92178" y="1174084"/>
              <a:ext cx="4406016" cy="20410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C424E22-FDC2-4408-9DDC-DA7FCB7B937E}"/>
                    </a:ext>
                  </a:extLst>
                </p:cNvPr>
                <p:cNvSpPr txBox="1"/>
                <p:nvPr/>
              </p:nvSpPr>
              <p:spPr>
                <a:xfrm>
                  <a:off x="5279923" y="3215149"/>
                  <a:ext cx="3048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=0, 0.5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C424E22-FDC2-4408-9DDC-DA7FCB7B93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9923" y="3215149"/>
                  <a:ext cx="304800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62C0392C-5DCC-4C99-8C36-12D2F726E2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0654" y="3630025"/>
            <a:ext cx="6302692" cy="2878218"/>
          </a:xfrm>
          <a:prstGeom prst="rect">
            <a:avLst/>
          </a:prstGeom>
        </p:spPr>
      </p:pic>
      <p:sp>
        <p:nvSpPr>
          <p:cNvPr id="2" name="文本框 18">
            <a:extLst>
              <a:ext uri="{FF2B5EF4-FFF2-40B4-BE49-F238E27FC236}">
                <a16:creationId xmlns:a16="http://schemas.microsoft.com/office/drawing/2014/main" id="{92B22A99-ADBC-AA97-6F60-BF0FCBAF77E5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</p:spTree>
    <p:extLst>
      <p:ext uri="{BB962C8B-B14F-4D97-AF65-F5344CB8AC3E}">
        <p14:creationId xmlns:p14="http://schemas.microsoft.com/office/powerpoint/2010/main" val="23615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MC-PINNs: Effect of training points in angular space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F50CC1-2840-41DF-B854-00E28D8DE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180" y="1004993"/>
            <a:ext cx="1495724" cy="22412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50D6DAD-3C25-43CC-8A53-E9BEAA3024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339" y="3495091"/>
            <a:ext cx="3048678" cy="25405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33A2E4-CBB7-4A67-9CF0-0EF2EA52F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1" y="3495093"/>
            <a:ext cx="3048678" cy="25405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2F6F1F3-B292-45FF-B478-DD37CF3F5B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661" y="3495090"/>
            <a:ext cx="3048678" cy="25405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E3476FD-C908-4C40-BD85-2EECE57753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198" y="954524"/>
            <a:ext cx="3048678" cy="2540565"/>
          </a:xfrm>
          <a:prstGeom prst="rect">
            <a:avLst/>
          </a:prstGeom>
        </p:spPr>
      </p:pic>
      <p:sp>
        <p:nvSpPr>
          <p:cNvPr id="2" name="文本框 18">
            <a:extLst>
              <a:ext uri="{FF2B5EF4-FFF2-40B4-BE49-F238E27FC236}">
                <a16:creationId xmlns:a16="http://schemas.microsoft.com/office/drawing/2014/main" id="{1D7A925A-4D8D-FE65-D00A-F1666DEB0A84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</p:spTree>
    <p:extLst>
      <p:ext uri="{BB962C8B-B14F-4D97-AF65-F5344CB8AC3E}">
        <p14:creationId xmlns:p14="http://schemas.microsoft.com/office/powerpoint/2010/main" val="177500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MC-PINNs for 1D unsteady multiscale heat conduction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F50CC1-2840-41DF-B854-00E28D8DE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61" y="1171323"/>
            <a:ext cx="1437408" cy="21538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C3DAF36-BEB0-4D73-B8A7-E97564FCF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702" y="1119412"/>
            <a:ext cx="2359480" cy="22576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53642B-AB7F-4EC6-B6D0-344AE83BD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971" y="4008502"/>
            <a:ext cx="2327737" cy="21327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3F0DC9F-4833-4AD0-953C-535FD6423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065" y="4008502"/>
            <a:ext cx="2327737" cy="2178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/>
              <p:nvPr/>
            </p:nvSpPr>
            <p:spPr>
              <a:xfrm>
                <a:off x="5853655" y="1503496"/>
                <a:ext cx="2546555" cy="1489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0, 10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=100,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endParaRPr lang="en-US" altLang="zh-CN" b="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DNN: 30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×4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655" y="1503496"/>
                <a:ext cx="2546555" cy="1489510"/>
              </a:xfrm>
              <a:prstGeom prst="rect">
                <a:avLst/>
              </a:prstGeom>
              <a:blipFill>
                <a:blip r:embed="rId7"/>
                <a:stretch>
                  <a:fillRect l="-1435" t="-1230" b="-5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28014320-4399-44C7-890E-A84CCE76ED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829" y="4008502"/>
            <a:ext cx="2264873" cy="21327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5A7F1AA-9BFF-4F43-822C-B47D7B6EBE97}"/>
                  </a:ext>
                </a:extLst>
              </p:cNvPr>
              <p:cNvSpPr txBox="1"/>
              <p:nvPr/>
            </p:nvSpPr>
            <p:spPr>
              <a:xfrm>
                <a:off x="1245561" y="6208212"/>
                <a:ext cx="1654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5A7F1AA-9BFF-4F43-822C-B47D7B6EB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61" y="6208212"/>
                <a:ext cx="165495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9DE34C1-14B4-48D3-8006-416E5330FDF4}"/>
                  </a:ext>
                </a:extLst>
              </p:cNvPr>
              <p:cNvSpPr txBox="1"/>
              <p:nvPr/>
            </p:nvSpPr>
            <p:spPr>
              <a:xfrm>
                <a:off x="3801227" y="6208212"/>
                <a:ext cx="1654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9DE34C1-14B4-48D3-8006-416E5330F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227" y="6208212"/>
                <a:ext cx="165495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B02BE79-CD50-4FAA-9201-26534C13E069}"/>
                  </a:ext>
                </a:extLst>
              </p:cNvPr>
              <p:cNvSpPr txBox="1"/>
              <p:nvPr/>
            </p:nvSpPr>
            <p:spPr>
              <a:xfrm>
                <a:off x="6356893" y="6208212"/>
                <a:ext cx="1654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B02BE79-CD50-4FAA-9201-26534C13E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893" y="6208212"/>
                <a:ext cx="165495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8">
            <a:extLst>
              <a:ext uri="{FF2B5EF4-FFF2-40B4-BE49-F238E27FC236}">
                <a16:creationId xmlns:a16="http://schemas.microsoft.com/office/drawing/2014/main" id="{A56F697C-9EE2-C16F-522D-AE9A0AE5B60B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</p:spTree>
    <p:extLst>
      <p:ext uri="{BB962C8B-B14F-4D97-AF65-F5344CB8AC3E}">
        <p14:creationId xmlns:p14="http://schemas.microsoft.com/office/powerpoint/2010/main" val="354502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MC-PINNs for 2D multiscale heat conduction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/>
              <p:nvPr/>
            </p:nvSpPr>
            <p:spPr>
              <a:xfrm>
                <a:off x="4294443" y="1252034"/>
                <a:ext cx="412981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=100,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=64</m:t>
                    </m:r>
                  </m:oMath>
                </a14:m>
                <a:endParaRPr lang="en-US" altLang="zh-CN" b="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DNN: 30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×5</m:t>
                    </m:r>
                  </m:oMath>
                </a14:m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Numerical method: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40×40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43" y="1252034"/>
                <a:ext cx="4129812" cy="1477328"/>
              </a:xfrm>
              <a:prstGeom prst="rect">
                <a:avLst/>
              </a:prstGeom>
              <a:blipFill>
                <a:blip r:embed="rId3"/>
                <a:stretch>
                  <a:fillRect l="-885" t="-823" b="-5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FE2D105E-41C2-4E79-8A3F-13E04998AD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5" t="5109" r="14818"/>
          <a:stretch/>
        </p:blipFill>
        <p:spPr>
          <a:xfrm>
            <a:off x="1366681" y="859380"/>
            <a:ext cx="2605551" cy="239203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5D4D7A-6A97-4422-926D-99B929ADD8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68" y="3060064"/>
            <a:ext cx="7030064" cy="25863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511D8C-82AE-47D6-B12C-BBCDCC8A7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6681" y="5675527"/>
            <a:ext cx="6713401" cy="842774"/>
          </a:xfrm>
          <a:prstGeom prst="rect">
            <a:avLst/>
          </a:prstGeom>
        </p:spPr>
      </p:pic>
      <p:sp>
        <p:nvSpPr>
          <p:cNvPr id="2" name="文本框 18">
            <a:extLst>
              <a:ext uri="{FF2B5EF4-FFF2-40B4-BE49-F238E27FC236}">
                <a16:creationId xmlns:a16="http://schemas.microsoft.com/office/drawing/2014/main" id="{0182387A-1C74-9754-9AEC-6D8A57F502D9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  <p:pic>
        <p:nvPicPr>
          <p:cNvPr id="3" name="图片 2" descr="图表, 直方图&#10;&#10;描述已自动生成">
            <a:extLst>
              <a:ext uri="{FF2B5EF4-FFF2-40B4-BE49-F238E27FC236}">
                <a16:creationId xmlns:a16="http://schemas.microsoft.com/office/drawing/2014/main" id="{64494E2D-5D56-0B14-C61B-6A07ACF402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365" y="2729362"/>
            <a:ext cx="3457270" cy="308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MC-PINNs for 3D multiscale heat conduction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/>
              <p:nvPr/>
            </p:nvSpPr>
            <p:spPr>
              <a:xfrm>
                <a:off x="4502910" y="1487736"/>
                <a:ext cx="412981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=100,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=64</m:t>
                    </m:r>
                  </m:oMath>
                </a14:m>
                <a:endParaRPr lang="en-US" altLang="zh-CN" b="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DNN: 30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×5</m:t>
                    </m:r>
                  </m:oMath>
                </a14:m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Numerical method: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40×40 80×80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910" y="1487736"/>
                <a:ext cx="4129812" cy="1477328"/>
              </a:xfrm>
              <a:prstGeom prst="rect">
                <a:avLst/>
              </a:prstGeom>
              <a:blipFill>
                <a:blip r:embed="rId3"/>
                <a:stretch>
                  <a:fillRect l="-1034" t="-826" b="-5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77BDB2FA-73F0-4121-9773-926990323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214" y="898464"/>
            <a:ext cx="2658490" cy="257801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4E82EAC-3A05-4F5F-9D90-CE9EB5193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187" y="3429000"/>
            <a:ext cx="6187626" cy="23103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360E1C-90A2-4583-A36A-CC2932BE2F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3700" y="5778994"/>
            <a:ext cx="6316599" cy="848593"/>
          </a:xfrm>
          <a:prstGeom prst="rect">
            <a:avLst/>
          </a:prstGeom>
        </p:spPr>
      </p:pic>
      <p:sp>
        <p:nvSpPr>
          <p:cNvPr id="4" name="文本框 18">
            <a:extLst>
              <a:ext uri="{FF2B5EF4-FFF2-40B4-BE49-F238E27FC236}">
                <a16:creationId xmlns:a16="http://schemas.microsoft.com/office/drawing/2014/main" id="{CE772771-64AE-7A4F-4BDE-38D1529EFC28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</p:spTree>
    <p:extLst>
      <p:ext uri="{BB962C8B-B14F-4D97-AF65-F5344CB8AC3E}">
        <p14:creationId xmlns:p14="http://schemas.microsoft.com/office/powerpoint/2010/main" val="19679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MC-PINNs for 3D multiscale heat conduction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/>
              <p:nvPr/>
            </p:nvSpPr>
            <p:spPr>
              <a:xfrm>
                <a:off x="4502909" y="1487736"/>
                <a:ext cx="444444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=100,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=64</m:t>
                    </m:r>
                  </m:oMath>
                </a14:m>
                <a:endParaRPr lang="en-US" altLang="zh-CN" b="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DNN: 30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×5</m:t>
                    </m:r>
                  </m:oMath>
                </a14:m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Numerical method: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 40×40 80×80</m:t>
                    </m:r>
                  </m:oMath>
                </a14:m>
                <a:br>
                  <a:rPr lang="en-US" altLang="zh-CN" b="0" dirty="0"/>
                </a:b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D6AB2E-97F6-4A36-A150-0E93D1D1E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909" y="1487736"/>
                <a:ext cx="4444445" cy="1754326"/>
              </a:xfrm>
              <a:prstGeom prst="rect">
                <a:avLst/>
              </a:prstGeom>
              <a:blipFill>
                <a:blip r:embed="rId3"/>
                <a:stretch>
                  <a:fillRect l="-960" t="-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77BDB2FA-73F0-4121-9773-926990323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214" y="898464"/>
            <a:ext cx="2658490" cy="257801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6885C28-C2CA-4AB2-ACBE-BFFC0E23E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472" y="5094410"/>
            <a:ext cx="3853659" cy="10303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21D96DD-28E5-4531-BA23-61CAF4A69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464" y="3636898"/>
            <a:ext cx="6971071" cy="1142359"/>
          </a:xfrm>
          <a:prstGeom prst="rect">
            <a:avLst/>
          </a:prstGeom>
        </p:spPr>
      </p:pic>
      <p:sp>
        <p:nvSpPr>
          <p:cNvPr id="3" name="文本框 18">
            <a:extLst>
              <a:ext uri="{FF2B5EF4-FFF2-40B4-BE49-F238E27FC236}">
                <a16:creationId xmlns:a16="http://schemas.microsoft.com/office/drawing/2014/main" id="{9D67EB10-5AC9-7F1A-4B88-27A8A9B0C198}"/>
              </a:ext>
            </a:extLst>
          </p:cNvPr>
          <p:cNvSpPr txBox="1"/>
          <p:nvPr/>
        </p:nvSpPr>
        <p:spPr>
          <a:xfrm>
            <a:off x="7348386" y="6549287"/>
            <a:ext cx="215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et al. JCP, 2025</a:t>
            </a:r>
          </a:p>
        </p:txBody>
      </p:sp>
    </p:spTree>
    <p:extLst>
      <p:ext uri="{BB962C8B-B14F-4D97-AF65-F5344CB8AC3E}">
        <p14:creationId xmlns:p14="http://schemas.microsoft.com/office/powerpoint/2010/main" val="18467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30"/>
    </mc:Choice>
    <mc:Fallback xmlns="">
      <p:transition spd="slow" advTm="73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From DNNs to PINNs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70" y="1112909"/>
            <a:ext cx="3794306" cy="286886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426721" y="1190533"/>
            <a:ext cx="3474611" cy="3171315"/>
            <a:chOff x="5465971" y="1054037"/>
            <a:chExt cx="3474611" cy="3171315"/>
          </a:xfrm>
        </p:grpSpPr>
        <p:grpSp>
          <p:nvGrpSpPr>
            <p:cNvPr id="5" name="组合 4"/>
            <p:cNvGrpSpPr/>
            <p:nvPr/>
          </p:nvGrpSpPr>
          <p:grpSpPr>
            <a:xfrm>
              <a:off x="5465971" y="1054037"/>
              <a:ext cx="3474611" cy="2004879"/>
              <a:chOff x="5151229" y="1346753"/>
              <a:chExt cx="3474611" cy="200487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5151229" y="1346753"/>
                    <a:ext cx="339344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文本框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229" y="1346753"/>
                    <a:ext cx="339344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/>
                  <p:cNvSpPr txBox="1"/>
                  <p:nvPr/>
                </p:nvSpPr>
                <p:spPr>
                  <a:xfrm>
                    <a:off x="5232400" y="1859364"/>
                    <a:ext cx="3393440" cy="14922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b="0" dirty="0"/>
                  </a:p>
                  <a:p>
                    <a:endParaRPr lang="en-US" b="0" dirty="0"/>
                  </a:p>
                  <a:p>
                    <a:pPr algn="ctr"/>
                    <a:r>
                      <a:rPr lang="en-US" dirty="0"/>
                      <a:t>…</a:t>
                    </a:r>
                  </a:p>
                  <a:p>
                    <a:pPr algn="ctr"/>
                    <a:endParaRPr lang="en-US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文本框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32400" y="1859364"/>
                    <a:ext cx="3393440" cy="149226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文本框 3"/>
            <p:cNvSpPr txBox="1"/>
            <p:nvPr/>
          </p:nvSpPr>
          <p:spPr>
            <a:xfrm>
              <a:off x="5618371" y="1054037"/>
              <a:ext cx="477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618371" y="3279077"/>
              <a:ext cx="2844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  PDE part: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Chain rule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5658956" y="3856020"/>
                  <a:ext cx="31698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956" y="3856020"/>
                  <a:ext cx="316981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文本框 11"/>
          <p:cNvSpPr txBox="1"/>
          <p:nvPr/>
        </p:nvSpPr>
        <p:spPr>
          <a:xfrm>
            <a:off x="580738" y="4661765"/>
            <a:ext cx="8056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2129017" y="5326496"/>
                <a:ext cx="5295495" cy="458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017" y="5326496"/>
                <a:ext cx="5295495" cy="458523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7250533" y="6396335"/>
            <a:ext cx="1893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Raissi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al, JCP, 2019</a:t>
            </a:r>
          </a:p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Meng, et al, CMAME, 2020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E1F7E1-211A-4E2D-87EC-F8C396EAF36B}"/>
              </a:ext>
            </a:extLst>
          </p:cNvPr>
          <p:cNvSpPr txBox="1"/>
          <p:nvPr/>
        </p:nvSpPr>
        <p:spPr>
          <a:xfrm>
            <a:off x="646881" y="4167881"/>
            <a:ext cx="4129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Physics-informed neural networks (PINNs)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92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High-dimensional Poisson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4D5290-66AD-4B64-AA9C-131FD9E64CC7}"/>
                  </a:ext>
                </a:extLst>
              </p:cNvPr>
              <p:cNvSpPr txBox="1"/>
              <p:nvPr/>
            </p:nvSpPr>
            <p:spPr>
              <a:xfrm>
                <a:off x="1563329" y="1435510"/>
                <a:ext cx="6017342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4D5290-66AD-4B64-AA9C-131FD9E6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9" y="1435510"/>
                <a:ext cx="6017342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E3A86AD-B716-49B5-A6AF-07794323A7E6}"/>
              </a:ext>
            </a:extLst>
          </p:cNvPr>
          <p:cNvSpPr txBox="1"/>
          <p:nvPr/>
        </p:nvSpPr>
        <p:spPr>
          <a:xfrm>
            <a:off x="580103" y="3057832"/>
            <a:ext cx="8072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usage: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F7BEE-5A93-4238-87E0-ED8E3A61E128}"/>
              </a:ext>
            </a:extLst>
          </p:cNvPr>
          <p:cNvSpPr txBox="1"/>
          <p:nvPr/>
        </p:nvSpPr>
        <p:spPr>
          <a:xfrm>
            <a:off x="737419" y="3893574"/>
            <a:ext cx="7914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first layer ~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second-order derivatives ~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90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High-dimensional Poisson equation -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4D5290-66AD-4B64-AA9C-131FD9E64CC7}"/>
                  </a:ext>
                </a:extLst>
              </p:cNvPr>
              <p:cNvSpPr txBox="1"/>
              <p:nvPr/>
            </p:nvSpPr>
            <p:spPr>
              <a:xfrm>
                <a:off x="1563329" y="1278194"/>
                <a:ext cx="6017342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4D5290-66AD-4B64-AA9C-131FD9E6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9" y="1278194"/>
                <a:ext cx="6017342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4F5C22C-226E-46B3-A35C-F2ECD380D795}"/>
                  </a:ext>
                </a:extLst>
              </p:cNvPr>
              <p:cNvSpPr txBox="1"/>
              <p:nvPr/>
            </p:nvSpPr>
            <p:spPr>
              <a:xfrm>
                <a:off x="1563329" y="2571136"/>
                <a:ext cx="6017342" cy="1147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4F5C22C-226E-46B3-A35C-F2ECD380D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9" y="2571136"/>
                <a:ext cx="6017342" cy="1147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D5B89D-9E04-46F1-A151-56E49D75A5E7}"/>
                  </a:ext>
                </a:extLst>
              </p:cNvPr>
              <p:cNvSpPr txBox="1"/>
              <p:nvPr/>
            </p:nvSpPr>
            <p:spPr>
              <a:xfrm>
                <a:off x="167149" y="4201914"/>
                <a:ext cx="8809702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𝑔𝑟𝑎𝑑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𝜕𝜃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D5B89D-9E04-46F1-A151-56E49D75A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9" y="4201914"/>
                <a:ext cx="8809702" cy="995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96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3">
            <a:extLst>
              <a:ext uri="{FF2B5EF4-FFF2-40B4-BE49-F238E27FC236}">
                <a16:creationId xmlns:a16="http://schemas.microsoft.com/office/drawing/2014/main" id="{02DF297C-9DD4-4B76-BDB2-4D72E5545CD5}"/>
              </a:ext>
            </a:extLst>
          </p:cNvPr>
          <p:cNvSpPr txBox="1"/>
          <p:nvPr/>
        </p:nvSpPr>
        <p:spPr>
          <a:xfrm>
            <a:off x="1633678" y="4058275"/>
            <a:ext cx="602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Zheyuan</a:t>
            </a:r>
            <a:r>
              <a:rPr lang="en-US" i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Hu, </a:t>
            </a:r>
            <a:r>
              <a:rPr lang="en-US" i="1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Khemraj</a:t>
            </a:r>
            <a:r>
              <a:rPr lang="en-US" i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Shukla, </a:t>
            </a:r>
            <a:r>
              <a:rPr lang="en-US" i="1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etc</a:t>
            </a:r>
            <a:endParaRPr lang="en-US" i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0" y="1833387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Tackling the curse of dimensionality with physics-informed neural networks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333097" y="3429000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Networks. (2024)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20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From SGD to stochastic dimension gradient descent (SDGD)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4D5290-66AD-4B64-AA9C-131FD9E64CC7}"/>
                  </a:ext>
                </a:extLst>
              </p:cNvPr>
              <p:cNvSpPr txBox="1"/>
              <p:nvPr/>
            </p:nvSpPr>
            <p:spPr>
              <a:xfrm>
                <a:off x="1563329" y="996216"/>
                <a:ext cx="6017342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4D5290-66AD-4B64-AA9C-131FD9E6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9" y="996216"/>
                <a:ext cx="6017342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4F5C22C-226E-46B3-A35C-F2ECD380D795}"/>
                  </a:ext>
                </a:extLst>
              </p:cNvPr>
              <p:cNvSpPr txBox="1"/>
              <p:nvPr/>
            </p:nvSpPr>
            <p:spPr>
              <a:xfrm>
                <a:off x="1563329" y="2281763"/>
                <a:ext cx="6017342" cy="1147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4F5C22C-226E-46B3-A35C-F2ECD380D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9" y="2281763"/>
                <a:ext cx="6017342" cy="1147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D5B89D-9E04-46F1-A151-56E49D75A5E7}"/>
                  </a:ext>
                </a:extLst>
              </p:cNvPr>
              <p:cNvSpPr txBox="1"/>
              <p:nvPr/>
            </p:nvSpPr>
            <p:spPr>
              <a:xfrm>
                <a:off x="167149" y="3808624"/>
                <a:ext cx="8809702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𝑔𝑟𝑎𝑑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𝜕𝜃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D5B89D-9E04-46F1-A151-56E49D75A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9" y="3808624"/>
                <a:ext cx="8809702" cy="995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CEA83E9-9977-4FD5-86EA-FC80BDD68306}"/>
                  </a:ext>
                </a:extLst>
              </p:cNvPr>
              <p:cNvSpPr txBox="1"/>
              <p:nvPr/>
            </p:nvSpPr>
            <p:spPr>
              <a:xfrm>
                <a:off x="334298" y="5318154"/>
                <a:ext cx="8809702" cy="116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𝑔𝑟𝑎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𝜕𝜃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CEA83E9-9977-4FD5-86EA-FC80BDD68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98" y="5318154"/>
                <a:ext cx="8809702" cy="1163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箭头: 下 2">
            <a:extLst>
              <a:ext uri="{FF2B5EF4-FFF2-40B4-BE49-F238E27FC236}">
                <a16:creationId xmlns:a16="http://schemas.microsoft.com/office/drawing/2014/main" id="{8672C697-B021-E52C-1E56-F3DA034DEFAF}"/>
              </a:ext>
            </a:extLst>
          </p:cNvPr>
          <p:cNvSpPr/>
          <p:nvPr/>
        </p:nvSpPr>
        <p:spPr>
          <a:xfrm>
            <a:off x="4689987" y="4725760"/>
            <a:ext cx="285135" cy="57193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0C61D8B-3573-7EE8-DA7E-E8BBD8E7BA88}"/>
              </a:ext>
            </a:extLst>
          </p:cNvPr>
          <p:cNvSpPr txBox="1"/>
          <p:nvPr/>
        </p:nvSpPr>
        <p:spPr>
          <a:xfrm>
            <a:off x="6109577" y="6529448"/>
            <a:ext cx="339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Neural Networks. (2024)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953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From SGD to SDGD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4D5290-66AD-4B64-AA9C-131FD9E64CC7}"/>
                  </a:ext>
                </a:extLst>
              </p:cNvPr>
              <p:cNvSpPr txBox="1"/>
              <p:nvPr/>
            </p:nvSpPr>
            <p:spPr>
              <a:xfrm>
                <a:off x="1563329" y="996216"/>
                <a:ext cx="6017342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4D5290-66AD-4B64-AA9C-131FD9E6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9" y="996216"/>
                <a:ext cx="6017342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4F5C22C-226E-46B3-A35C-F2ECD380D795}"/>
                  </a:ext>
                </a:extLst>
              </p:cNvPr>
              <p:cNvSpPr txBox="1"/>
              <p:nvPr/>
            </p:nvSpPr>
            <p:spPr>
              <a:xfrm>
                <a:off x="1563329" y="2281763"/>
                <a:ext cx="6017342" cy="1147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4F5C22C-226E-46B3-A35C-F2ECD380D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9" y="2281763"/>
                <a:ext cx="6017342" cy="1147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D5B89D-9E04-46F1-A151-56E49D75A5E7}"/>
                  </a:ext>
                </a:extLst>
              </p:cNvPr>
              <p:cNvSpPr txBox="1"/>
              <p:nvPr/>
            </p:nvSpPr>
            <p:spPr>
              <a:xfrm>
                <a:off x="167149" y="3808624"/>
                <a:ext cx="8809702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𝑔𝑟𝑎𝑑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𝜕𝜃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D5B89D-9E04-46F1-A151-56E49D75A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9" y="3808624"/>
                <a:ext cx="8809702" cy="995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箭头: 下 1">
            <a:extLst>
              <a:ext uri="{FF2B5EF4-FFF2-40B4-BE49-F238E27FC236}">
                <a16:creationId xmlns:a16="http://schemas.microsoft.com/office/drawing/2014/main" id="{84C12A5E-1EA4-4D4D-B591-17814BE193B8}"/>
              </a:ext>
            </a:extLst>
          </p:cNvPr>
          <p:cNvSpPr/>
          <p:nvPr/>
        </p:nvSpPr>
        <p:spPr>
          <a:xfrm>
            <a:off x="4689987" y="4725760"/>
            <a:ext cx="285135" cy="57193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CEA83E9-9977-4FD5-86EA-FC80BDD68306}"/>
                  </a:ext>
                </a:extLst>
              </p:cNvPr>
              <p:cNvSpPr txBox="1"/>
              <p:nvPr/>
            </p:nvSpPr>
            <p:spPr>
              <a:xfrm>
                <a:off x="427703" y="5318154"/>
                <a:ext cx="8809702" cy="116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𝑔𝑟𝑎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𝜕𝜃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CEA83E9-9977-4FD5-86EA-FC80BDD68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03" y="5318154"/>
                <a:ext cx="8809702" cy="1163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1">
            <a:extLst>
              <a:ext uri="{FF2B5EF4-FFF2-40B4-BE49-F238E27FC236}">
                <a16:creationId xmlns:a16="http://schemas.microsoft.com/office/drawing/2014/main" id="{9288F25A-DE71-54A7-75A4-6C24DE12CD97}"/>
              </a:ext>
            </a:extLst>
          </p:cNvPr>
          <p:cNvSpPr txBox="1"/>
          <p:nvPr/>
        </p:nvSpPr>
        <p:spPr>
          <a:xfrm>
            <a:off x="6109577" y="6529448"/>
            <a:ext cx="339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Neural Networks. (2024)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6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Further speed-up of SDGD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3A644D0-F17E-4DA0-8A99-88F94F9B694F}"/>
                  </a:ext>
                </a:extLst>
              </p:cNvPr>
              <p:cNvSpPr txBox="1"/>
              <p:nvPr/>
            </p:nvSpPr>
            <p:spPr>
              <a:xfrm>
                <a:off x="81279" y="3986630"/>
                <a:ext cx="9062719" cy="2907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𝑔𝑟𝑎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𝜕𝜃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/>
                <a:br>
                  <a:rPr lang="en-US" altLang="zh-CN" sz="24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  =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𝜕𝜃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3A644D0-F17E-4DA0-8A99-88F94F9B6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9" y="3986630"/>
                <a:ext cx="9062719" cy="29079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944FB52-0A6B-4693-982B-13176EF15BE0}"/>
                  </a:ext>
                </a:extLst>
              </p:cNvPr>
              <p:cNvSpPr txBox="1"/>
              <p:nvPr/>
            </p:nvSpPr>
            <p:spPr>
              <a:xfrm>
                <a:off x="167148" y="1118892"/>
                <a:ext cx="8809702" cy="116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𝑔𝑟𝑎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𝜕𝜃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944FB52-0A6B-4693-982B-13176EF15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8" y="1118892"/>
                <a:ext cx="8809702" cy="1163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下 3">
            <a:extLst>
              <a:ext uri="{FF2B5EF4-FFF2-40B4-BE49-F238E27FC236}">
                <a16:creationId xmlns:a16="http://schemas.microsoft.com/office/drawing/2014/main" id="{AE8A73E3-BF07-26EA-5669-9FF71B4750EC}"/>
              </a:ext>
            </a:extLst>
          </p:cNvPr>
          <p:cNvSpPr/>
          <p:nvPr/>
        </p:nvSpPr>
        <p:spPr>
          <a:xfrm>
            <a:off x="4822067" y="2263794"/>
            <a:ext cx="285135" cy="57193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C2C844F-3F55-2732-C765-398FFE5F3DE1}"/>
                  </a:ext>
                </a:extLst>
              </p:cNvPr>
              <p:cNvSpPr txBox="1"/>
              <p:nvPr/>
            </p:nvSpPr>
            <p:spPr>
              <a:xfrm>
                <a:off x="-1" y="2736953"/>
                <a:ext cx="9143999" cy="1159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𝑔𝑟𝑎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(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𝜕𝜃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C2C844F-3F55-2732-C765-398FFE5F3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736953"/>
                <a:ext cx="9143999" cy="1159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">
            <a:extLst>
              <a:ext uri="{FF2B5EF4-FFF2-40B4-BE49-F238E27FC236}">
                <a16:creationId xmlns:a16="http://schemas.microsoft.com/office/drawing/2014/main" id="{909C824B-F2F2-A0DA-5FEF-B1E30A165B56}"/>
              </a:ext>
            </a:extLst>
          </p:cNvPr>
          <p:cNvSpPr txBox="1"/>
          <p:nvPr/>
        </p:nvSpPr>
        <p:spPr>
          <a:xfrm>
            <a:off x="6109577" y="6529448"/>
            <a:ext cx="339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Neural Networks. (2024)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96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SDGD-1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E6EA9C-7AA5-A781-86F1-58EFBAEF6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940" y="871537"/>
            <a:ext cx="6802120" cy="5681316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E7E07EBD-E2DF-D8A1-E2E4-BDD219F3D512}"/>
              </a:ext>
            </a:extLst>
          </p:cNvPr>
          <p:cNvSpPr txBox="1"/>
          <p:nvPr/>
        </p:nvSpPr>
        <p:spPr>
          <a:xfrm>
            <a:off x="6109577" y="6529448"/>
            <a:ext cx="339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Neural Networks. (2024)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23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SDGD-2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E7E07EBD-E2DF-D8A1-E2E4-BDD219F3D512}"/>
              </a:ext>
            </a:extLst>
          </p:cNvPr>
          <p:cNvSpPr txBox="1"/>
          <p:nvPr/>
        </p:nvSpPr>
        <p:spPr>
          <a:xfrm>
            <a:off x="6109577" y="6529448"/>
            <a:ext cx="339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Neural Networks. (2024)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4AA1D7-4139-C150-AE1D-C51ABC027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50" y="1293849"/>
            <a:ext cx="6480810" cy="427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8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SDGD-3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E7E07EBD-E2DF-D8A1-E2E4-BDD219F3D512}"/>
              </a:ext>
            </a:extLst>
          </p:cNvPr>
          <p:cNvSpPr txBox="1"/>
          <p:nvPr/>
        </p:nvSpPr>
        <p:spPr>
          <a:xfrm>
            <a:off x="6109577" y="6529448"/>
            <a:ext cx="339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Neural Networks. (2024)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208607-288B-37EF-9828-BFB4B4BB4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01" y="1255395"/>
            <a:ext cx="7325331" cy="434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9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Numerical examples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C486EAC-F457-4087-B30A-30CCC1C9AB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613"/>
          <a:stretch/>
        </p:blipFill>
        <p:spPr>
          <a:xfrm>
            <a:off x="-1" y="1554631"/>
            <a:ext cx="8985475" cy="4167743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E4D13C94-2118-F01F-DFEC-BA83D8F10B6B}"/>
              </a:ext>
            </a:extLst>
          </p:cNvPr>
          <p:cNvSpPr txBox="1"/>
          <p:nvPr/>
        </p:nvSpPr>
        <p:spPr>
          <a:xfrm>
            <a:off x="6109577" y="6529448"/>
            <a:ext cx="339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Neural Networks. (2024)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28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Numerical examples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F83003-077A-65CC-E5A6-F6F6535EF09E}"/>
              </a:ext>
            </a:extLst>
          </p:cNvPr>
          <p:cNvSpPr txBox="1"/>
          <p:nvPr/>
        </p:nvSpPr>
        <p:spPr>
          <a:xfrm>
            <a:off x="6109577" y="6529448"/>
            <a:ext cx="339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Neural Networks. (2024)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578CF2-75B5-4896-9433-793EA9E4C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" y="1625600"/>
            <a:ext cx="8486140" cy="409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Numerical examples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3E82C6-2218-4F47-B5A9-FBD9FC45E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1043"/>
            <a:ext cx="9144000" cy="39359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F83003-077A-65CC-E5A6-F6F6535EF09E}"/>
              </a:ext>
            </a:extLst>
          </p:cNvPr>
          <p:cNvSpPr txBox="1"/>
          <p:nvPr/>
        </p:nvSpPr>
        <p:spPr>
          <a:xfrm>
            <a:off x="6109577" y="6529448"/>
            <a:ext cx="339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Neural Networks. (2024)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45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Jacobian &amp; Hessian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5B77FFB-C1E3-8E2A-5962-E14371C7B74A}"/>
                  </a:ext>
                </a:extLst>
              </p:cNvPr>
              <p:cNvSpPr txBox="1"/>
              <p:nvPr/>
            </p:nvSpPr>
            <p:spPr>
              <a:xfrm>
                <a:off x="272472" y="1233162"/>
                <a:ext cx="831734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function given as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):</m:t>
                    </m:r>
                  </m:oMath>
                </a14:m>
                <a:endPara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Jacobian matrix is the matrix of first partial derivatives: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5B77FFB-C1E3-8E2A-5962-E14371C7B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2" y="1233162"/>
                <a:ext cx="8317345" cy="1631216"/>
              </a:xfrm>
              <a:prstGeom prst="rect">
                <a:avLst/>
              </a:prstGeom>
              <a:blipFill>
                <a:blip r:embed="rId3"/>
                <a:stretch>
                  <a:fillRect l="-806" t="-1866" b="-5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图片包含 表格&#10;&#10;描述已自动生成">
            <a:extLst>
              <a:ext uri="{FF2B5EF4-FFF2-40B4-BE49-F238E27FC236}">
                <a16:creationId xmlns:a16="http://schemas.microsoft.com/office/drawing/2014/main" id="{12FBD0BF-2ECF-3EE7-2E25-AC9157F00F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424" y="2991400"/>
            <a:ext cx="4295439" cy="353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53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Jacobian &amp; Hessian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5B77FFB-C1E3-8E2A-5962-E14371C7B74A}"/>
                  </a:ext>
                </a:extLst>
              </p:cNvPr>
              <p:cNvSpPr txBox="1"/>
              <p:nvPr/>
            </p:nvSpPr>
            <p:spPr>
              <a:xfrm>
                <a:off x="272470" y="1058161"/>
                <a:ext cx="8317345" cy="1657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function given as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):</m:t>
                    </m:r>
                  </m:oMath>
                </a14:m>
                <a:endPara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gradient of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5B77FFB-C1E3-8E2A-5962-E14371C7B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0" y="1058161"/>
                <a:ext cx="8317345" cy="1657570"/>
              </a:xfrm>
              <a:prstGeom prst="rect">
                <a:avLst/>
              </a:prstGeom>
              <a:blipFill>
                <a:blip r:embed="rId3"/>
                <a:stretch>
                  <a:fillRect l="-806" t="-2214" b="-44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示, 维恩图&#10;&#10;描述已自动生成">
            <a:extLst>
              <a:ext uri="{FF2B5EF4-FFF2-40B4-BE49-F238E27FC236}">
                <a16:creationId xmlns:a16="http://schemas.microsoft.com/office/drawing/2014/main" id="{7B57CEEB-45B2-EC0A-C549-D883BE7CC9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" b="-1"/>
          <a:stretch/>
        </p:blipFill>
        <p:spPr>
          <a:xfrm>
            <a:off x="2175503" y="3429000"/>
            <a:ext cx="4792993" cy="2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2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Example for Jacobian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637DA46-B7A1-FB10-DA31-7406DE4E24CA}"/>
                  </a:ext>
                </a:extLst>
              </p:cNvPr>
              <p:cNvSpPr txBox="1"/>
              <p:nvPr/>
            </p:nvSpPr>
            <p:spPr>
              <a:xfrm>
                <a:off x="1011381" y="959960"/>
                <a:ext cx="7121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5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637DA46-B7A1-FB10-DA31-7406DE4E2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81" y="959960"/>
                <a:ext cx="712123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文本&#10;&#10;低可信度描述已自动生成">
            <a:extLst>
              <a:ext uri="{FF2B5EF4-FFF2-40B4-BE49-F238E27FC236}">
                <a16:creationId xmlns:a16="http://schemas.microsoft.com/office/drawing/2014/main" id="{A63B2F47-FBE2-8C23-95DA-544416DC8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307" y="1577156"/>
            <a:ext cx="2295238" cy="2495238"/>
          </a:xfrm>
          <a:prstGeom prst="rect">
            <a:avLst/>
          </a:prstGeom>
        </p:spPr>
      </p:pic>
      <p:pic>
        <p:nvPicPr>
          <p:cNvPr id="12" name="图片 11" descr="图示&#10;&#10;描述已自动生成">
            <a:extLst>
              <a:ext uri="{FF2B5EF4-FFF2-40B4-BE49-F238E27FC236}">
                <a16:creationId xmlns:a16="http://schemas.microsoft.com/office/drawing/2014/main" id="{FD394F63-465D-ED66-6C0A-5239CCC2A8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44" y="4320259"/>
            <a:ext cx="6289964" cy="167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5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Hessian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F50B78-F213-8963-3D1E-613930BD62C7}"/>
                  </a:ext>
                </a:extLst>
              </p:cNvPr>
              <p:cNvSpPr txBox="1"/>
              <p:nvPr/>
            </p:nvSpPr>
            <p:spPr>
              <a:xfrm>
                <a:off x="630382" y="1056954"/>
                <a:ext cx="788323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function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is twice differentiable, the Hessian matrix is the matrix of second derivatives: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F50B78-F213-8963-3D1E-613930BD6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82" y="1056954"/>
                <a:ext cx="7883236" cy="830997"/>
              </a:xfrm>
              <a:prstGeom prst="rect">
                <a:avLst/>
              </a:prstGeom>
              <a:blipFill>
                <a:blip r:embed="rId3"/>
                <a:stretch>
                  <a:fillRect l="-1159" t="-583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 descr="表格&#10;&#10;描述已自动生成">
            <a:extLst>
              <a:ext uri="{FF2B5EF4-FFF2-40B4-BE49-F238E27FC236}">
                <a16:creationId xmlns:a16="http://schemas.microsoft.com/office/drawing/2014/main" id="{C82B864B-6B31-945A-2FA6-3A05B491DC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12" y="2188767"/>
            <a:ext cx="6450576" cy="413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1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Example of Hessian matrix</a:t>
            </a:r>
          </a:p>
        </p:txBody>
      </p:sp>
      <p:pic>
        <p:nvPicPr>
          <p:cNvPr id="4" name="图片 3" descr="图形用户界面, 文本, 应用程序&#10;&#10;描述已自动生成">
            <a:extLst>
              <a:ext uri="{FF2B5EF4-FFF2-40B4-BE49-F238E27FC236}">
                <a16:creationId xmlns:a16="http://schemas.microsoft.com/office/drawing/2014/main" id="{34BE89EE-5B6E-9DDB-554F-8E41ECF5B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5" y="1028838"/>
            <a:ext cx="8199130" cy="529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8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Hutchinson trace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938A4A-4A50-56F6-3416-159F7A7E33BD}"/>
                  </a:ext>
                </a:extLst>
              </p:cNvPr>
              <p:cNvSpPr txBox="1"/>
              <p:nvPr/>
            </p:nvSpPr>
            <p:spPr>
              <a:xfrm>
                <a:off x="738909" y="1177502"/>
                <a:ext cx="7444509" cy="1265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938A4A-4A50-56F6-3416-159F7A7E3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09" y="1177502"/>
                <a:ext cx="7444509" cy="12653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DFBF54-02BC-11E5-CD49-C78BEE3287B7}"/>
                  </a:ext>
                </a:extLst>
              </p:cNvPr>
              <p:cNvSpPr txBox="1"/>
              <p:nvPr/>
            </p:nvSpPr>
            <p:spPr>
              <a:xfrm>
                <a:off x="443346" y="2632363"/>
                <a:ext cx="83958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Rademacher distribution: </a:t>
                </a:r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For each dimension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it has a 50% chance to get 1 and 50% chance to get -1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DFBF54-02BC-11E5-CD49-C78BEE328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46" y="2632363"/>
                <a:ext cx="8395854" cy="923330"/>
              </a:xfrm>
              <a:prstGeom prst="rect">
                <a:avLst/>
              </a:prstGeom>
              <a:blipFill>
                <a:blip r:embed="rId4"/>
                <a:stretch>
                  <a:fillRect l="-508" t="-3974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16ADA55-74F5-49AB-D396-8DE4369E28F0}"/>
                  </a:ext>
                </a:extLst>
              </p:cNvPr>
              <p:cNvSpPr txBox="1"/>
              <p:nvPr/>
            </p:nvSpPr>
            <p:spPr>
              <a:xfrm>
                <a:off x="2156691" y="3968092"/>
                <a:ext cx="4608944" cy="785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16ADA55-74F5-49AB-D396-8DE4369E2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691" y="3968092"/>
                <a:ext cx="4608944" cy="7857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03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Hutchinson trace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6B8B0A0-6FB9-940F-A4F8-9EE061E507E2}"/>
                  </a:ext>
                </a:extLst>
              </p:cNvPr>
              <p:cNvSpPr txBox="1"/>
              <p:nvPr/>
            </p:nvSpPr>
            <p:spPr>
              <a:xfrm>
                <a:off x="1457110" y="989705"/>
                <a:ext cx="6017342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6B8B0A0-6FB9-940F-A4F8-9EE061E5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10" y="989705"/>
                <a:ext cx="6017342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 descr="表格&#10;&#10;描述已自动生成">
            <a:extLst>
              <a:ext uri="{FF2B5EF4-FFF2-40B4-BE49-F238E27FC236}">
                <a16:creationId xmlns:a16="http://schemas.microsoft.com/office/drawing/2014/main" id="{5E3D22A2-C268-1CEC-A6AC-D683D40CE1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637" y="2100976"/>
            <a:ext cx="3567033" cy="22842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93B4CB7-1D51-9214-F73C-D4BEB463781A}"/>
                  </a:ext>
                </a:extLst>
              </p:cNvPr>
              <p:cNvSpPr txBox="1"/>
              <p:nvPr/>
            </p:nvSpPr>
            <p:spPr>
              <a:xfrm>
                <a:off x="1403489" y="4851478"/>
                <a:ext cx="6017342" cy="616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𝑇𝑟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93B4CB7-1D51-9214-F73C-D4BEB4637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489" y="4851478"/>
                <a:ext cx="6017342" cy="6160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3E341CEF-4868-0432-A02E-D33903E7DE26}"/>
              </a:ext>
            </a:extLst>
          </p:cNvPr>
          <p:cNvSpPr txBox="1"/>
          <p:nvPr/>
        </p:nvSpPr>
        <p:spPr>
          <a:xfrm>
            <a:off x="267854" y="5704253"/>
            <a:ext cx="839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Hessian-vector-product (HVP) in Jax/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82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Randomized smoothing PINNs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6B8B0A0-6FB9-940F-A4F8-9EE061E507E2}"/>
                  </a:ext>
                </a:extLst>
              </p:cNvPr>
              <p:cNvSpPr txBox="1"/>
              <p:nvPr/>
            </p:nvSpPr>
            <p:spPr>
              <a:xfrm>
                <a:off x="1457110" y="989705"/>
                <a:ext cx="6017342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6B8B0A0-6FB9-940F-A4F8-9EE061E5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10" y="989705"/>
                <a:ext cx="6017342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2567BF-61C1-D4BE-B10C-C7BB7706E024}"/>
                  </a:ext>
                </a:extLst>
              </p:cNvPr>
              <p:cNvSpPr txBox="1"/>
              <p:nvPr/>
            </p:nvSpPr>
            <p:spPr>
              <a:xfrm>
                <a:off x="752763" y="2312527"/>
                <a:ext cx="7426036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2567BF-61C1-D4BE-B10C-C7BB7706E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63" y="2312527"/>
                <a:ext cx="7426036" cy="408445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文本, 信件&#10;&#10;描述已自动生成">
            <a:extLst>
              <a:ext uri="{FF2B5EF4-FFF2-40B4-BE49-F238E27FC236}">
                <a16:creationId xmlns:a16="http://schemas.microsoft.com/office/drawing/2014/main" id="{1D30A3A8-7FD4-071F-49EA-80374161AE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854" y="2851861"/>
            <a:ext cx="6511515" cy="257033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9EC7B87-A93D-1214-81EB-630AA5A86553}"/>
              </a:ext>
            </a:extLst>
          </p:cNvPr>
          <p:cNvSpPr txBox="1"/>
          <p:nvPr/>
        </p:nvSpPr>
        <p:spPr>
          <a:xfrm>
            <a:off x="7724369" y="6502354"/>
            <a:ext cx="188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2023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57AADB6-E546-6E1B-8B16-FDCD546E4A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924" y="5605132"/>
            <a:ext cx="5885714" cy="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7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Randomized smoothing PINNs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6B8B0A0-6FB9-940F-A4F8-9EE061E507E2}"/>
                  </a:ext>
                </a:extLst>
              </p:cNvPr>
              <p:cNvSpPr txBox="1"/>
              <p:nvPr/>
            </p:nvSpPr>
            <p:spPr>
              <a:xfrm>
                <a:off x="1457110" y="989705"/>
                <a:ext cx="6017342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6B8B0A0-6FB9-940F-A4F8-9EE061E5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10" y="989705"/>
                <a:ext cx="6017342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2567BF-61C1-D4BE-B10C-C7BB7706E024}"/>
                  </a:ext>
                </a:extLst>
              </p:cNvPr>
              <p:cNvSpPr txBox="1"/>
              <p:nvPr/>
            </p:nvSpPr>
            <p:spPr>
              <a:xfrm>
                <a:off x="752763" y="2312527"/>
                <a:ext cx="7426036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2567BF-61C1-D4BE-B10C-C7BB7706E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63" y="2312527"/>
                <a:ext cx="7426036" cy="408445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29EC7B87-A93D-1214-81EB-630AA5A86553}"/>
              </a:ext>
            </a:extLst>
          </p:cNvPr>
          <p:cNvSpPr txBox="1"/>
          <p:nvPr/>
        </p:nvSpPr>
        <p:spPr>
          <a:xfrm>
            <a:off x="7724369" y="6502354"/>
            <a:ext cx="188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2023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162BC4-58AF-A61C-4550-AB0AEC76C7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50" y="3332253"/>
            <a:ext cx="8054099" cy="216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41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Randomized smoothing PINNs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6B8B0A0-6FB9-940F-A4F8-9EE061E507E2}"/>
                  </a:ext>
                </a:extLst>
              </p:cNvPr>
              <p:cNvSpPr txBox="1"/>
              <p:nvPr/>
            </p:nvSpPr>
            <p:spPr>
              <a:xfrm>
                <a:off x="1457110" y="989705"/>
                <a:ext cx="6017342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6B8B0A0-6FB9-940F-A4F8-9EE061E5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10" y="989705"/>
                <a:ext cx="6017342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2567BF-61C1-D4BE-B10C-C7BB7706E024}"/>
                  </a:ext>
                </a:extLst>
              </p:cNvPr>
              <p:cNvSpPr txBox="1"/>
              <p:nvPr/>
            </p:nvSpPr>
            <p:spPr>
              <a:xfrm>
                <a:off x="752763" y="2312527"/>
                <a:ext cx="7426036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2567BF-61C1-D4BE-B10C-C7BB7706E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63" y="2312527"/>
                <a:ext cx="7426036" cy="408445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29EC7B87-A93D-1214-81EB-630AA5A86553}"/>
              </a:ext>
            </a:extLst>
          </p:cNvPr>
          <p:cNvSpPr txBox="1"/>
          <p:nvPr/>
        </p:nvSpPr>
        <p:spPr>
          <a:xfrm>
            <a:off x="7724369" y="6502354"/>
            <a:ext cx="188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et al., 2023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2E547FB-096B-8015-620B-213C85FE87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6" y="3220218"/>
            <a:ext cx="6923809" cy="2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0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4233" y="3075057"/>
            <a:ext cx="7175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DC31F1-D89B-4C21-B37C-7E760FAC0C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759" y="6263149"/>
            <a:ext cx="822241" cy="5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6"/>
    </mc:Choice>
    <mc:Fallback xmlns="">
      <p:transition spd="slow" advTm="1926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15030</TotalTime>
  <Words>1593</Words>
  <Application>Microsoft Office PowerPoint</Application>
  <PresentationFormat>全屏显示(4:3)</PresentationFormat>
  <Paragraphs>339</Paragraphs>
  <Slides>45</Slides>
  <Notes>45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Microsoft YaHei UI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xhmeng</dc:creator>
  <cp:lastModifiedBy>Xuhui Meng</cp:lastModifiedBy>
  <cp:revision>1487</cp:revision>
  <dcterms:created xsi:type="dcterms:W3CDTF">2017-09-04T15:34:47Z</dcterms:created>
  <dcterms:modified xsi:type="dcterms:W3CDTF">2026-04-29T06:26:53Z</dcterms:modified>
</cp:coreProperties>
</file>